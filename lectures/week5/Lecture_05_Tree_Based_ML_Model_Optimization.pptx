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</p:sldIdLst>
  <p:sldSz cy="6858000" cx="121919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2" roundtripDataSignature="AMtx7mi74cO1+J05ZCTvThuED2WdVd32u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2" Type="http://customschemas.google.com/relationships/presentationmetadata" Target="meta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h130272d650a565f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" name="Google Shape;98;h130272d650a565f2_0_0:notes"/>
          <p:cNvSpPr/>
          <p:nvPr>
            <p:ph idx="2" type="sldImg"/>
          </p:nvPr>
        </p:nvSpPr>
        <p:spPr>
          <a:xfrm>
            <a:off x="857422" y="685800"/>
            <a:ext cx="3429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h130272d650a565f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6" name="Google Shape;106;h130272d650a565f2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h130272d650a565f2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3" name="Google Shape;113;h130272d650a565f2_0_1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h130272d650a565f2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0" name="Google Shape;120;h130272d650a565f2_0_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h130272d650a565f2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8" name="Google Shape;128;h130272d650a565f2_0_12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h130272d650a565f2_0_1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5" name="Google Shape;135;h130272d650a565f2_0_1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h130272d650a565f2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3" name="Google Shape;143;h130272d650a565f2_0_1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h130272d650a565f2_0_1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1" name="Google Shape;151;h130272d650a565f2_0_1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h130272d650a565f2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h130272d650a565f2_0_13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h130272d650a565f2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7" name="Google Shape;167;h130272d650a565f2_0_14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h130272d650a565f2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5" name="Google Shape;175;h130272d650a565f2_0_15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h130272d650a565f2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2" name="Google Shape;182;h130272d650a565f2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h130272d650a565f2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0" name="Google Shape;190;h130272d650a565f2_0_1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h130272d650a565f2_0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98" name="Google Shape;198;h130272d650a565f2_0_16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130272d650a565f2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6" name="Google Shape;206;h130272d650a565f2_0_1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h130272d650a565f2_0_1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13" name="Google Shape;213;h130272d650a565f2_0_18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h130272d650a565f2_0_2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1" name="Google Shape;221;h130272d650a565f2_0_21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h130272d650a565f2_0_2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29" name="Google Shape;229;h130272d650a565f2_0_22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h130272d650a565f2_0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h130272d650a565f2_0_23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h130272d650a565f2_0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44" name="Google Shape;244;h130272d650a565f2_0_23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h130272d650a565f2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1" name="Google Shape;251;h130272d650a565f2_0_2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130272d650a565f2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8" name="Google Shape;258;h130272d650a565f2_0_25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h130272d650a565f2_0_2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66" name="Google Shape;266;h130272d650a565f2_0_25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h130272d650a565f2_0_2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73" name="Google Shape;273;h130272d650a565f2_0_26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h130272d650a565f2_0_2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1" name="Google Shape;281;h130272d650a565f2_0_27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h130272d650a565f2_0_2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89" name="Google Shape;289;h130272d650a565f2_0_28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h130272d650a565f2_0_2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7" name="Google Shape;297;h130272d650a565f2_0_2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h130272d650a565f2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5" name="Google Shape;305;h130272d650a565f2_0_29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h130272d650a565f2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3" name="Google Shape;313;h130272d650a565f2_0_30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h130272d650a565f2_0_3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1" name="Google Shape;321;h130272d650a565f2_0_3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h130272d650a565f2_0_3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9" name="Google Shape;329;h130272d650a565f2_0_32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h130272d650a565f2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36" name="Google Shape;336;h130272d650a565f2_0_3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h130272d650a565f2_0_3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4" name="Google Shape;344;h130272d650a565f2_0_34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h130272d650a565f2_0_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2" name="Google Shape;352;h130272d650a565f2_0_35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h130272d650a565f2_0_3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0" name="Google Shape;360;h130272d650a565f2_0_36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h130272d650a565f2_0_3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7" name="Google Shape;367;h130272d650a565f2_0_3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h130272d650a565f2_0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5" name="Google Shape;375;h130272d650a565f2_0_37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h130272d650a565f2_0_3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2" name="Google Shape;382;h130272d650a565f2_0_38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h130272d650a565f2_0_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0" name="Google Shape;390;h130272d650a565f2_0_39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h130272d650a565f2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8" name="Google Shape;398;h130272d650a565f2_0_40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h130272d650a565f2_0_4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6" name="Google Shape;406;h130272d650a565f2_0_41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h130272d650a565f2_0_4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14" name="Google Shape;414;h130272d650a565f2_0_4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h130272d650a565f2_0_4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1" name="Google Shape;421;h130272d650a565f2_0_42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h130272d650a565f2_0_4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29" name="Google Shape;429;h130272d650a565f2_0_43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h130272d650a565f2_0_4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37" name="Google Shape;437;h130272d650a565f2_0_44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h130272d650a565f2_0_4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45" name="Google Shape;445;h130272d650a565f2_0_44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" name="Google Shape;14;p5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5" name="Google Shape;15;p5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6" name="Google Shape;16;p5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7" name="Google Shape;17;p5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5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5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5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2" name="Google Shape;32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5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4" name="Google Shape;44;p5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5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5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5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50" name="Google Shape;50;p5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51" name="Google Shape;51;p5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6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6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6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6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6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6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6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6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6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6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вичайний 1">
  <p:cSld name="TITLE_1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Google Shape;81;h6e25ffb5025d31ee_4_194"/>
          <p:cNvPicPr preferRelativeResize="0"/>
          <p:nvPr/>
        </p:nvPicPr>
        <p:blipFill rotWithShape="1">
          <a:blip r:embed="rId2">
            <a:alphaModFix/>
          </a:blip>
          <a:srcRect b="0" l="45887" r="0" t="93322"/>
          <a:stretch/>
        </p:blipFill>
        <p:spPr>
          <a:xfrm>
            <a:off x="6064908" y="6400800"/>
            <a:ext cx="6126828" cy="456841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h6e25ffb5025d31ee_4_194"/>
          <p:cNvSpPr/>
          <p:nvPr/>
        </p:nvSpPr>
        <p:spPr>
          <a:xfrm>
            <a:off x="6175427" y="6502680"/>
            <a:ext cx="53028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8A999"/>
                </a:solidFill>
                <a:latin typeface="Arial"/>
                <a:ea typeface="Arial"/>
                <a:cs typeface="Arial"/>
                <a:sym typeface="Arial"/>
              </a:rPr>
              <a:t>Machine Learning for Bioinformatics · Lecture 3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" name="Google Shape;83;h6e25ffb5025d31ee_4_194"/>
          <p:cNvPicPr preferRelativeResize="0"/>
          <p:nvPr/>
        </p:nvPicPr>
        <p:blipFill rotWithShape="1">
          <a:blip r:embed="rId2">
            <a:alphaModFix/>
          </a:blip>
          <a:srcRect b="84967" l="0" r="82433" t="0"/>
          <a:stretch/>
        </p:blipFill>
        <p:spPr>
          <a:xfrm>
            <a:off x="0" y="0"/>
            <a:ext cx="1987917" cy="102996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h6e25ffb5025d31ee_4_194"/>
          <p:cNvSpPr txBox="1"/>
          <p:nvPr>
            <p:ph type="title"/>
          </p:nvPr>
        </p:nvSpPr>
        <p:spPr>
          <a:xfrm>
            <a:off x="415439" y="992880"/>
            <a:ext cx="11360400" cy="2736600"/>
          </a:xfrm>
          <a:prstGeom prst="rect">
            <a:avLst/>
          </a:prstGeom>
          <a:noFill/>
          <a:ln>
            <a:noFill/>
          </a:ln>
        </p:spPr>
        <p:txBody>
          <a:bodyPr anchorCtr="0" anchor="b" bIns="122025" lIns="122025" spcFirstLastPara="1" rIns="122025" wrap="square" tIns="1220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900"/>
              <a:buFont typeface="Arial"/>
              <a:buNone/>
              <a:defRPr b="0" i="0" sz="69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5" name="Google Shape;85;h6e25ffb5025d31ee_4_194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6" name="Google Shape;86;h6e25ffb5025d31ee_4_194"/>
          <p:cNvSpPr txBox="1"/>
          <p:nvPr>
            <p:ph idx="1" type="body"/>
          </p:nvPr>
        </p:nvSpPr>
        <p:spPr>
          <a:xfrm>
            <a:off x="609479" y="1604520"/>
            <a:ext cx="109725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68605" lvl="0" marL="457200" marR="0" algn="l">
              <a:lnSpc>
                <a:spcPct val="100000"/>
              </a:lnSpc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630"/>
              <a:buFont typeface="Noto Sans Symbols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5275" lvl="1" marL="914400" marR="0" algn="l">
              <a:lnSpc>
                <a:spcPct val="100000"/>
              </a:lnSpc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Char char="−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68605" lvl="2" marL="1371600" marR="0" algn="l">
              <a:lnSpc>
                <a:spcPct val="100000"/>
              </a:lnSpc>
              <a:spcBef>
                <a:spcPts val="850"/>
              </a:spcBef>
              <a:spcAft>
                <a:spcPts val="0"/>
              </a:spcAft>
              <a:buClr>
                <a:srgbClr val="000000"/>
              </a:buClr>
              <a:buSzPts val="630"/>
              <a:buFont typeface="Noto Sans Symbols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5275" lvl="3" marL="1828800" marR="0" algn="l">
              <a:lnSpc>
                <a:spcPct val="100000"/>
              </a:lnSpc>
              <a:spcBef>
                <a:spcPts val="567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Char char="−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3_1">
  <p:cSld name="BLANK_1"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h6e25ffb5025d31ee_4_301"/>
          <p:cNvPicPr preferRelativeResize="0"/>
          <p:nvPr/>
        </p:nvPicPr>
        <p:blipFill rotWithShape="1">
          <a:blip r:embed="rId2">
            <a:alphaModFix/>
          </a:blip>
          <a:srcRect b="0" l="45887" r="0" t="93322"/>
          <a:stretch/>
        </p:blipFill>
        <p:spPr>
          <a:xfrm>
            <a:off x="6064908" y="6400800"/>
            <a:ext cx="6126828" cy="456841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h6e25ffb5025d31ee_4_301"/>
          <p:cNvPicPr preferRelativeResize="0"/>
          <p:nvPr/>
        </p:nvPicPr>
        <p:blipFill rotWithShape="1">
          <a:blip r:embed="rId2">
            <a:alphaModFix/>
          </a:blip>
          <a:srcRect b="84967" l="0" r="82433" t="0"/>
          <a:stretch/>
        </p:blipFill>
        <p:spPr>
          <a:xfrm>
            <a:off x="0" y="0"/>
            <a:ext cx="1987917" cy="102996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h6e25ffb5025d31ee_4_301"/>
          <p:cNvSpPr/>
          <p:nvPr/>
        </p:nvSpPr>
        <p:spPr>
          <a:xfrm>
            <a:off x="6175427" y="6502680"/>
            <a:ext cx="5302800" cy="27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18A999"/>
                </a:solidFill>
                <a:latin typeface="Arial"/>
                <a:ea typeface="Arial"/>
                <a:cs typeface="Arial"/>
                <a:sym typeface="Arial"/>
              </a:rPr>
              <a:t>Machine Learning for Bioinformatics · Lecture 3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1" name="Google Shape;91;h6e25ffb5025d31ee_4_301"/>
          <p:cNvPicPr preferRelativeResize="0"/>
          <p:nvPr/>
        </p:nvPicPr>
        <p:blipFill rotWithShape="1">
          <a:blip r:embed="rId3">
            <a:alphaModFix/>
          </a:blip>
          <a:srcRect b="833" l="84" r="78374" t="82673"/>
          <a:stretch/>
        </p:blipFill>
        <p:spPr>
          <a:xfrm>
            <a:off x="0" y="5727600"/>
            <a:ext cx="2437914" cy="1130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h6e25ffb5025d31ee_4_301"/>
          <p:cNvPicPr preferRelativeResize="0"/>
          <p:nvPr/>
        </p:nvPicPr>
        <p:blipFill rotWithShape="1">
          <a:blip r:embed="rId4">
            <a:alphaModFix/>
          </a:blip>
          <a:srcRect b="32032" l="0" r="0" t="36478"/>
          <a:stretch/>
        </p:blipFill>
        <p:spPr>
          <a:xfrm>
            <a:off x="0" y="2502000"/>
            <a:ext cx="12190295" cy="2158559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h6e25ffb5025d31ee_4_301"/>
          <p:cNvSpPr txBox="1"/>
          <p:nvPr>
            <p:ph type="title"/>
          </p:nvPr>
        </p:nvSpPr>
        <p:spPr>
          <a:xfrm>
            <a:off x="1928156" y="2752560"/>
            <a:ext cx="7871400" cy="163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  <a:defRPr b="0" i="0" sz="4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4" name="Google Shape;94;h6e25ffb5025d31ee_4_301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  <a:defRPr b="0" i="0" sz="13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5" name="Google Shape;95;h6e25ffb5025d31ee_4_301"/>
          <p:cNvSpPr txBox="1"/>
          <p:nvPr>
            <p:ph idx="1" type="body"/>
          </p:nvPr>
        </p:nvSpPr>
        <p:spPr>
          <a:xfrm>
            <a:off x="609479" y="1604520"/>
            <a:ext cx="10972500" cy="397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68605" lvl="0" marL="457200" marR="0" algn="l">
              <a:lnSpc>
                <a:spcPct val="100000"/>
              </a:lnSpc>
              <a:spcBef>
                <a:spcPts val="1417"/>
              </a:spcBef>
              <a:spcAft>
                <a:spcPts val="0"/>
              </a:spcAft>
              <a:buClr>
                <a:srgbClr val="000000"/>
              </a:buClr>
              <a:buSzPts val="630"/>
              <a:buFont typeface="Noto Sans Symbols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5275" lvl="1" marL="914400" marR="0" algn="l">
              <a:lnSpc>
                <a:spcPct val="100000"/>
              </a:lnSpc>
              <a:spcBef>
                <a:spcPts val="1134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Char char="−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68605" lvl="2" marL="1371600" marR="0" algn="l">
              <a:lnSpc>
                <a:spcPct val="100000"/>
              </a:lnSpc>
              <a:spcBef>
                <a:spcPts val="850"/>
              </a:spcBef>
              <a:spcAft>
                <a:spcPts val="0"/>
              </a:spcAft>
              <a:buClr>
                <a:srgbClr val="000000"/>
              </a:buClr>
              <a:buSzPts val="630"/>
              <a:buFont typeface="Noto Sans Symbols"/>
              <a:buChar char="●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5275" lvl="3" marL="1828800" marR="0" algn="l">
              <a:lnSpc>
                <a:spcPct val="100000"/>
              </a:lnSpc>
              <a:spcBef>
                <a:spcPts val="567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Noto Sans Symbols"/>
              <a:buChar char="−"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85750" lvl="4" marL="2286000" marR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85750" lvl="5" marL="2743200" marR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85750" lvl="6" marL="3200400" marR="0" algn="l">
              <a:lnSpc>
                <a:spcPct val="100000"/>
              </a:lnSpc>
              <a:spcBef>
                <a:spcPts val="283"/>
              </a:spcBef>
              <a:spcAft>
                <a:spcPts val="0"/>
              </a:spcAft>
              <a:buClr>
                <a:srgbClr val="000000"/>
              </a:buClr>
              <a:buSzPts val="900"/>
              <a:buFont typeface="Noto Sans Symbols"/>
              <a:buChar char="●"/>
              <a:defRPr b="0" i="0" sz="20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5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8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7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3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2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1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0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8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4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29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6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3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6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30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h130272d650a565f2_0_0"/>
          <p:cNvPicPr preferRelativeResize="0"/>
          <p:nvPr/>
        </p:nvPicPr>
        <p:blipFill rotWithShape="1">
          <a:blip r:embed="rId3">
            <a:alphaModFix/>
          </a:blip>
          <a:srcRect b="0" l="0" r="79008" t="80962"/>
          <a:stretch/>
        </p:blipFill>
        <p:spPr>
          <a:xfrm>
            <a:off x="-18000" y="5553000"/>
            <a:ext cx="2375634" cy="1304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h130272d650a565f2_0_0"/>
          <p:cNvPicPr preferRelativeResize="0"/>
          <p:nvPr/>
        </p:nvPicPr>
        <p:blipFill rotWithShape="1">
          <a:blip r:embed="rId4">
            <a:alphaModFix/>
          </a:blip>
          <a:srcRect b="28805" l="0" r="0" t="37794"/>
          <a:stretch/>
        </p:blipFill>
        <p:spPr>
          <a:xfrm>
            <a:off x="0" y="2592360"/>
            <a:ext cx="12191734" cy="22899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h130272d650a565f2_0_0"/>
          <p:cNvSpPr/>
          <p:nvPr/>
        </p:nvSpPr>
        <p:spPr>
          <a:xfrm>
            <a:off x="68400" y="2644550"/>
            <a:ext cx="5567400" cy="126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lang="en-US" sz="3700">
                <a:solidFill>
                  <a:srgbClr val="005F89"/>
                </a:solidFill>
              </a:rPr>
              <a:t>Tree-Based Machine Learning</a:t>
            </a:r>
            <a:endParaRPr b="1" sz="3700">
              <a:solidFill>
                <a:srgbClr val="005F8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rPr b="1" lang="en-US" sz="3700">
                <a:solidFill>
                  <a:srgbClr val="005F89"/>
                </a:solidFill>
              </a:rPr>
              <a:t>and Model Optimization</a:t>
            </a:r>
            <a:endParaRPr b="1" sz="3700">
              <a:solidFill>
                <a:srgbClr val="005F8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800"/>
              <a:buFont typeface="Arial"/>
              <a:buNone/>
            </a:pPr>
            <a:r>
              <a:t/>
            </a:r>
            <a:endParaRPr b="1" sz="3700">
              <a:solidFill>
                <a:srgbClr val="005F89"/>
              </a:solidFill>
            </a:endParaRPr>
          </a:p>
        </p:txBody>
      </p:sp>
      <p:sp>
        <p:nvSpPr>
          <p:cNvPr id="103" name="Google Shape;103;h130272d650a565f2_0_0"/>
          <p:cNvSpPr/>
          <p:nvPr/>
        </p:nvSpPr>
        <p:spPr>
          <a:xfrm>
            <a:off x="5752076" y="3023650"/>
            <a:ext cx="5021100" cy="10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>
                <a:solidFill>
                  <a:srgbClr val="007191"/>
                </a:solidFill>
              </a:rPr>
              <a:t>Decision Trees · Bagging · Random Forest · Gradient Boosting · XGBoost · LightGBM · Isolation Forest · Hyperparameter Optimization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130272d650a565f2_0_7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9" name="Google Shape;109;h130272d650a565f2_0_7"/>
          <p:cNvSpPr txBox="1"/>
          <p:nvPr/>
        </p:nvSpPr>
        <p:spPr>
          <a:xfrm>
            <a:off x="1915300" y="475850"/>
            <a:ext cx="59313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400">
                <a:solidFill>
                  <a:srgbClr val="18A999"/>
                </a:solidFill>
              </a:rPr>
              <a:t>What's for today</a:t>
            </a:r>
            <a:endParaRPr>
              <a:solidFill>
                <a:srgbClr val="18A999"/>
              </a:solidFill>
            </a:endParaRPr>
          </a:p>
        </p:txBody>
      </p:sp>
      <p:sp>
        <p:nvSpPr>
          <p:cNvPr id="110" name="Google Shape;110;h130272d650a565f2_0_7"/>
          <p:cNvSpPr txBox="1"/>
          <p:nvPr/>
        </p:nvSpPr>
        <p:spPr>
          <a:xfrm>
            <a:off x="891775" y="1691175"/>
            <a:ext cx="7188600" cy="343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Build a decision tree from the idea of recursive feature-space partitioning.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Understand how bagging and Random Forest reduce variance.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Contrast independent ensembles with sequential gradient boosting.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Connect classical GBM to XGBoost and LightGBM.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Use tree logic for anomaly detection with Isolation Forest.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Move from manual tuning to cross-validation, Grid, Random and Bayesian optimization.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Bonus: combine different models using stacking.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h130272d650a565f2_0_13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6" name="Google Shape;116;h130272d650a565f2_0_13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18A999"/>
                </a:solidFill>
              </a:rPr>
              <a:t>Why tree methods matter in bioscience(</a:t>
            </a:r>
            <a:r>
              <a:rPr b="1" lang="en-US" sz="2700">
                <a:solidFill>
                  <a:srgbClr val="18A999"/>
                </a:solidFill>
              </a:rPr>
              <a:t>and everywhere else)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17" name="Google Shape;117;h130272d650a565f2_0_13"/>
          <p:cNvSpPr txBox="1"/>
          <p:nvPr/>
        </p:nvSpPr>
        <p:spPr>
          <a:xfrm>
            <a:off x="914400" y="1645925"/>
            <a:ext cx="45630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They model nonlinear effects and interactions without specifying them explicitly.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They can combine many heterogeneous predictors and require little distributional modelling.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Common applications: omics classification, QSAR, clinical prediction, microscopy features and assay modelling.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9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• Their flexibility also makes validation, regularization and interpretation essential.</a:t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h130272d650a565f2_0_20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23" name="Google Shape;123;h130272d650a565f2_0_20"/>
          <p:cNvSpPr txBox="1"/>
          <p:nvPr/>
        </p:nvSpPr>
        <p:spPr>
          <a:xfrm>
            <a:off x="914400" y="2770632"/>
            <a:ext cx="100584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>
                <a:solidFill>
                  <a:srgbClr val="18A999"/>
                </a:solidFill>
              </a:rPr>
              <a:t>1</a:t>
            </a:r>
            <a:r>
              <a:rPr b="0" i="0" lang="en-US" sz="2500" u="none" cap="none" strike="noStrike">
                <a:solidFill>
                  <a:srgbClr val="18A999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2500">
                <a:solidFill>
                  <a:srgbClr val="18A999"/>
                </a:solidFill>
              </a:rPr>
              <a:t>Decision Trees</a:t>
            </a:r>
            <a:endParaRPr b="0" i="0" sz="1800" u="none" cap="none" strike="noStrike">
              <a:solidFill>
                <a:srgbClr val="18A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h130272d650a565f2_0_20"/>
          <p:cNvSpPr txBox="1"/>
          <p:nvPr/>
        </p:nvSpPr>
        <p:spPr>
          <a:xfrm>
            <a:off x="914400" y="3264408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007191"/>
                </a:solidFill>
              </a:rPr>
              <a:t>Just ask a set of questions</a:t>
            </a:r>
            <a:r>
              <a:rPr lang="en-US" sz="1600">
                <a:solidFill>
                  <a:srgbClr val="007191"/>
                </a:solidFill>
              </a:rPr>
              <a:t>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5" name="Google Shape;125;h130272d650a565f2_0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30172" y="914600"/>
            <a:ext cx="3561799" cy="44697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h130272d650a565f2_0_121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1" name="Google Shape;131;h130272d650a565f2_0_121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Decision tree</a:t>
            </a:r>
            <a:endParaRPr b="1" sz="2700">
              <a:solidFill>
                <a:srgbClr val="18A999"/>
              </a:solidFill>
            </a:endParaRPr>
          </a:p>
        </p:txBody>
      </p:sp>
      <p:pic>
        <p:nvPicPr>
          <p:cNvPr id="132" name="Google Shape;132;h130272d650a565f2_0_1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92375" y="1206250"/>
            <a:ext cx="7782626" cy="5253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130272d650a565f2_0_190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38" name="Google Shape;138;h130272d650a565f2_0_190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A tree partitions feature space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39" name="Google Shape;139;h130272d650a565f2_0_190"/>
          <p:cNvSpPr txBox="1"/>
          <p:nvPr/>
        </p:nvSpPr>
        <p:spPr>
          <a:xfrm>
            <a:off x="495700" y="1510125"/>
            <a:ext cx="101760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Each internal node asks a rule such as xⱼ &lt; 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rule divides observations into increasingly homogeneous regions.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Leaves contain the final class prediction or regression value.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 tree is therefore both a predictive model and a piecewise partition of feature space.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40" name="Google Shape;140;h130272d650a565f2_0_19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88178" y="2885774"/>
            <a:ext cx="7462014" cy="361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h130272d650a565f2_0_127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46" name="Google Shape;146;h130272d650a565f2_0_127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Classification and regression use the same machinery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47" name="Google Shape;147;h130272d650a565f2_0_127"/>
          <p:cNvSpPr txBox="1"/>
          <p:nvPr/>
        </p:nvSpPr>
        <p:spPr>
          <a:xfrm>
            <a:off x="529625" y="1581900"/>
            <a:ext cx="99498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Classification leaves predict class probabilities / majority class.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Regression leaves predict a mean or another constant response within the region.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main difference is the criterion used to judge a candidate split.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Classification: impurity; regression: reduction in squared error / variance.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48" name="Google Shape;148;h130272d650a565f2_0_1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3400" y="2875875"/>
            <a:ext cx="6642902" cy="3626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h130272d650a565f2_0_133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4" name="Google Shape;154;h130272d650a565f2_0_133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How does a tree choose a split?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55" name="Google Shape;155;h130272d650a565f2_0_133"/>
          <p:cNvSpPr txBox="1"/>
          <p:nvPr/>
        </p:nvSpPr>
        <p:spPr>
          <a:xfrm>
            <a:off x="507000" y="1476175"/>
            <a:ext cx="8263500" cy="213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Try candidate features and thresholds.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Calculate impurity before and after the split.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Prefer the split producing the largest impurity reduction.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ΔI = I(parent) − (nL/n)I(left) − (nR/n)I(right).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56" name="Google Shape;156;h130272d650a565f2_0_1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6250" y="2872375"/>
            <a:ext cx="8045174" cy="35669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h130272d650a565f2_0_139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2" name="Google Shape;162;h130272d650a565f2_0_139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Gini impurity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63" name="Google Shape;163;h130272d650a565f2_0_139"/>
          <p:cNvSpPr txBox="1"/>
          <p:nvPr/>
        </p:nvSpPr>
        <p:spPr>
          <a:xfrm>
            <a:off x="507000" y="1645925"/>
            <a:ext cx="3600900" cy="3601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Gini = 1 − Σₖ pₖ².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Gini = 0 when a node contains only one class.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Impurity increases as classes become more mixed.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 split is useful when its children are purer than their parent.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64" name="Google Shape;164;h130272d650a565f2_0_139"/>
          <p:cNvPicPr preferRelativeResize="0"/>
          <p:nvPr/>
        </p:nvPicPr>
        <p:blipFill rotWithShape="1">
          <a:blip r:embed="rId3">
            <a:alphaModFix/>
          </a:blip>
          <a:srcRect b="7612" l="0" r="0" t="6954"/>
          <a:stretch/>
        </p:blipFill>
        <p:spPr>
          <a:xfrm>
            <a:off x="4232500" y="1074825"/>
            <a:ext cx="7959475" cy="48476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130272d650a565f2_0_14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0" name="Google Shape;170;h130272d650a565f2_0_145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Entropy and information gain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71" name="Google Shape;171;h130272d650a565f2_0_145"/>
          <p:cNvSpPr txBox="1"/>
          <p:nvPr/>
        </p:nvSpPr>
        <p:spPr>
          <a:xfrm>
            <a:off x="507000" y="1645925"/>
            <a:ext cx="3748200" cy="4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Entropy: H = −Σₖ pₖ log₂(pₖ).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Information gain measures the reduction in entropy after splitting.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Gini and entropy often produce similar trees in practice.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important concept is reduction of uncertainty, not memorizing one criterion.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72" name="Google Shape;172;h130272d650a565f2_0_145"/>
          <p:cNvPicPr preferRelativeResize="0"/>
          <p:nvPr/>
        </p:nvPicPr>
        <p:blipFill rotWithShape="1">
          <a:blip r:embed="rId3">
            <a:alphaModFix/>
          </a:blip>
          <a:srcRect b="7612" l="0" r="0" t="6954"/>
          <a:stretch/>
        </p:blipFill>
        <p:spPr>
          <a:xfrm>
            <a:off x="4255200" y="1227225"/>
            <a:ext cx="7959475" cy="48476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h130272d650a565f2_0_151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78" name="Google Shape;178;h130272d650a565f2_0_151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Regression trees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79" name="Google Shape;179;h130272d650a565f2_0_151"/>
          <p:cNvSpPr txBox="1"/>
          <p:nvPr/>
        </p:nvSpPr>
        <p:spPr>
          <a:xfrm>
            <a:off x="507000" y="1645925"/>
            <a:ext cx="5457000" cy="418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Candidate splits are evaluated by how much they reduce within-node prediction error.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 common criterion is squared error around the node mean.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final model is piecewise constant unless additional modelling is used inside leaves.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This makes nonlinear relationships possible without an explicit polynomial equation.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h130272d650a565f2_0_157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85" name="Google Shape;185;h130272d650a565f2_0_157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Recursive partitioning creates complexity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86" name="Google Shape;186;h130272d650a565f2_0_157"/>
          <p:cNvSpPr txBox="1"/>
          <p:nvPr/>
        </p:nvSpPr>
        <p:spPr>
          <a:xfrm>
            <a:off x="507000" y="1645925"/>
            <a:ext cx="3929100" cy="53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After the first split, the same procedure is repeated independently in each child node.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Deep trees can create highly irregular decision boundaries.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This flexibility gives trees low training error but potentially high variance.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An unrestricted tree can effectively memorize small datasets.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87" name="Google Shape;187;h130272d650a565f2_0_157"/>
          <p:cNvPicPr preferRelativeResize="0"/>
          <p:nvPr/>
        </p:nvPicPr>
        <p:blipFill rotWithShape="1">
          <a:blip r:embed="rId3">
            <a:alphaModFix/>
          </a:blip>
          <a:srcRect b="7612" l="0" r="0" t="6954"/>
          <a:stretch/>
        </p:blipFill>
        <p:spPr>
          <a:xfrm>
            <a:off x="4164600" y="1487475"/>
            <a:ext cx="7959475" cy="48476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h130272d650a565f2_0_163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93" name="Google Shape;193;h130272d650a565f2_0_163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Regularizing a tree before it grows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194" name="Google Shape;194;h130272d650a565f2_0_163"/>
          <p:cNvSpPr txBox="1"/>
          <p:nvPr/>
        </p:nvSpPr>
        <p:spPr>
          <a:xfrm>
            <a:off x="2894875" y="1346050"/>
            <a:ext cx="118737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max_depth limits the number of sequential decisions.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min_samples_split prevents splitting very small nodes.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min_samples_leaf requires enough observations in terminal regions.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max_features limits the features considered at a split.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These parameters control the bias–variance tradeoff.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195" name="Google Shape;195;h130272d650a565f2_0_163"/>
          <p:cNvPicPr preferRelativeResize="0"/>
          <p:nvPr/>
        </p:nvPicPr>
        <p:blipFill rotWithShape="1">
          <a:blip r:embed="rId3">
            <a:alphaModFix/>
          </a:blip>
          <a:srcRect b="5643" l="0" r="0" t="16098"/>
          <a:stretch/>
        </p:blipFill>
        <p:spPr>
          <a:xfrm>
            <a:off x="122275" y="3231245"/>
            <a:ext cx="11873700" cy="32714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h130272d650a565f2_0_169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1" name="Google Shape;201;h130272d650a565f2_0_169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700">
                <a:solidFill>
                  <a:srgbClr val="18A999"/>
                </a:solidFill>
              </a:rPr>
              <a:t>Post-pruning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02" name="Google Shape;202;h130272d650a565f2_0_169"/>
          <p:cNvSpPr txBox="1"/>
          <p:nvPr/>
        </p:nvSpPr>
        <p:spPr>
          <a:xfrm>
            <a:off x="2464800" y="1074825"/>
            <a:ext cx="127224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Grow a larger tree and then remove branches that provide insufficient benefit.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Cost-complexity pruning balances fit against tree complexity.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In scikit-learn, ccp_alpha controls this tradeoff.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Pruning can improve generalization and interpretability.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203" name="Google Shape;203;h130272d650a565f2_0_169"/>
          <p:cNvPicPr preferRelativeResize="0"/>
          <p:nvPr/>
        </p:nvPicPr>
        <p:blipFill rotWithShape="1">
          <a:blip r:embed="rId3">
            <a:alphaModFix/>
          </a:blip>
          <a:srcRect b="5536" l="0" r="0" t="0"/>
          <a:stretch/>
        </p:blipFill>
        <p:spPr>
          <a:xfrm>
            <a:off x="0" y="2448125"/>
            <a:ext cx="12191974" cy="40545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130272d650a565f2_0_17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09" name="Google Shape;209;h130272d650a565f2_0_175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Why trees are effective for biological data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10" name="Google Shape;210;h130272d650a565f2_0_175"/>
          <p:cNvSpPr txBox="1"/>
          <p:nvPr/>
        </p:nvSpPr>
        <p:spPr>
          <a:xfrm>
            <a:off x="507000" y="1645925"/>
            <a:ext cx="5457000" cy="535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Nonlinear thresholds can resemble biological decision rules.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Interactions emerge naturally: one split changes which split becomes useful next.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Feature scaling is generally unnecessary for ordinary decision-tree splits.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But instability is important: a small data change can produce a different tree.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h130272d650a565f2_0_181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16" name="Google Shape;216;h130272d650a565f2_0_181"/>
          <p:cNvSpPr txBox="1"/>
          <p:nvPr/>
        </p:nvSpPr>
        <p:spPr>
          <a:xfrm>
            <a:off x="914400" y="2770632"/>
            <a:ext cx="100584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>
                <a:solidFill>
                  <a:srgbClr val="18A999"/>
                </a:solidFill>
              </a:rPr>
              <a:t>2. Bagging and Random Forest</a:t>
            </a:r>
            <a:endParaRPr b="0" i="0" sz="1800" u="none" cap="none" strike="noStrike">
              <a:solidFill>
                <a:srgbClr val="18A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h130272d650a565f2_0_181"/>
          <p:cNvSpPr txBox="1"/>
          <p:nvPr/>
        </p:nvSpPr>
        <p:spPr>
          <a:xfrm>
            <a:off x="914400" y="3264408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007191"/>
                </a:solidFill>
              </a:rPr>
              <a:t>Democracy is the worst form of government, except for all the others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h130272d650a565f2_0_18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3223" y="1018950"/>
            <a:ext cx="2968750" cy="4453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h130272d650a565f2_0_214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24" name="Google Shape;224;h130272d650a565f2_0_214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The problem: trees have high variance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25" name="Google Shape;225;h130272d650a565f2_0_214"/>
          <p:cNvSpPr txBox="1"/>
          <p:nvPr/>
        </p:nvSpPr>
        <p:spPr>
          <a:xfrm>
            <a:off x="507000" y="1645925"/>
            <a:ext cx="10572300" cy="4479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 deep tree can fit training data extremely well.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Small changes in observations can alter early splits and restructure the whole tree.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Instead of relying on one unstable model, we can average many related models.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This is the motivation for bagging.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226" name="Google Shape;226;h130272d650a565f2_0_214"/>
          <p:cNvPicPr preferRelativeResize="0"/>
          <p:nvPr/>
        </p:nvPicPr>
        <p:blipFill rotWithShape="1">
          <a:blip r:embed="rId3">
            <a:alphaModFix/>
          </a:blip>
          <a:srcRect b="6997" l="0" r="0" t="17526"/>
          <a:stretch/>
        </p:blipFill>
        <p:spPr>
          <a:xfrm>
            <a:off x="1218500" y="2965025"/>
            <a:ext cx="10077926" cy="34466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h130272d650a565f2_0_220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2" name="Google Shape;232;h130272d650a565f2_0_220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Bootstrap aggregation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33" name="Google Shape;233;h130272d650a565f2_0_220"/>
          <p:cNvSpPr txBox="1"/>
          <p:nvPr/>
        </p:nvSpPr>
        <p:spPr>
          <a:xfrm>
            <a:off x="507000" y="1645925"/>
            <a:ext cx="9791400" cy="594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Generate B bootstrap samples from the training dataset.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Fit one tree independently to each bootstrap sample.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Regression: average predictions; classification: average probabilities / vote.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f̂bag(x) = (1/B) Σᵦ f̂ᵦ(x).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Individual trees can have high variance.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Averaging reduces variance when their errors are not perfectly correlated.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Bagging mainly attacks variance rather than systematically reducing bias.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900">
                <a:solidFill>
                  <a:schemeClr val="dk1"/>
                </a:solidFill>
              </a:rPr>
              <a:t>• The trees can be trained independently.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130272d650a565f2_0_232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39" name="Google Shape;239;h130272d650a565f2_0_232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Random Forest = bagging + feature randomnes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40" name="Google Shape;240;h130272d650a565f2_0_232"/>
          <p:cNvSpPr txBox="1"/>
          <p:nvPr/>
        </p:nvSpPr>
        <p:spPr>
          <a:xfrm>
            <a:off x="507000" y="1645925"/>
            <a:ext cx="12813000" cy="50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At each split, only a random subset of features is considered.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This decorrelates trees that would otherwise repeatedly choose the same dominant predictor.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final prediction aggregates many diverse trees.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241" name="Google Shape;241;h130272d650a565f2_0_232"/>
          <p:cNvPicPr preferRelativeResize="0"/>
          <p:nvPr/>
        </p:nvPicPr>
        <p:blipFill rotWithShape="1">
          <a:blip r:embed="rId3">
            <a:alphaModFix/>
          </a:blip>
          <a:srcRect b="8804" l="0" r="0" t="16525"/>
          <a:stretch/>
        </p:blipFill>
        <p:spPr>
          <a:xfrm>
            <a:off x="2236252" y="2654175"/>
            <a:ext cx="8403844" cy="378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h130272d650a565f2_0_238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47" name="Google Shape;247;h130272d650a565f2_0_238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Out-of-bag observations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48" name="Google Shape;248;h130272d650a565f2_0_238"/>
          <p:cNvSpPr txBox="1"/>
          <p:nvPr/>
        </p:nvSpPr>
        <p:spPr>
          <a:xfrm>
            <a:off x="507000" y="1645925"/>
            <a:ext cx="5457000" cy="681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 bootstrap sample does not contain every original training observation.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Unused observations for a tree are its out-of-bag (OOB) samples.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OOB predictions provide an internal estimate of generalization performance.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They are useful, but do not replace a truly untouched final test set when one is available.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h130272d650a565f2_0_244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54" name="Google Shape;254;h130272d650a565f2_0_244"/>
          <p:cNvSpPr txBox="1"/>
          <p:nvPr/>
        </p:nvSpPr>
        <p:spPr>
          <a:xfrm>
            <a:off x="2017130" y="516403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700">
                <a:solidFill>
                  <a:srgbClr val="18A999"/>
                </a:solidFill>
              </a:rPr>
              <a:t>Random Forest hyperparameters</a:t>
            </a:r>
            <a:endParaRPr b="1" sz="2700">
              <a:solidFill>
                <a:srgbClr val="18A999"/>
              </a:solidFill>
            </a:endParaRPr>
          </a:p>
        </p:txBody>
      </p:sp>
      <p:pic>
        <p:nvPicPr>
          <p:cNvPr id="255" name="Google Shape;255;h130272d650a565f2_0_2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08075" y="1024303"/>
            <a:ext cx="9272484" cy="547837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h130272d650a565f2_0_250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1" name="Google Shape;261;h130272d650a565f2_0_250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Feature importance: useful, but easy to misuse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62" name="Google Shape;262;h130272d650a565f2_0_250"/>
          <p:cNvSpPr txBox="1"/>
          <p:nvPr/>
        </p:nvSpPr>
        <p:spPr>
          <a:xfrm>
            <a:off x="507000" y="1645925"/>
            <a:ext cx="4449900" cy="74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Impurity-based importance is fast and built into many tree models.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It can favor variables with many possible split points or high cardinality.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Permutation importance asks how much predictive performance drops when a feature is shuffled.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263" name="Google Shape;263;h130272d650a565f2_0_2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43275" y="1380375"/>
            <a:ext cx="6751867" cy="506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h130272d650a565f2_0_256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69" name="Google Shape;269;h130272d650a565f2_0_256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predictive importance is not the same as mechanism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70" name="Google Shape;270;h130272d650a565f2_0_256"/>
          <p:cNvSpPr txBox="1"/>
          <p:nvPr/>
        </p:nvSpPr>
        <p:spPr>
          <a:xfrm>
            <a:off x="507000" y="1645925"/>
            <a:ext cx="5457000" cy="76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 gene can be predictive because it correlates with the true biological driver.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Batch, tissue composition or technical covariates can also become highly predictive.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Feature importance does not establish causality.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Candidate biomarkers still require biological and external validation.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h130272d650a565f2_0_262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76" name="Google Shape;276;h130272d650a565f2_0_262"/>
          <p:cNvSpPr txBox="1"/>
          <p:nvPr/>
        </p:nvSpPr>
        <p:spPr>
          <a:xfrm>
            <a:off x="914400" y="2770632"/>
            <a:ext cx="100584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>
                <a:solidFill>
                  <a:srgbClr val="18A999"/>
                </a:solidFill>
              </a:rPr>
              <a:t>3. Boosting</a:t>
            </a:r>
            <a:endParaRPr b="0" i="0" sz="1800" u="none" cap="none" strike="noStrike">
              <a:solidFill>
                <a:srgbClr val="18A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h130272d650a565f2_0_262"/>
          <p:cNvSpPr txBox="1"/>
          <p:nvPr/>
        </p:nvSpPr>
        <p:spPr>
          <a:xfrm>
            <a:off x="914400" y="3264408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007191"/>
                </a:solidFill>
              </a:rPr>
              <a:t>Instead of independent trees, learn from previous errors.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8" name="Google Shape;278;h130272d650a565f2_0_2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9500" y="2035333"/>
            <a:ext cx="5462485" cy="29500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h130272d650a565f2_0_27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84" name="Google Shape;284;h130272d650a565f2_0_275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Bagging and boosting solve different problems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85" name="Google Shape;285;h130272d650a565f2_0_275"/>
          <p:cNvSpPr txBox="1"/>
          <p:nvPr/>
        </p:nvSpPr>
        <p:spPr>
          <a:xfrm>
            <a:off x="507000" y="1645925"/>
            <a:ext cx="5457000" cy="76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Bagging: train many models independently and average them.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Boosting: add models sequentially so each new learner improves the current ensemble.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Bagging primarily reduces variance.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Boosting can reduce bias while controlling complexity through many weak learners.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286" name="Google Shape;286;h130272d650a565f2_0_27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4000" y="1521453"/>
            <a:ext cx="5923176" cy="3331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h130272d650a565f2_0_282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92" name="Google Shape;292;h130272d650a565f2_0_282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Gradient Boosting essentials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293" name="Google Shape;293;h130272d650a565f2_0_282"/>
          <p:cNvSpPr txBox="1"/>
          <p:nvPr/>
        </p:nvSpPr>
        <p:spPr>
          <a:xfrm>
            <a:off x="507000" y="1645925"/>
            <a:ext cx="5457000" cy="74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Start with a simple initial prediction F₀(x).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Measure the errors / negative gradients of the current ensemble.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Fit a small tree hₘ(x) to that remaining signal.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Update: Fₘ(x) = Fₘ₋₁(x) + η hₘ(x).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294" name="Google Shape;294;h130272d650a565f2_0_2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9850" y="1428575"/>
            <a:ext cx="6277699" cy="47580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h130272d650a565f2_0_290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0" name="Google Shape;300;h130272d650a565f2_0_290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700">
                <a:solidFill>
                  <a:srgbClr val="18A999"/>
                </a:solidFill>
              </a:rPr>
              <a:t>Learning rate and number of trees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01" name="Google Shape;301;h130272d650a565f2_0_290"/>
          <p:cNvSpPr txBox="1"/>
          <p:nvPr/>
        </p:nvSpPr>
        <p:spPr>
          <a:xfrm>
            <a:off x="371175" y="1227225"/>
            <a:ext cx="4065000" cy="857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n controls how strongly each new tree changes the ensemble.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Small learning rates usually require more trees.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Large learning rates learn faster but can overfit or become unstable.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n_estimators and learning_rate therefore interact strongly.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02" name="Google Shape;302;h130272d650a565f2_0_290"/>
          <p:cNvPicPr preferRelativeResize="0"/>
          <p:nvPr/>
        </p:nvPicPr>
        <p:blipFill rotWithShape="1">
          <a:blip r:embed="rId3">
            <a:alphaModFix/>
          </a:blip>
          <a:srcRect b="5011" l="0" r="0" t="4212"/>
          <a:stretch/>
        </p:blipFill>
        <p:spPr>
          <a:xfrm>
            <a:off x="4262999" y="1227225"/>
            <a:ext cx="7846026" cy="47820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h130272d650a565f2_0_297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8" name="Google Shape;308;h130272d650a565f2_0_297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Tree depth means something different in boosting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09" name="Google Shape;309;h130272d650a565f2_0_297"/>
          <p:cNvSpPr txBox="1"/>
          <p:nvPr/>
        </p:nvSpPr>
        <p:spPr>
          <a:xfrm>
            <a:off x="505563" y="1074825"/>
            <a:ext cx="11058900" cy="769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Boosting often uses shallow trees as weak learners.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Depth controls the order of interactions a tree can represent.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Very deep boosted trees can fit complex noise patterns.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Regularization should be considered jointly with learning rate and number of rounds.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10" name="Google Shape;310;h130272d650a565f2_0_297"/>
          <p:cNvPicPr preferRelativeResize="0"/>
          <p:nvPr/>
        </p:nvPicPr>
        <p:blipFill rotWithShape="1">
          <a:blip r:embed="rId3">
            <a:alphaModFix/>
          </a:blip>
          <a:srcRect b="4019" l="0" r="0" t="14793"/>
          <a:stretch/>
        </p:blipFill>
        <p:spPr>
          <a:xfrm>
            <a:off x="1786413" y="2541800"/>
            <a:ext cx="8152750" cy="38816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h130272d650a565f2_0_303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16" name="Google Shape;316;h130272d650a565f2_0_303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From Gradient Boosting to XGBoost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17" name="Google Shape;317;h130272d650a565f2_0_303"/>
          <p:cNvSpPr txBox="1"/>
          <p:nvPr/>
        </p:nvSpPr>
        <p:spPr>
          <a:xfrm>
            <a:off x="507000" y="1645925"/>
            <a:ext cx="10617600" cy="798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XGBoost implements regularized gradient boosting with highly optimized training.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It includes explicit penalties on tree complexity.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It supports row/feature subsampling, missing-value handling and efficient split finding.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key conceptual model remains sequential gradient boosting.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18" name="Google Shape;318;h130272d650a565f2_0_3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000" y="2947350"/>
            <a:ext cx="6199838" cy="3487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30272d650a565f2_0_31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24" name="Google Shape;324;h130272d650a565f2_0_315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LightGBM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25" name="Google Shape;325;h130272d650a565f2_0_315"/>
          <p:cNvSpPr txBox="1"/>
          <p:nvPr/>
        </p:nvSpPr>
        <p:spPr>
          <a:xfrm>
            <a:off x="507000" y="1645925"/>
            <a:ext cx="11183400" cy="82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LightGBM is another optimized gradient-boosting implementation.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Histogram-based splitting reduces computational cost.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Its characteristic leaf-wise growth expands the leaf with the largest gain.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This can be efficient and powerful, but unconstrained growth can overfit small datasets.</a:t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26" name="Google Shape;326;h130272d650a565f2_0_3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02525" y="2834224"/>
            <a:ext cx="7778491" cy="3555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h130272d650a565f2_0_327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2" name="Google Shape;332;h130272d650a565f2_0_327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Tree ensemble map</a:t>
            </a:r>
            <a:endParaRPr b="1" sz="2700">
              <a:solidFill>
                <a:srgbClr val="18A999"/>
              </a:solidFill>
            </a:endParaRPr>
          </a:p>
        </p:txBody>
      </p:sp>
      <p:pic>
        <p:nvPicPr>
          <p:cNvPr id="333" name="Google Shape;333;h130272d650a565f2_0_327"/>
          <p:cNvPicPr preferRelativeResize="0"/>
          <p:nvPr/>
        </p:nvPicPr>
        <p:blipFill rotWithShape="1">
          <a:blip r:embed="rId3">
            <a:alphaModFix/>
          </a:blip>
          <a:srcRect b="13420" l="0" r="0" t="10586"/>
          <a:stretch/>
        </p:blipFill>
        <p:spPr>
          <a:xfrm>
            <a:off x="830278" y="1366437"/>
            <a:ext cx="10854149" cy="5054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h130272d650a565f2_0_333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39" name="Google Shape;339;h130272d650a565f2_0_333"/>
          <p:cNvSpPr txBox="1"/>
          <p:nvPr/>
        </p:nvSpPr>
        <p:spPr>
          <a:xfrm>
            <a:off x="914400" y="2770632"/>
            <a:ext cx="100584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>
                <a:solidFill>
                  <a:srgbClr val="18A999"/>
                </a:solidFill>
              </a:rPr>
              <a:t>4. Isolation Forest</a:t>
            </a:r>
            <a:endParaRPr b="0" i="0" sz="1800" u="none" cap="none" strike="noStrike">
              <a:solidFill>
                <a:srgbClr val="18A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h130272d650a565f2_0_333"/>
          <p:cNvSpPr txBox="1"/>
          <p:nvPr/>
        </p:nvSpPr>
        <p:spPr>
          <a:xfrm>
            <a:off x="914400" y="3264408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007191"/>
                </a:solidFill>
              </a:rPr>
              <a:t>You </a:t>
            </a:r>
            <a:r>
              <a:rPr lang="en-US" sz="1600">
                <a:solidFill>
                  <a:srgbClr val="007191"/>
                </a:solidFill>
              </a:rPr>
              <a:t>don't</a:t>
            </a:r>
            <a:r>
              <a:rPr lang="en-US" sz="1600">
                <a:solidFill>
                  <a:srgbClr val="007191"/>
                </a:solidFill>
              </a:rPr>
              <a:t> actually need labels with RF</a:t>
            </a:r>
            <a:r>
              <a:rPr lang="en-US" sz="1600">
                <a:solidFill>
                  <a:srgbClr val="007191"/>
                </a:solidFill>
              </a:rPr>
              <a:t>.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1" name="Google Shape;341;h130272d650a565f2_0_3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517923" y="1058450"/>
            <a:ext cx="2674050" cy="4750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h130272d650a565f2_0_346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47" name="Google Shape;347;h130272d650a565f2_0_346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Anomaly detection is not classification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48" name="Google Shape;348;h130272d650a565f2_0_346"/>
          <p:cNvSpPr txBox="1"/>
          <p:nvPr/>
        </p:nvSpPr>
        <p:spPr>
          <a:xfrm>
            <a:off x="633750" y="1708850"/>
            <a:ext cx="30000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Often we do not have reliable labels for every possible abnormal observation.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Anomaly detection asks which samples differ strongly from the dominant data structure.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Examples: QC failures, unusual cells, contaminated assays or rare morphology.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An unusual observation is not automatically an erroneous observation.</a:t>
            </a:r>
            <a:endParaRPr sz="1900"/>
          </a:p>
        </p:txBody>
      </p:sp>
      <p:pic>
        <p:nvPicPr>
          <p:cNvPr id="349" name="Google Shape;349;h130272d650a565f2_0_3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86150" y="1227228"/>
            <a:ext cx="8196882" cy="51230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h130272d650a565f2_0_35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55" name="Google Shape;355;h130272d650a565f2_0_355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Isolation Forest intuition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56" name="Google Shape;356;h130272d650a565f2_0_355"/>
          <p:cNvSpPr txBox="1"/>
          <p:nvPr/>
        </p:nvSpPr>
        <p:spPr>
          <a:xfrm>
            <a:off x="633750" y="1708850"/>
            <a:ext cx="3000000" cy="42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Choose a feature and split value randomly.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Repeat until an observation becomes isolated.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Rare/extreme observations generally require fewer random splits to isolate.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Short average path length therefore corresponds to stronger anomaly evidence.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57" name="Google Shape;357;h130272d650a565f2_0_3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31425" y="1558153"/>
            <a:ext cx="8253425" cy="44612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h130272d650a565f2_0_363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63" name="Google Shape;363;h130272d650a565f2_0_363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b="1" lang="en-US" sz="2700">
                <a:solidFill>
                  <a:srgbClr val="18A999"/>
                </a:solidFill>
              </a:rPr>
              <a:t>Isolation Forest in biological QC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64" name="Google Shape;364;h130272d650a565f2_0_363"/>
          <p:cNvSpPr txBox="1"/>
          <p:nvPr/>
        </p:nvSpPr>
        <p:spPr>
          <a:xfrm>
            <a:off x="633750" y="1708850"/>
            <a:ext cx="30000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Detect unusual samples before downstream modelling.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Flag atypical microscopy objects or assay readouts for review.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Use metadata to determine whether anomalies are technical or biologically interesting.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Do not automatically delete flagged samples: investigate them.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h130272d650a565f2_0_370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0" name="Google Shape;370;h130272d650a565f2_0_370"/>
          <p:cNvSpPr txBox="1"/>
          <p:nvPr/>
        </p:nvSpPr>
        <p:spPr>
          <a:xfrm>
            <a:off x="914400" y="2770632"/>
            <a:ext cx="100584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>
                <a:solidFill>
                  <a:srgbClr val="18A999"/>
                </a:solidFill>
              </a:rPr>
              <a:t>5. Validation and hyperparameter optimization</a:t>
            </a:r>
            <a:endParaRPr b="0" i="0" sz="1800" u="none" cap="none" strike="noStrike">
              <a:solidFill>
                <a:srgbClr val="18A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h130272d650a565f2_0_370"/>
          <p:cNvSpPr txBox="1"/>
          <p:nvPr/>
        </p:nvSpPr>
        <p:spPr>
          <a:xfrm>
            <a:off x="914400" y="3264408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007191"/>
                </a:solidFill>
              </a:rPr>
              <a:t>Where is the loss function </a:t>
            </a:r>
            <a:r>
              <a:rPr lang="en-US" sz="1600">
                <a:solidFill>
                  <a:srgbClr val="007191"/>
                </a:solidFill>
              </a:rPr>
              <a:t>minimum</a:t>
            </a:r>
            <a:r>
              <a:rPr lang="en-US" sz="1600">
                <a:solidFill>
                  <a:srgbClr val="007191"/>
                </a:solidFill>
              </a:rPr>
              <a:t>.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2" name="Google Shape;372;h130272d650a565f2_0_37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59925" y="2159833"/>
            <a:ext cx="4432062" cy="29500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h130272d650a565f2_0_379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78" name="Google Shape;378;h130272d650a565f2_0_379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Why a single validation split can be fragile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79" name="Google Shape;379;h130272d650a565f2_0_379"/>
          <p:cNvSpPr txBox="1"/>
          <p:nvPr/>
        </p:nvSpPr>
        <p:spPr>
          <a:xfrm>
            <a:off x="633750" y="1708850"/>
            <a:ext cx="3000000" cy="51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Performance can depend strongly on which observations happen to enter the validation set.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This is especially problematic for small biological datasets.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Cross-validation repeatedly changes the validation subset.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average across folds provides a more stable estimate for model selection.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h130272d650a565f2_0_38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85" name="Google Shape;385;h130272d650a565f2_0_385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K-fold cross-validation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86" name="Google Shape;386;h130272d650a565f2_0_385"/>
          <p:cNvSpPr txBox="1"/>
          <p:nvPr/>
        </p:nvSpPr>
        <p:spPr>
          <a:xfrm>
            <a:off x="633750" y="1708850"/>
            <a:ext cx="3000000" cy="42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Split training data into K folds.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Train on K−1 folds and validate on the remaining fold.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Repeat until every fold has served as validation data.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Aggregate the validation metric across folds.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87" name="Google Shape;387;h130272d650a565f2_0_38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86150" y="1227228"/>
            <a:ext cx="8253426" cy="4962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h130272d650a565f2_0_392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93" name="Google Shape;393;h130272d650a565f2_0_392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Hierarchy requires split-aware CV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394" name="Google Shape;394;h130272d650a565f2_0_392"/>
          <p:cNvSpPr txBox="1"/>
          <p:nvPr/>
        </p:nvSpPr>
        <p:spPr>
          <a:xfrm>
            <a:off x="565875" y="1437250"/>
            <a:ext cx="3000000" cy="661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StratifiedKFold preserves class proportions for classification.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GroupKFold keeps related observations together — e.g. multiple measurements from one patient.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Donor, animal, plate, batch or site structure may define the correct grouping unit.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Randomly splitting pseudoreplicates can produce severe information leakage.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395" name="Google Shape;395;h130272d650a565f2_0_3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40925" y="1283828"/>
            <a:ext cx="7993492" cy="51230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h130272d650a565f2_0_400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1" name="Google Shape;401;h130272d650a565f2_0_400"/>
          <p:cNvSpPr txBox="1"/>
          <p:nvPr/>
        </p:nvSpPr>
        <p:spPr>
          <a:xfrm>
            <a:off x="1786430" y="566928"/>
            <a:ext cx="102414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Hyperparameters define a search space</a:t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402" name="Google Shape;402;h130272d650a565f2_0_400"/>
          <p:cNvSpPr txBox="1"/>
          <p:nvPr/>
        </p:nvSpPr>
        <p:spPr>
          <a:xfrm>
            <a:off x="565875" y="1437250"/>
            <a:ext cx="3000000" cy="60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Decision tree: depth, minimum leaf size, pruning strength.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Random Forest: number of trees, feature subset size, tree complexity.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Boosting: learning rate, rounds, depth/leaves, subsampling, regularization.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Optimization chooses among configurations using validation/CV performance.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403" name="Google Shape;403;h130272d650a565f2_0_400"/>
          <p:cNvPicPr preferRelativeResize="0"/>
          <p:nvPr/>
        </p:nvPicPr>
        <p:blipFill rotWithShape="1">
          <a:blip r:embed="rId3">
            <a:alphaModFix/>
          </a:blip>
          <a:srcRect b="0" l="0" r="0" t="15733"/>
          <a:stretch/>
        </p:blipFill>
        <p:spPr>
          <a:xfrm>
            <a:off x="3718275" y="2003073"/>
            <a:ext cx="8473701" cy="415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h130272d650a565f2_0_415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09" name="Google Shape;409;h130272d650a565f2_0_415"/>
          <p:cNvSpPr txBox="1"/>
          <p:nvPr/>
        </p:nvSpPr>
        <p:spPr>
          <a:xfrm>
            <a:off x="1786430" y="566928"/>
            <a:ext cx="10241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Grid vs Random vs Bayesian</a:t>
            </a:r>
            <a:endParaRPr b="1" sz="2700">
              <a:solidFill>
                <a:srgbClr val="18A9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410" name="Google Shape;410;h130272d650a565f2_0_415"/>
          <p:cNvSpPr txBox="1"/>
          <p:nvPr/>
        </p:nvSpPr>
        <p:spPr>
          <a:xfrm>
            <a:off x="2387875" y="1256175"/>
            <a:ext cx="11837400" cy="36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Grid: exhaustive over a predefined discrete grid.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Random: broad stochastic exploration under a fixed trial budget.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Bayesian/TPE: adaptive search informed by previous trials.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The search strategy cannot rescue a flawed validation design.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411" name="Google Shape;411;h130272d650a565f2_0_4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5288" y="2944175"/>
            <a:ext cx="10241400" cy="33764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h130272d650a565f2_0_422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17" name="Google Shape;417;h130272d650a565f2_0_422"/>
          <p:cNvSpPr txBox="1"/>
          <p:nvPr/>
        </p:nvSpPr>
        <p:spPr>
          <a:xfrm>
            <a:off x="1786430" y="566928"/>
            <a:ext cx="10241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The test set is not part of optimization</a:t>
            </a:r>
            <a:endParaRPr b="1" sz="2700">
              <a:solidFill>
                <a:srgbClr val="18A9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418" name="Google Shape;418;h130272d650a565f2_0_422"/>
          <p:cNvSpPr txBox="1"/>
          <p:nvPr/>
        </p:nvSpPr>
        <p:spPr>
          <a:xfrm>
            <a:off x="249000" y="1233550"/>
            <a:ext cx="5692200" cy="515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Use training/CV performance to choose hyperparameters.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Repeatedly checking the test set makes it part of the training process.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After model selection, evaluate the chosen pipeline once on untouched test data.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For small datasets, nested CV may be needed for less biased performance estimation.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h130272d650a565f2_0_429"/>
          <p:cNvSpPr txBox="1"/>
          <p:nvPr>
            <p:ph idx="12" type="sldNum"/>
          </p:nvPr>
        </p:nvSpPr>
        <p:spPr>
          <a:xfrm>
            <a:off x="11409097" y="633312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24" name="Google Shape;424;h130272d650a565f2_0_429"/>
          <p:cNvSpPr txBox="1"/>
          <p:nvPr/>
        </p:nvSpPr>
        <p:spPr>
          <a:xfrm>
            <a:off x="914400" y="2770632"/>
            <a:ext cx="100584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>
                <a:solidFill>
                  <a:srgbClr val="18A999"/>
                </a:solidFill>
              </a:rPr>
              <a:t>6. Bonus - stacking</a:t>
            </a:r>
            <a:endParaRPr b="0" i="0" sz="1800" u="none" cap="none" strike="noStrike">
              <a:solidFill>
                <a:srgbClr val="18A99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h130272d650a565f2_0_429"/>
          <p:cNvSpPr txBox="1"/>
          <p:nvPr/>
        </p:nvSpPr>
        <p:spPr>
          <a:xfrm>
            <a:off x="914400" y="3264408"/>
            <a:ext cx="100584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>
                <a:solidFill>
                  <a:srgbClr val="007191"/>
                </a:solidFill>
              </a:rPr>
              <a:t>Can several models be better than one?</a:t>
            </a:r>
            <a:r>
              <a:rPr lang="en-US" sz="1600">
                <a:solidFill>
                  <a:srgbClr val="007191"/>
                </a:solidFill>
              </a:rPr>
              <a:t> </a:t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6" name="Google Shape;426;h130272d650a565f2_0_4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81650" y="2172083"/>
            <a:ext cx="5258859" cy="29500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h130272d650a565f2_0_437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32" name="Google Shape;432;h130272d650a565f2_0_437"/>
          <p:cNvSpPr txBox="1"/>
          <p:nvPr/>
        </p:nvSpPr>
        <p:spPr>
          <a:xfrm>
            <a:off x="1786430" y="566928"/>
            <a:ext cx="10241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Voting, averaging and stacking</a:t>
            </a:r>
            <a:endParaRPr b="1" sz="2700">
              <a:solidFill>
                <a:srgbClr val="18A9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433" name="Google Shape;433;h130272d650a565f2_0_437"/>
          <p:cNvSpPr txBox="1"/>
          <p:nvPr/>
        </p:nvSpPr>
        <p:spPr>
          <a:xfrm>
            <a:off x="2093650" y="1188300"/>
            <a:ext cx="11778900" cy="427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Voting/averaging combines model predictions using a fixed rule.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Stacking trains a meta-model to learn how base-model predictions should be combined.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Base models should ideally make complementary errors.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Example: Random Forest + XGBoost + SVM = logistic-regression meta-model.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434" name="Google Shape;434;h130272d650a565f2_0_437"/>
          <p:cNvPicPr preferRelativeResize="0"/>
          <p:nvPr/>
        </p:nvPicPr>
        <p:blipFill rotWithShape="1">
          <a:blip r:embed="rId3">
            <a:alphaModFix/>
          </a:blip>
          <a:srcRect b="11588" l="0" r="0" t="20245"/>
          <a:stretch/>
        </p:blipFill>
        <p:spPr>
          <a:xfrm>
            <a:off x="1487650" y="2557625"/>
            <a:ext cx="9010601" cy="389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h130272d650a565f2_0_443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0" name="Google Shape;440;h130272d650a565f2_0_443"/>
          <p:cNvSpPr txBox="1"/>
          <p:nvPr/>
        </p:nvSpPr>
        <p:spPr>
          <a:xfrm>
            <a:off x="1786430" y="566928"/>
            <a:ext cx="10241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Stacking requires out-of-fold predictions</a:t>
            </a:r>
            <a:endParaRPr b="1" sz="2700">
              <a:solidFill>
                <a:srgbClr val="18A9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441" name="Google Shape;441;h130272d650a565f2_0_443"/>
          <p:cNvSpPr txBox="1"/>
          <p:nvPr/>
        </p:nvSpPr>
        <p:spPr>
          <a:xfrm>
            <a:off x="249000" y="1143300"/>
            <a:ext cx="12720000" cy="457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Training the meta-model on in-sample base-model predictions causes leakage/overfitting.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Instead, generate base-model predictions for observations that were held out from fitting that base model.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Combine these out-of-fold predictions into the meta-model training matrix.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Refit base learners on all training data only after the stacking design is fixed.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  <p:pic>
        <p:nvPicPr>
          <p:cNvPr id="442" name="Google Shape;442;h130272d650a565f2_0_4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77725" y="2532275"/>
            <a:ext cx="6656475" cy="39703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h130272d650a565f2_0_449"/>
          <p:cNvSpPr txBox="1"/>
          <p:nvPr>
            <p:ph idx="12" type="sldNum"/>
          </p:nvPr>
        </p:nvSpPr>
        <p:spPr>
          <a:xfrm>
            <a:off x="11296417" y="6502680"/>
            <a:ext cx="731400" cy="52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2025" lIns="122025" spcFirstLastPara="1" rIns="122025" wrap="square" tIns="1220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r>
              <a:rPr lang="en-US"/>
              <a:t>/34</a:t>
            </a:r>
            <a:endParaRPr>
              <a:solidFill>
                <a:srgbClr val="000000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448" name="Google Shape;448;h130272d650a565f2_0_449"/>
          <p:cNvSpPr txBox="1"/>
          <p:nvPr/>
        </p:nvSpPr>
        <p:spPr>
          <a:xfrm>
            <a:off x="1786430" y="566928"/>
            <a:ext cx="10241400" cy="9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18A999"/>
                </a:solidFill>
              </a:rPr>
              <a:t>Practical 5</a:t>
            </a:r>
            <a:endParaRPr b="1" sz="2700">
              <a:solidFill>
                <a:srgbClr val="18A999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700">
              <a:solidFill>
                <a:srgbClr val="18A999"/>
              </a:solidFill>
            </a:endParaRPr>
          </a:p>
        </p:txBody>
      </p:sp>
      <p:sp>
        <p:nvSpPr>
          <p:cNvPr id="449" name="Google Shape;449;h130272d650a565f2_0_449"/>
          <p:cNvSpPr txBox="1"/>
          <p:nvPr/>
        </p:nvSpPr>
        <p:spPr>
          <a:xfrm>
            <a:off x="249000" y="1233550"/>
            <a:ext cx="5692200" cy="749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Fit and visualize a single classification/regression tree.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Manually change depth and leaf-size parameters to observe overfitting.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Compare bagging, Random Forest, Gradient Boosting, XGBoost and LightGBM.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Inspect impurity/permutation feature importance.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Use Isolation Forest on a small biological anomaly-detection example.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Compare Grid, Random and Bayesian optimization under the same validation design.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</a:rPr>
              <a:t>• Bonus: demonstrate stacking using out-of-fold predictions.</a:t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