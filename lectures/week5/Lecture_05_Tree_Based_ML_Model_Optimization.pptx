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jIzsDsPkBpF3FIoUa7sH9ogYk+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130272d650a565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h130272d650a565f2_0_0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130272d650a565f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h130272d650a565f2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130272d650a565f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h130272d650a565f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30272d650a565f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h130272d650a565f2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30272d650a565f2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h130272d650a565f2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130272d650a565f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h130272d650a565f2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130272d650a565f2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h130272d650a565f2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130272d650a565f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h130272d650a565f2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30272d650a565f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h130272d650a565f2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130272d650a565f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h130272d650a565f2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130272d650a565f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h130272d650a565f2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130272d650a565f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h130272d650a565f2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130272d650a565f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h130272d650a565f2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130272d650a565f2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h130272d650a565f2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130272d650a565f2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h130272d650a565f2_0_2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130272d650a565f2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h130272d650a565f2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130272d650a565f2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h130272d650a565f2_0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130272d650a565f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h130272d650a565f2_0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130272d650a565f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h130272d650a565f2_0_2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130272d650a565f2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h130272d650a565f2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130272d650a565f2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h130272d650a565f2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130272d650a565f2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h130272d650a565f2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130272d650a565f2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h130272d650a565f2_0_2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130272d650a565f2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h130272d650a565f2_0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130272d650a565f2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h130272d650a565f2_0_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130272d650a565f2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h130272d650a565f2_0_3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130272d650a565f2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h130272d650a565f2_0_3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130272d650a565f2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h130272d650a565f2_0_3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130272d650a565f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h130272d650a565f2_0_3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130272d650a565f2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h130272d650a565f2_0_3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130272d650a565f2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h130272d650a565f2_0_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130272d650a565f2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h130272d650a565f2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h130272d650a565f2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h130272d650a565f2_0_3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130272d650a565f2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h130272d650a565f2_0_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130272d650a565f2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h130272d650a565f2_0_4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130272d650a565f2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h130272d650a565f2_0_4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130272d650a565f2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h130272d650a565f2_0_4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130272d650a565f2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h130272d650a565f2_0_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130272d650a565f2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h130272d650a565f2_0_4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130272d650a565f2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h130272d650a565f2_0_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" name="Google Shape;14;p5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" name="Google Shape;15;p5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" name="Google Shape;16;p5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7" name="Google Shape;1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0" name="Google Shape;50;p5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1" name="Google Shape;5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1">
  <p:cSld name="TITLE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h6e25ffb5025d31ee_4_194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h6e25ffb5025d31ee_4_194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5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h6e25ffb5025d31ee_4_194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h6e25ffb5025d31ee_4_194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h6e25ffb5025d31ee_4_19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h6e25ffb5025d31ee_4_194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BLANK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h6e25ffb5025d31ee_4_301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h6e25ffb5025d31ee_4_301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h6e25ffb5025d31ee_4_301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5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h6e25ffb5025d31ee_4_301"/>
          <p:cNvPicPr preferRelativeResize="0"/>
          <p:nvPr/>
        </p:nvPicPr>
        <p:blipFill rotWithShape="1">
          <a:blip r:embed="rId3">
            <a:alphaModFix/>
          </a:blip>
          <a:srcRect b="833" l="84" r="78374" t="82673"/>
          <a:stretch/>
        </p:blipFill>
        <p:spPr>
          <a:xfrm>
            <a:off x="0" y="5727600"/>
            <a:ext cx="2437914" cy="1130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h6e25ffb5025d31ee_4_301"/>
          <p:cNvPicPr preferRelativeResize="0"/>
          <p:nvPr/>
        </p:nvPicPr>
        <p:blipFill rotWithShape="1">
          <a:blip r:embed="rId4">
            <a:alphaModFix/>
          </a:blip>
          <a:srcRect b="32032" l="0" r="0" t="36478"/>
          <a:stretch/>
        </p:blipFill>
        <p:spPr>
          <a:xfrm>
            <a:off x="0" y="2502000"/>
            <a:ext cx="12190295" cy="215855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h6e25ffb5025d31ee_4_301"/>
          <p:cNvSpPr txBox="1"/>
          <p:nvPr>
            <p:ph type="title"/>
          </p:nvPr>
        </p:nvSpPr>
        <p:spPr>
          <a:xfrm>
            <a:off x="1928156" y="2752560"/>
            <a:ext cx="78714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h6e25ffb5025d31ee_4_301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h6e25ffb5025d31ee_4_301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h130272d650a565f2_0_0"/>
          <p:cNvPicPr preferRelativeResize="0"/>
          <p:nvPr/>
        </p:nvPicPr>
        <p:blipFill rotWithShape="1">
          <a:blip r:embed="rId3">
            <a:alphaModFix/>
          </a:blip>
          <a:srcRect b="0" l="0" r="79008" t="80962"/>
          <a:stretch/>
        </p:blipFill>
        <p:spPr>
          <a:xfrm>
            <a:off x="-18000" y="5553000"/>
            <a:ext cx="2375634" cy="1304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h130272d650a565f2_0_0"/>
          <p:cNvPicPr preferRelativeResize="0"/>
          <p:nvPr/>
        </p:nvPicPr>
        <p:blipFill rotWithShape="1">
          <a:blip r:embed="rId4">
            <a:alphaModFix/>
          </a:blip>
          <a:srcRect b="28805" l="0" r="0" t="37794"/>
          <a:stretch/>
        </p:blipFill>
        <p:spPr>
          <a:xfrm>
            <a:off x="0" y="2592360"/>
            <a:ext cx="12191734" cy="22899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h130272d650a565f2_0_0"/>
          <p:cNvSpPr/>
          <p:nvPr/>
        </p:nvSpPr>
        <p:spPr>
          <a:xfrm>
            <a:off x="68400" y="2644550"/>
            <a:ext cx="5567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lang="en-US" sz="3700">
                <a:solidFill>
                  <a:srgbClr val="005F89"/>
                </a:solidFill>
              </a:rPr>
              <a:t>Tree-Based Machine Learning</a:t>
            </a:r>
            <a:endParaRPr b="1" sz="3700">
              <a:solidFill>
                <a:srgbClr val="005F8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lang="en-US" sz="3700">
                <a:solidFill>
                  <a:srgbClr val="005F89"/>
                </a:solidFill>
              </a:rPr>
              <a:t>and Model Optimization</a:t>
            </a:r>
            <a:endParaRPr b="1" sz="3700">
              <a:solidFill>
                <a:srgbClr val="005F8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sz="3700">
              <a:solidFill>
                <a:srgbClr val="005F89"/>
              </a:solidFill>
            </a:endParaRPr>
          </a:p>
        </p:txBody>
      </p:sp>
      <p:sp>
        <p:nvSpPr>
          <p:cNvPr id="103" name="Google Shape;103;h130272d650a565f2_0_0"/>
          <p:cNvSpPr/>
          <p:nvPr/>
        </p:nvSpPr>
        <p:spPr>
          <a:xfrm>
            <a:off x="5752076" y="3023650"/>
            <a:ext cx="50211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7191"/>
                </a:solidFill>
              </a:rPr>
              <a:t>Decision Trees · Bagging · Random Forest · Gradient Boosting · XGBoost · LightGBM · Isolation Forest · Hyperparameter 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130272d650a565f2_0_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h130272d650a565f2_0_7"/>
          <p:cNvSpPr txBox="1"/>
          <p:nvPr/>
        </p:nvSpPr>
        <p:spPr>
          <a:xfrm>
            <a:off x="1915300" y="475850"/>
            <a:ext cx="59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400">
                <a:solidFill>
                  <a:srgbClr val="18A999"/>
                </a:solidFill>
              </a:rPr>
              <a:t>What's for today</a:t>
            </a:r>
            <a:endParaRPr>
              <a:solidFill>
                <a:srgbClr val="18A999"/>
              </a:solidFill>
            </a:endParaRPr>
          </a:p>
        </p:txBody>
      </p:sp>
      <p:sp>
        <p:nvSpPr>
          <p:cNvPr id="110" name="Google Shape;110;h130272d650a565f2_0_7"/>
          <p:cNvSpPr txBox="1"/>
          <p:nvPr/>
        </p:nvSpPr>
        <p:spPr>
          <a:xfrm>
            <a:off x="891775" y="1691175"/>
            <a:ext cx="7188600" cy="3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Build a decision tree from the idea of recursive feature-space partitioning.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Understand how bagging and Random Forest reduce variance.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Contrast independent ensembles with sequential gradient boosting.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Connect classical GBM to XGBoost and LightGBM.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Use tree logic for anomaly detection with Isolation Forest.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Move from manual tuning to cross-validation, Grid, Random and Bayesian optimization.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Bonus: combine different models using stacking.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130272d650a565f2_0_20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h130272d650a565f2_0_20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1</a:t>
            </a:r>
            <a:r>
              <a:rPr b="0" i="0" lang="en-US" sz="25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500">
                <a:solidFill>
                  <a:srgbClr val="18A999"/>
                </a:solidFill>
              </a:rPr>
              <a:t>Decision Trees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130272d650a565f2_0_20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Just ask a set of questions</a:t>
            </a:r>
            <a:r>
              <a:rPr lang="en-US" sz="1600">
                <a:solidFill>
                  <a:srgbClr val="007191"/>
                </a:solidFill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h130272d650a565f2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0172" y="914600"/>
            <a:ext cx="3561799" cy="446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130272d650a565f2_0_121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h130272d650a565f2_0_121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Decision tree</a:t>
            </a:r>
            <a:endParaRPr b="1" sz="2700">
              <a:solidFill>
                <a:srgbClr val="18A999"/>
              </a:solidFill>
            </a:endParaRPr>
          </a:p>
        </p:txBody>
      </p:sp>
      <p:pic>
        <p:nvPicPr>
          <p:cNvPr id="125" name="Google Shape;125;h130272d650a565f2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2375" y="1206250"/>
            <a:ext cx="7782626" cy="52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130272d650a565f2_0_19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h130272d650a565f2_0_190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A tree partitions feature space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132" name="Google Shape;132;h130272d650a565f2_0_190"/>
          <p:cNvSpPr txBox="1"/>
          <p:nvPr/>
        </p:nvSpPr>
        <p:spPr>
          <a:xfrm>
            <a:off x="495700" y="1510125"/>
            <a:ext cx="10176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Each internal node asks a rule such as xⱼ &lt; t.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The rule divides observations into increasingly homogeneous regions.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Leaves contain the final class prediction or regression value.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 tree is therefore both a predictive model and a piecewise partition of feature space.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33" name="Google Shape;133;h130272d650a565f2_0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178" y="2885774"/>
            <a:ext cx="7462014" cy="36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130272d650a565f2_0_12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h130272d650a565f2_0_127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Classification and regression use the same machinery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140" name="Google Shape;140;h130272d650a565f2_0_127"/>
          <p:cNvSpPr txBox="1"/>
          <p:nvPr/>
        </p:nvSpPr>
        <p:spPr>
          <a:xfrm>
            <a:off x="529625" y="1581900"/>
            <a:ext cx="9949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Classification leaves predict class probabilities / majority class.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Regression leaves predict a mean or another constant response within the region.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The main difference is the criterion used to judge a candidate split.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Classification: impurity; regression: reduction in squared error / variance.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41" name="Google Shape;141;h130272d650a565f2_0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3400" y="2875875"/>
            <a:ext cx="6642902" cy="36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130272d650a565f2_0_13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h130272d650a565f2_0_133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How does a tree choose a split?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148" name="Google Shape;148;h130272d650a565f2_0_133"/>
          <p:cNvSpPr txBox="1"/>
          <p:nvPr/>
        </p:nvSpPr>
        <p:spPr>
          <a:xfrm>
            <a:off x="507000" y="1476175"/>
            <a:ext cx="8263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Try candidate features and thresholds.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Calculate impurity before and after the split.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Prefer the split producing the largest impurity reduction.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49" name="Google Shape;149;h130272d650a565f2_0_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250" y="2872375"/>
            <a:ext cx="8045174" cy="356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130272d650a565f2_0_13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h130272d650a565f2_0_139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Gini impurity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156" name="Google Shape;156;h130272d650a565f2_0_139"/>
          <p:cNvSpPr txBox="1"/>
          <p:nvPr/>
        </p:nvSpPr>
        <p:spPr>
          <a:xfrm>
            <a:off x="507000" y="1645925"/>
            <a:ext cx="3600900" cy="59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Gini = 1 − Σₖ pₖ².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Gini = 0 when a node contains only one class.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Impurity increases as classes become more mixed.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 split is useful when its children are purer than their parent.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Entropy: H = −Σₖ pₖ log₂(pₖ).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Information gain measures the reduction in entropy after splitting.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Gini and entropy often produce similar trees in practice.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57" name="Google Shape;157;h130272d650a565f2_0_139"/>
          <p:cNvPicPr preferRelativeResize="0"/>
          <p:nvPr/>
        </p:nvPicPr>
        <p:blipFill rotWithShape="1">
          <a:blip r:embed="rId3">
            <a:alphaModFix/>
          </a:blip>
          <a:srcRect b="7612" l="0" r="0" t="6954"/>
          <a:stretch/>
        </p:blipFill>
        <p:spPr>
          <a:xfrm>
            <a:off x="4232500" y="1074825"/>
            <a:ext cx="7959475" cy="4847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130272d650a565f2_0_151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h130272d650a565f2_0_151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Regression trees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164" name="Google Shape;164;h130272d650a565f2_0_151"/>
          <p:cNvSpPr txBox="1"/>
          <p:nvPr/>
        </p:nvSpPr>
        <p:spPr>
          <a:xfrm>
            <a:off x="507000" y="1645925"/>
            <a:ext cx="54570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Candidate splits are evaluated by how much they reduce within-node prediction error.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 common criterion is squared error around the node mean.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The final model is piecewise constant unless additional modelling is used inside leaves.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This makes nonlinear relationships possible without an explicit polynomial equation.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130272d650a565f2_0_15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h130272d650a565f2_0_157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Recursive partitioning creates complexity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171" name="Google Shape;171;h130272d650a565f2_0_157"/>
          <p:cNvSpPr txBox="1"/>
          <p:nvPr/>
        </p:nvSpPr>
        <p:spPr>
          <a:xfrm>
            <a:off x="507000" y="1645925"/>
            <a:ext cx="39291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After the first split, the same procedure is repeated independently in each child node.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Deep trees can create highly irregular decision boundaries.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This flexibility gives trees low training error but potentially high variance.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An unrestricted tree can effectively memorize small datasets.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72" name="Google Shape;172;h130272d650a565f2_0_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500" y="1227224"/>
            <a:ext cx="6909450" cy="468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130272d650a565f2_0_16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h130272d650a565f2_0_163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Regularizing a tree before it grows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179" name="Google Shape;179;h130272d650a565f2_0_163"/>
          <p:cNvSpPr txBox="1"/>
          <p:nvPr/>
        </p:nvSpPr>
        <p:spPr>
          <a:xfrm>
            <a:off x="212750" y="1335100"/>
            <a:ext cx="118737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max_depth limits the number of sequential decisions.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min_samples_split prevents splitting very small nodes.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min_samples_leaf requires enough observations in terminal regions.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max_features limits the features considered at a split.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Cost-complexity pruning balances fit against tree complexity - ccp_alpha.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80" name="Google Shape;180;h130272d650a565f2_0_163"/>
          <p:cNvPicPr preferRelativeResize="0"/>
          <p:nvPr/>
        </p:nvPicPr>
        <p:blipFill rotWithShape="1">
          <a:blip r:embed="rId3">
            <a:alphaModFix/>
          </a:blip>
          <a:srcRect b="5643" l="0" r="0" t="16098"/>
          <a:stretch/>
        </p:blipFill>
        <p:spPr>
          <a:xfrm>
            <a:off x="122275" y="3231245"/>
            <a:ext cx="11873700" cy="3271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130272d650a565f2_0_17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h130272d650a565f2_0_175"/>
          <p:cNvSpPr txBox="1"/>
          <p:nvPr/>
        </p:nvSpPr>
        <p:spPr>
          <a:xfrm>
            <a:off x="1786430" y="3632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Why trees are effective for biological data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187" name="Google Shape;187;h130272d650a565f2_0_175"/>
          <p:cNvSpPr txBox="1"/>
          <p:nvPr/>
        </p:nvSpPr>
        <p:spPr>
          <a:xfrm>
            <a:off x="507000" y="1645925"/>
            <a:ext cx="54570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Nonlinear thresholds can resemble biological decision rules.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Interactions emerge naturally: one split changes which split becomes useful next.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Feature scaling is generally unnecessary for ordinary decision-tree splits.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But instability is important: a small data change can produce a different tree.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88" name="Google Shape;188;h130272d650a565f2_0_175"/>
          <p:cNvPicPr preferRelativeResize="0"/>
          <p:nvPr/>
        </p:nvPicPr>
        <p:blipFill rotWithShape="1">
          <a:blip r:embed="rId3">
            <a:alphaModFix/>
          </a:blip>
          <a:srcRect b="0" l="0" r="0" t="4889"/>
          <a:stretch/>
        </p:blipFill>
        <p:spPr>
          <a:xfrm>
            <a:off x="7016100" y="776775"/>
            <a:ext cx="5011724" cy="572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130272d650a565f2_0_181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h130272d650a565f2_0_181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2. Bagging and Random Forest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h130272d650a565f2_0_181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Democracy is the worst form of government, except for all the others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h130272d650a565f2_0_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3223" y="1018950"/>
            <a:ext cx="2968750" cy="44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130272d650a565f2_0_21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h130272d650a565f2_0_214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The problem: trees have high variance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03" name="Google Shape;203;h130272d650a565f2_0_214"/>
          <p:cNvSpPr txBox="1"/>
          <p:nvPr/>
        </p:nvSpPr>
        <p:spPr>
          <a:xfrm>
            <a:off x="507000" y="1645925"/>
            <a:ext cx="105723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 deep tree can fit training data extremely well.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Small changes in observations can alter early splits and restructure the whole tree.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Instead of relying on one unstable model, we can average many related models.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This is the motivation for bagging.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04" name="Google Shape;204;h130272d650a565f2_0_214"/>
          <p:cNvPicPr preferRelativeResize="0"/>
          <p:nvPr/>
        </p:nvPicPr>
        <p:blipFill rotWithShape="1">
          <a:blip r:embed="rId3">
            <a:alphaModFix/>
          </a:blip>
          <a:srcRect b="6997" l="0" r="0" t="17526"/>
          <a:stretch/>
        </p:blipFill>
        <p:spPr>
          <a:xfrm>
            <a:off x="1218500" y="2965025"/>
            <a:ext cx="10077926" cy="3446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130272d650a565f2_0_22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h130272d650a565f2_0_220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Bootstrap aggregation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11" name="Google Shape;211;h130272d650a565f2_0_220"/>
          <p:cNvSpPr txBox="1"/>
          <p:nvPr/>
        </p:nvSpPr>
        <p:spPr>
          <a:xfrm>
            <a:off x="507000" y="1645925"/>
            <a:ext cx="102414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Generate B bootstrap samples from the training dataset.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Fit one tree independently to each bootstrap sample.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Regression: average predictions; classification: average probabilities / vote.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Individual trees can have high variance.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Averaging reduces variance when their errors are not perfectly correlated.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Bagging mainly attacks variance rather than systematically reducing bias.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The trees can be trained independently.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12" name="Google Shape;212;h130272d650a565f2_0_220"/>
          <p:cNvPicPr preferRelativeResize="0"/>
          <p:nvPr/>
        </p:nvPicPr>
        <p:blipFill rotWithShape="1">
          <a:blip r:embed="rId3">
            <a:alphaModFix/>
          </a:blip>
          <a:srcRect b="37965" l="0" r="0" t="0"/>
          <a:stretch/>
        </p:blipFill>
        <p:spPr>
          <a:xfrm>
            <a:off x="2902400" y="3906827"/>
            <a:ext cx="6501873" cy="2548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130272d650a565f2_0_23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h130272d650a565f2_0_232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Random Forest = bagging + feature randomnes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19" name="Google Shape;219;h130272d650a565f2_0_232"/>
          <p:cNvSpPr txBox="1"/>
          <p:nvPr/>
        </p:nvSpPr>
        <p:spPr>
          <a:xfrm>
            <a:off x="500625" y="1256750"/>
            <a:ext cx="128130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At each split, only a random subset of features is considered.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This decorrelates trees that would otherwise repeatedly choose the same dominant predictor.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The final prediction aggregates many diverse trees.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• Unused observations for a tree are its out-of-bag samples used to asses tree accuracy.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20" name="Google Shape;220;h130272d650a565f2_0_232"/>
          <p:cNvPicPr preferRelativeResize="0"/>
          <p:nvPr/>
        </p:nvPicPr>
        <p:blipFill rotWithShape="1">
          <a:blip r:embed="rId3">
            <a:alphaModFix/>
          </a:blip>
          <a:srcRect b="8804" l="0" r="0" t="16525"/>
          <a:stretch/>
        </p:blipFill>
        <p:spPr>
          <a:xfrm>
            <a:off x="2236252" y="2654175"/>
            <a:ext cx="8403844" cy="378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130272d650a565f2_0_24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h130272d650a565f2_0_244"/>
          <p:cNvSpPr txBox="1"/>
          <p:nvPr/>
        </p:nvSpPr>
        <p:spPr>
          <a:xfrm>
            <a:off x="2017130" y="516403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700">
                <a:solidFill>
                  <a:srgbClr val="18A999"/>
                </a:solidFill>
              </a:rPr>
              <a:t>Random Forest hyperparameters</a:t>
            </a:r>
            <a:endParaRPr b="1" sz="2700">
              <a:solidFill>
                <a:srgbClr val="18A999"/>
              </a:solidFill>
            </a:endParaRPr>
          </a:p>
        </p:txBody>
      </p:sp>
      <p:pic>
        <p:nvPicPr>
          <p:cNvPr id="227" name="Google Shape;227;h130272d650a565f2_0_244"/>
          <p:cNvPicPr preferRelativeResize="0"/>
          <p:nvPr/>
        </p:nvPicPr>
        <p:blipFill rotWithShape="1">
          <a:blip r:embed="rId3">
            <a:alphaModFix/>
          </a:blip>
          <a:srcRect b="0" l="0" r="0" t="11972"/>
          <a:stretch/>
        </p:blipFill>
        <p:spPr>
          <a:xfrm>
            <a:off x="708200" y="1111550"/>
            <a:ext cx="10241400" cy="5280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30272d650a565f2_0_25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h130272d650a565f2_0_250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Feature importance: useful, but easy to misuse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34" name="Google Shape;234;h130272d650a565f2_0_250"/>
          <p:cNvSpPr txBox="1"/>
          <p:nvPr/>
        </p:nvSpPr>
        <p:spPr>
          <a:xfrm>
            <a:off x="507000" y="1645925"/>
            <a:ext cx="4449900" cy="7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Impurity-based importance is fast and built into many tree models.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It can favor variables with many possible split points or high cardinality.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Permutation importance asks how much predictive performance drops when a feature is shuffled.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35" name="Google Shape;235;h130272d650a565f2_0_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275" y="1380375"/>
            <a:ext cx="6751867" cy="50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130272d650a565f2_0_25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h130272d650a565f2_0_256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predictive importance is not the same as mechanism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42" name="Google Shape;242;h130272d650a565f2_0_256"/>
          <p:cNvSpPr txBox="1"/>
          <p:nvPr/>
        </p:nvSpPr>
        <p:spPr>
          <a:xfrm>
            <a:off x="507000" y="1645925"/>
            <a:ext cx="54570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 gene can be predictive because it correlates with the true biological driver.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Batch, tissue composition or technical covariates can also become highly predictive.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Feature importance does not establish causality.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Candidate biomarkers still require biological and external validation.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43" name="Google Shape;243;h130272d650a565f2_0_2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800" y="1024303"/>
            <a:ext cx="5471437" cy="5478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130272d650a565f2_0_262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h130272d650a565f2_0_262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3. Boosting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h130272d650a565f2_0_262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Instead of independent trees, learn from previous errors.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h130272d650a565f2_0_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9500" y="2035333"/>
            <a:ext cx="5462485" cy="2950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130272d650a565f2_0_27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h130272d650a565f2_0_275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Bagging and boosting solve different problems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58" name="Google Shape;258;h130272d650a565f2_0_275"/>
          <p:cNvSpPr txBox="1"/>
          <p:nvPr/>
        </p:nvSpPr>
        <p:spPr>
          <a:xfrm>
            <a:off x="507000" y="1645925"/>
            <a:ext cx="54570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Bagging: train many models independently and average them.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Boosting: add models sequentially so each new learner improves the current ensemble.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Bagging primarily reduces variance.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Boosting can reduce bias while controlling complexity through many weak learners.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59" name="Google Shape;259;h130272d650a565f2_0_2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000" y="1521453"/>
            <a:ext cx="5923176" cy="3331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130272d650a565f2_0_28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h130272d650a565f2_0_282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Gradient Boosting essentials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66" name="Google Shape;266;h130272d650a565f2_0_282"/>
          <p:cNvSpPr txBox="1"/>
          <p:nvPr/>
        </p:nvSpPr>
        <p:spPr>
          <a:xfrm>
            <a:off x="507000" y="1645925"/>
            <a:ext cx="5457000" cy="7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Start with a simple initial prediction F₀(x).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Measure the errors / negative gradients of the current ensemble.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Fit a small tree hₘ(x) to that remaining signal.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Update: Fₘ(x) = Fₘ₋₁(x) + η hₘ(x).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67" name="Google Shape;267;h130272d650a565f2_0_2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850" y="1428575"/>
            <a:ext cx="6277699" cy="4758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130272d650a565f2_0_29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h130272d650a565f2_0_290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700">
                <a:solidFill>
                  <a:srgbClr val="18A999"/>
                </a:solidFill>
              </a:rPr>
              <a:t>Learning rate and number of trees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74" name="Google Shape;274;h130272d650a565f2_0_290"/>
          <p:cNvSpPr txBox="1"/>
          <p:nvPr/>
        </p:nvSpPr>
        <p:spPr>
          <a:xfrm>
            <a:off x="371175" y="1227225"/>
            <a:ext cx="4065000" cy="8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n controls how strongly each new tree changes the ensemble.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Small learning rates usually require more trees.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Large learning rates learn faster but can overfit or become unstable.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n_estimators and learning_rate therefore interact strongly.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75" name="Google Shape;275;h130272d650a565f2_0_290"/>
          <p:cNvPicPr preferRelativeResize="0"/>
          <p:nvPr/>
        </p:nvPicPr>
        <p:blipFill rotWithShape="1">
          <a:blip r:embed="rId3">
            <a:alphaModFix/>
          </a:blip>
          <a:srcRect b="5011" l="0" r="0" t="4212"/>
          <a:stretch/>
        </p:blipFill>
        <p:spPr>
          <a:xfrm>
            <a:off x="4262999" y="1227225"/>
            <a:ext cx="7846026" cy="4782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130272d650a565f2_0_29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h130272d650a565f2_0_297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Tree depth means something different in boosting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82" name="Google Shape;282;h130272d650a565f2_0_297"/>
          <p:cNvSpPr txBox="1"/>
          <p:nvPr/>
        </p:nvSpPr>
        <p:spPr>
          <a:xfrm>
            <a:off x="505563" y="1074825"/>
            <a:ext cx="110589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Boosting often uses shallow trees as weak learners.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Depth controls the order of interactions a tree can represent.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Very deep boosted trees can fit complex noise patterns.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Regularization should be considered jointly with learning rate and number of rounds.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83" name="Google Shape;283;h130272d650a565f2_0_297"/>
          <p:cNvPicPr preferRelativeResize="0"/>
          <p:nvPr/>
        </p:nvPicPr>
        <p:blipFill rotWithShape="1">
          <a:blip r:embed="rId3">
            <a:alphaModFix/>
          </a:blip>
          <a:srcRect b="4019" l="0" r="0" t="14793"/>
          <a:stretch/>
        </p:blipFill>
        <p:spPr>
          <a:xfrm>
            <a:off x="1786413" y="2541800"/>
            <a:ext cx="8152750" cy="388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130272d650a565f2_0_30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h130272d650a565f2_0_303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From Gradient Boosting to XGBoost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90" name="Google Shape;290;h130272d650a565f2_0_303"/>
          <p:cNvSpPr txBox="1"/>
          <p:nvPr/>
        </p:nvSpPr>
        <p:spPr>
          <a:xfrm>
            <a:off x="507000" y="1645925"/>
            <a:ext cx="10617600" cy="7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XGBoost implements regularized gradient boosting with highly optimized training.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It includes explicit penalties on tree complexity.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It supports row/feature subsampling, missing-value handling and efficient split finding.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The key conceptual model remains sequential gradient boosting.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91" name="Google Shape;291;h130272d650a565f2_0_3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000" y="2947350"/>
            <a:ext cx="6199838" cy="34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h130272d650a565f2_0_31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h130272d650a565f2_0_315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LightGBM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298" name="Google Shape;298;h130272d650a565f2_0_315"/>
          <p:cNvSpPr txBox="1"/>
          <p:nvPr/>
        </p:nvSpPr>
        <p:spPr>
          <a:xfrm>
            <a:off x="507000" y="1645925"/>
            <a:ext cx="11183400" cy="8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LightGBM is another optimized gradient-boosting implementation.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Histogram-based splitting reduces computational cost.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Its characteristic leaf-wise growth expands the leaf with the largest gain.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This can be efficient and powerful, but unconstrained growth can overfit small datasets.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99" name="Google Shape;299;h130272d650a565f2_0_3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525" y="2834224"/>
            <a:ext cx="7778491" cy="355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130272d650a565f2_0_32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h130272d650a565f2_0_327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Tree ensemble map</a:t>
            </a:r>
            <a:endParaRPr b="1" sz="2700">
              <a:solidFill>
                <a:srgbClr val="18A999"/>
              </a:solidFill>
            </a:endParaRPr>
          </a:p>
        </p:txBody>
      </p:sp>
      <p:pic>
        <p:nvPicPr>
          <p:cNvPr id="306" name="Google Shape;306;h130272d650a565f2_0_327"/>
          <p:cNvPicPr preferRelativeResize="0"/>
          <p:nvPr/>
        </p:nvPicPr>
        <p:blipFill rotWithShape="1">
          <a:blip r:embed="rId3">
            <a:alphaModFix/>
          </a:blip>
          <a:srcRect b="13420" l="0" r="0" t="10586"/>
          <a:stretch/>
        </p:blipFill>
        <p:spPr>
          <a:xfrm>
            <a:off x="830278" y="1366437"/>
            <a:ext cx="10854149" cy="505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130272d650a565f2_0_333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h130272d650a565f2_0_333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4. Isolation Forest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h130272d650a565f2_0_333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You </a:t>
            </a:r>
            <a:r>
              <a:rPr lang="en-US" sz="1600">
                <a:solidFill>
                  <a:srgbClr val="007191"/>
                </a:solidFill>
              </a:rPr>
              <a:t>don't</a:t>
            </a:r>
            <a:r>
              <a:rPr lang="en-US" sz="1600">
                <a:solidFill>
                  <a:srgbClr val="007191"/>
                </a:solidFill>
              </a:rPr>
              <a:t> actually need labels with RF</a:t>
            </a:r>
            <a:r>
              <a:rPr lang="en-US" sz="1600">
                <a:solidFill>
                  <a:srgbClr val="007191"/>
                </a:solidFill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h130272d650a565f2_0_3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7923" y="1058450"/>
            <a:ext cx="2674050" cy="475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130272d650a565f2_0_34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h130272d650a565f2_0_346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Anomaly detection is not classification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321" name="Google Shape;321;h130272d650a565f2_0_346"/>
          <p:cNvSpPr txBox="1"/>
          <p:nvPr/>
        </p:nvSpPr>
        <p:spPr>
          <a:xfrm>
            <a:off x="633750" y="1708850"/>
            <a:ext cx="30000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Often we do not have reliable labels for every possible abnormal observation.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Anomaly detection asks which samples differ strongly from the dominant data structure.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Examples: QC failures, unusual cells, contaminated assays or rare morphology.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An unusual observation is not automatically an erroneous observation.</a:t>
            </a:r>
            <a:endParaRPr sz="1900"/>
          </a:p>
        </p:txBody>
      </p:sp>
      <p:pic>
        <p:nvPicPr>
          <p:cNvPr id="322" name="Google Shape;322;h130272d650a565f2_0_3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150" y="1227228"/>
            <a:ext cx="8196882" cy="512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130272d650a565f2_0_35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h130272d650a565f2_0_355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Isolation Forest intuition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329" name="Google Shape;329;h130272d650a565f2_0_355"/>
          <p:cNvSpPr txBox="1"/>
          <p:nvPr/>
        </p:nvSpPr>
        <p:spPr>
          <a:xfrm>
            <a:off x="633750" y="1708850"/>
            <a:ext cx="30000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Choose a feature and split value randomly.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Repeat until an observation becomes isolated.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Rare/extreme observations generally require fewer random splits to isolate.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Short average path length therefore corresponds to stronger anomaly evidence.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330" name="Google Shape;330;h130272d650a565f2_0_3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1425" y="1558153"/>
            <a:ext cx="8253425" cy="4461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130272d650a565f2_0_370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h130272d650a565f2_0_370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5. Validation and hyperparameter optimization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h130272d650a565f2_0_370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Where is the loss function </a:t>
            </a:r>
            <a:r>
              <a:rPr lang="en-US" sz="1600">
                <a:solidFill>
                  <a:srgbClr val="007191"/>
                </a:solidFill>
              </a:rPr>
              <a:t>minimum</a:t>
            </a:r>
            <a:r>
              <a:rPr lang="en-US" sz="1600">
                <a:solidFill>
                  <a:srgbClr val="007191"/>
                </a:solidFill>
              </a:rPr>
              <a:t>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h130272d650a565f2_0_3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9925" y="2159833"/>
            <a:ext cx="4432062" cy="2950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h130272d650a565f2_0_37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h130272d650a565f2_0_379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Why a single validation split can be fragile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345" name="Google Shape;345;h130272d650a565f2_0_379"/>
          <p:cNvSpPr txBox="1"/>
          <p:nvPr/>
        </p:nvSpPr>
        <p:spPr>
          <a:xfrm>
            <a:off x="633750" y="1708850"/>
            <a:ext cx="3000000" cy="5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Performance can depend strongly on which observations happen to enter the validation set.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This is especially problematic for small biological datasets.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Cross-validation repeatedly changes the validation subset.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The average across folds provides a more stable estimate for model selection.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346" name="Google Shape;346;h130272d650a565f2_0_3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150" y="1227224"/>
            <a:ext cx="7722625" cy="434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130272d650a565f2_0_38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h130272d650a565f2_0_385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K-fold cross-validation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353" name="Google Shape;353;h130272d650a565f2_0_385"/>
          <p:cNvSpPr txBox="1"/>
          <p:nvPr/>
        </p:nvSpPr>
        <p:spPr>
          <a:xfrm>
            <a:off x="633750" y="1708850"/>
            <a:ext cx="30000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Split training data into K folds.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Train on K−1 folds and validate on the remaining fold.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Repeat until every fold has served as validation data.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Aggregate the validation metric across folds.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354" name="Google Shape;354;h130272d650a565f2_0_3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150" y="1227228"/>
            <a:ext cx="8253426" cy="4962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130272d650a565f2_0_39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h130272d650a565f2_0_392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Hierarchy requires split-aware CV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361" name="Google Shape;361;h130272d650a565f2_0_392"/>
          <p:cNvSpPr txBox="1"/>
          <p:nvPr/>
        </p:nvSpPr>
        <p:spPr>
          <a:xfrm>
            <a:off x="565875" y="1437250"/>
            <a:ext cx="3000000" cy="6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StratifiedKFold preserves class proportions for classification.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GroupKFold keeps related observations together multiple measurements from one patient.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Donor, animal, plate, batch or site structure may define the correct grouping unit.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Randomly splitting pseudoreplicates can produce severe information leakage.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362" name="Google Shape;362;h130272d650a565f2_0_3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925" y="1283828"/>
            <a:ext cx="7993492" cy="5123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130272d650a565f2_0_40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h130272d650a565f2_0_400"/>
          <p:cNvSpPr txBox="1"/>
          <p:nvPr/>
        </p:nvSpPr>
        <p:spPr>
          <a:xfrm>
            <a:off x="1786430" y="566928"/>
            <a:ext cx="1024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Hyperparameters define a search space</a:t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369" name="Google Shape;369;h130272d650a565f2_0_400"/>
          <p:cNvSpPr txBox="1"/>
          <p:nvPr/>
        </p:nvSpPr>
        <p:spPr>
          <a:xfrm>
            <a:off x="565875" y="1437250"/>
            <a:ext cx="3000000" cy="6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Decision tree: depth, minimum leaf size, pruning strength.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Random Forest: number of trees, feature subset size, tree complexity.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Boosting: learning rate, rounds, depth/leaves, subsampling, regularization.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Optimization chooses among configurations using validation/CV performance.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370" name="Google Shape;370;h130272d650a565f2_0_400"/>
          <p:cNvPicPr preferRelativeResize="0"/>
          <p:nvPr/>
        </p:nvPicPr>
        <p:blipFill rotWithShape="1">
          <a:blip r:embed="rId3">
            <a:alphaModFix/>
          </a:blip>
          <a:srcRect b="0" l="0" r="0" t="15733"/>
          <a:stretch/>
        </p:blipFill>
        <p:spPr>
          <a:xfrm>
            <a:off x="3718275" y="2003073"/>
            <a:ext cx="8473701" cy="41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130272d650a565f2_0_41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h130272d650a565f2_0_415"/>
          <p:cNvSpPr txBox="1"/>
          <p:nvPr/>
        </p:nvSpPr>
        <p:spPr>
          <a:xfrm>
            <a:off x="1786430" y="566928"/>
            <a:ext cx="1024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Grid vs Random vs Bayesian</a:t>
            </a:r>
            <a:endParaRPr b="1" sz="27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377" name="Google Shape;377;h130272d650a565f2_0_415"/>
          <p:cNvSpPr txBox="1"/>
          <p:nvPr/>
        </p:nvSpPr>
        <p:spPr>
          <a:xfrm>
            <a:off x="2387875" y="1256175"/>
            <a:ext cx="11837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Grid: exhaustive over a predefined discrete grid.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Random: broad stochastic exploration under a fixed trial budget.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Bayesian/TPE: adaptive search informed by previous trials.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The search strategy cannot rescue a flawed validation design.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378" name="Google Shape;378;h130272d650a565f2_0_4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288" y="2944175"/>
            <a:ext cx="10241400" cy="3376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130272d650a565f2_0_429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h130272d650a565f2_0_429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6. Bonus - stacking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h130272d650a565f2_0_429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Can several models be better than one?</a:t>
            </a:r>
            <a:r>
              <a:rPr lang="en-US" sz="1600">
                <a:solidFill>
                  <a:srgbClr val="007191"/>
                </a:solidFill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h130272d650a565f2_0_4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1650" y="2172083"/>
            <a:ext cx="5258859" cy="2950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130272d650a565f2_0_43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h130272d650a565f2_0_437"/>
          <p:cNvSpPr txBox="1"/>
          <p:nvPr/>
        </p:nvSpPr>
        <p:spPr>
          <a:xfrm>
            <a:off x="1786430" y="566928"/>
            <a:ext cx="1024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Voting, averaging and stacking</a:t>
            </a:r>
            <a:endParaRPr b="1" sz="27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393" name="Google Shape;393;h130272d650a565f2_0_437"/>
          <p:cNvSpPr txBox="1"/>
          <p:nvPr/>
        </p:nvSpPr>
        <p:spPr>
          <a:xfrm>
            <a:off x="2093650" y="1188300"/>
            <a:ext cx="117789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Voting/averaging combines model predictions using a fixed rule.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Stacking trains a meta-model to learn how base-model predictions should be combined.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Base models should ideally make complementary errors.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Example: Random Forest + XGBoost + SVM = logistic-regression meta-model.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394" name="Google Shape;394;h130272d650a565f2_0_437"/>
          <p:cNvPicPr preferRelativeResize="0"/>
          <p:nvPr/>
        </p:nvPicPr>
        <p:blipFill rotWithShape="1">
          <a:blip r:embed="rId3">
            <a:alphaModFix/>
          </a:blip>
          <a:srcRect b="11588" l="0" r="0" t="20245"/>
          <a:stretch/>
        </p:blipFill>
        <p:spPr>
          <a:xfrm>
            <a:off x="1487650" y="2557625"/>
            <a:ext cx="9010601" cy="389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130272d650a565f2_0_44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h130272d650a565f2_0_443"/>
          <p:cNvSpPr txBox="1"/>
          <p:nvPr/>
        </p:nvSpPr>
        <p:spPr>
          <a:xfrm>
            <a:off x="1786430" y="566928"/>
            <a:ext cx="1024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Stacking requires out-of-fold predictions</a:t>
            </a:r>
            <a:endParaRPr b="1" sz="27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401" name="Google Shape;401;h130272d650a565f2_0_443"/>
          <p:cNvSpPr txBox="1"/>
          <p:nvPr/>
        </p:nvSpPr>
        <p:spPr>
          <a:xfrm>
            <a:off x="249000" y="1143300"/>
            <a:ext cx="127200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Training the meta-model on in-sample base-model predictions causes leakage/overfitting.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Instead, generate base-model predictions for observations that were held out from fitting that base model.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Combine these out-of-fold predictions into the meta-model training matrix.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Refit base learners on all training data only after the stacking design is fixed.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402" name="Google Shape;402;h130272d650a565f2_0_4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4550" y="2453050"/>
            <a:ext cx="6656475" cy="397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h130272d650a565f2_0_44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h130272d650a565f2_0_449"/>
          <p:cNvSpPr txBox="1"/>
          <p:nvPr/>
        </p:nvSpPr>
        <p:spPr>
          <a:xfrm>
            <a:off x="1786430" y="566928"/>
            <a:ext cx="1024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8A999"/>
                </a:solidFill>
              </a:rPr>
              <a:t>Practical 5</a:t>
            </a:r>
            <a:endParaRPr b="1" sz="27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18A999"/>
              </a:solidFill>
            </a:endParaRPr>
          </a:p>
        </p:txBody>
      </p:sp>
      <p:sp>
        <p:nvSpPr>
          <p:cNvPr id="409" name="Google Shape;409;h130272d650a565f2_0_449"/>
          <p:cNvSpPr txBox="1"/>
          <p:nvPr/>
        </p:nvSpPr>
        <p:spPr>
          <a:xfrm>
            <a:off x="249000" y="1233550"/>
            <a:ext cx="5692200" cy="7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Fit and visualize a single classification/regression tree.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Manually change depth and leaf-size parameters to observe overfitting.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Compare bagging, Random Forest, Gradient Boosting, XGBoost and LightGBM.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Inspect impurity/permutation feature importance.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Use Isolation Forest on a small biological anomaly-detection example.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Compare Grid, Random and Bayesian optimization under the same validation design.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• Bonus: demonstrate stacking using out-of-fold predictions.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