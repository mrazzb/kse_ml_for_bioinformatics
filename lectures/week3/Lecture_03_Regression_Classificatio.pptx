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  <p:sldMasterId id="214748366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</p:sldIdLst>
  <p:sldSz cy="6858000" cx="121919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50" roundtripDataSignature="AMtx7mhaNDt8rBvhCNrvBk1YuNCzyshF6Q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2" name="Oleh Mezhenskyi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0" Type="http://customschemas.google.com/relationships/presentationmetadata" Target="meta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9-20T16:22:27.711">
    <p:pos x="6000" y="0"/>
    <p:text>notation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CHYOdDko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" dt="2026-09-20T17:15:39.315">
    <p:pos x="5836" y="2131"/>
    <p:text>додати z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CHYOdDkw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fb62108a68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4" name="Google Shape;174;g3fb62108a68_0_83:notes"/>
          <p:cNvSpPr/>
          <p:nvPr>
            <p:ph idx="2" type="sldImg"/>
          </p:nvPr>
        </p:nvSpPr>
        <p:spPr>
          <a:xfrm>
            <a:off x="857422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2" name="Google Shape;18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3" name="Google Shape;20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1" name="Google Shape;21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5" name="Google Shape;22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3" name="Google Shape;23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1" name="Google Shape;24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9" name="Google Shape;24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2" name="Google Shape;26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0" name="Google Shape;27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8" name="Google Shape;27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1" name="Google Shape;29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9" name="Google Shape;29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7" name="Google Shape;307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5" name="Google Shape;315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7" name="Google Shape;327;p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7" name="Google Shape;337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7" name="Google Shape;347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6" name="Google Shape;356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4" name="Google Shape;364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5" name="Google Shape;375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4" name="Google Shape;384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3" name="Google Shape;393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6" name="Google Shape;406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7" name="Google Shape;417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4" name="Google Shape;434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1" name="Google Shape;441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9" name="Google Shape;449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2" name="Google Shape;462;p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fb94c80e5d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0" name="Google Shape;470;g3fb94c80e5d_0_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fb94c80e5d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7" name="Google Shape;487;g3fb94c80e5d_0_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fb94c80e5d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01" name="Google Shape;501;g3fb94c80e5d_0_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08" name="Google Shape;508;p4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7" name="Google Shape;517;p4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5" name="Google Shape;525;p4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9" name="Google Shape;539;p5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48" name="Google Shape;548;p6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56" name="Google Shape;556;p6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3" name="Google Shape;563;p6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81" name="Google Shape;581;p6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92" name="Google Shape;592;p7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00" name="Google Shape;600;p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29.png"/><Relationship Id="rId4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fb62108a68_0_10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g3fb62108a68_0_107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g3fb62108a68_0_10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g3fb62108a68_0_10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g3fb62108a68_0_10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fb62108a68_0_9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g3fb62108a68_0_9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g3fb62108a68_0_9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3fb62108a68_0_101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g3fb62108a68_0_10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g3fb62108a68_0_10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g3fb62108a68_0_10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g3fb62108a68_0_10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fb62108a68_0_113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g3fb62108a68_0_113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g3fb62108a68_0_11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g3fb62108a68_0_11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g3fb62108a68_0_11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3fb62108a68_0_1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g3fb62108a68_0_119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g3fb62108a68_0_119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g3fb62108a68_0_11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g3fb62108a68_0_11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g3fb62108a68_0_11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fb62108a68_0_1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g3fb62108a68_0_126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g3fb62108a68_0_126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g3fb62108a68_0_126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g3fb62108a68_0_126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g3fb62108a68_0_12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g3fb62108a68_0_12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g3fb62108a68_0_12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fb62108a68_0_1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g3fb62108a68_0_13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g3fb62108a68_0_13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g3fb62108a68_0_13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fb62108a68_0_140"/>
          <p:cNvSpPr txBox="1"/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g3fb62108a68_0_140"/>
          <p:cNvSpPr txBox="1"/>
          <p:nvPr>
            <p:ph idx="1" type="body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g3fb62108a68_0_140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g3fb62108a68_0_14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g3fb62108a68_0_14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g3fb62108a68_0_14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fb62108a68_0_147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g3fb62108a68_0_14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g3fb62108a68_0_147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g3fb62108a68_0_14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g3fb62108a68_0_14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g3fb62108a68_0_14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fb62108a68_0_15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g3fb62108a68_0_154"/>
          <p:cNvSpPr txBox="1"/>
          <p:nvPr>
            <p:ph idx="1" type="body"/>
          </p:nvPr>
        </p:nvSpPr>
        <p:spPr>
          <a:xfrm rot="5400000">
            <a:off x="2308950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g3fb62108a68_0_15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g3fb62108a68_0_15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g3fb62108a68_0_15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fb62108a68_0_160"/>
          <p:cNvSpPr txBox="1"/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g3fb62108a68_0_160"/>
          <p:cNvSpPr txBox="1"/>
          <p:nvPr>
            <p:ph idx="1" type="body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g3fb62108a68_0_16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g3fb62108a68_0_16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g3fb62108a68_0_16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вичайний 1" type="title">
  <p:cSld name="TITLE">
    <p:bg>
      <p:bgPr>
        <a:solidFill>
          <a:schemeClr val="lt1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g3fb62108a68_0_317"/>
          <p:cNvPicPr preferRelativeResize="0"/>
          <p:nvPr/>
        </p:nvPicPr>
        <p:blipFill rotWithShape="1">
          <a:blip r:embed="rId2">
            <a:alphaModFix/>
          </a:blip>
          <a:srcRect b="0" l="45887" r="0" t="93322"/>
          <a:stretch/>
        </p:blipFill>
        <p:spPr>
          <a:xfrm>
            <a:off x="6064908" y="6400800"/>
            <a:ext cx="6126828" cy="456841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g3fb62108a68_0_317"/>
          <p:cNvSpPr/>
          <p:nvPr/>
        </p:nvSpPr>
        <p:spPr>
          <a:xfrm>
            <a:off x="6175427" y="6502680"/>
            <a:ext cx="53028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8A999"/>
                </a:solidFill>
                <a:latin typeface="Arial"/>
                <a:ea typeface="Arial"/>
                <a:cs typeface="Arial"/>
                <a:sym typeface="Arial"/>
              </a:rPr>
              <a:t>Machine Learning for Bioinformatics · </a:t>
            </a:r>
            <a:r>
              <a:rPr lang="en-US" sz="1300">
                <a:solidFill>
                  <a:srgbClr val="18A999"/>
                </a:solidFill>
              </a:rPr>
              <a:t>Lecture 3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4" name="Google Shape;84;g3fb62108a68_0_317"/>
          <p:cNvPicPr preferRelativeResize="0"/>
          <p:nvPr/>
        </p:nvPicPr>
        <p:blipFill rotWithShape="1">
          <a:blip r:embed="rId2">
            <a:alphaModFix/>
          </a:blip>
          <a:srcRect b="84967" l="0" r="82433" t="0"/>
          <a:stretch/>
        </p:blipFill>
        <p:spPr>
          <a:xfrm>
            <a:off x="0" y="0"/>
            <a:ext cx="1987917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g3fb62108a68_0_317"/>
          <p:cNvSpPr txBox="1"/>
          <p:nvPr>
            <p:ph type="title"/>
          </p:nvPr>
        </p:nvSpPr>
        <p:spPr>
          <a:xfrm>
            <a:off x="415439" y="992880"/>
            <a:ext cx="11360400" cy="2736600"/>
          </a:xfrm>
          <a:prstGeom prst="rect">
            <a:avLst/>
          </a:prstGeom>
          <a:noFill/>
          <a:ln>
            <a:noFill/>
          </a:ln>
        </p:spPr>
        <p:txBody>
          <a:bodyPr anchorCtr="0" anchor="b" bIns="122025" lIns="122025" spcFirstLastPara="1" rIns="122025" wrap="square" tIns="1220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  <a:defRPr b="0" i="0" sz="6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6" name="Google Shape;86;g3fb62108a68_0_317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/34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g3fb62108a68_0_317"/>
          <p:cNvSpPr txBox="1"/>
          <p:nvPr>
            <p:ph idx="1" type="body"/>
          </p:nvPr>
        </p:nvSpPr>
        <p:spPr>
          <a:xfrm>
            <a:off x="609479" y="1604520"/>
            <a:ext cx="109725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68605" lvl="0" marL="45720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5275" lvl="1" marL="914400" marR="0" rtl="0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Char char="−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68605" lvl="2" marL="1371600" marR="0" rtl="0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marR="0" rtl="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Char char="−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85750" lvl="4" marL="22860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85750" lvl="6" marL="32004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3_1" type="blank">
  <p:cSld name="BLANK">
    <p:bg>
      <p:bgPr>
        <a:solidFill>
          <a:schemeClr val="lt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g3fb62108a68_0_324"/>
          <p:cNvPicPr preferRelativeResize="0"/>
          <p:nvPr/>
        </p:nvPicPr>
        <p:blipFill rotWithShape="1">
          <a:blip r:embed="rId2">
            <a:alphaModFix/>
          </a:blip>
          <a:srcRect b="0" l="45887" r="0" t="93322"/>
          <a:stretch/>
        </p:blipFill>
        <p:spPr>
          <a:xfrm>
            <a:off x="6064908" y="6400800"/>
            <a:ext cx="6126828" cy="456841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g3fb62108a68_0_324"/>
          <p:cNvPicPr preferRelativeResize="0"/>
          <p:nvPr/>
        </p:nvPicPr>
        <p:blipFill rotWithShape="1">
          <a:blip r:embed="rId2">
            <a:alphaModFix/>
          </a:blip>
          <a:srcRect b="84967" l="0" r="82433" t="0"/>
          <a:stretch/>
        </p:blipFill>
        <p:spPr>
          <a:xfrm>
            <a:off x="0" y="0"/>
            <a:ext cx="1987917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g3fb62108a68_0_324"/>
          <p:cNvSpPr/>
          <p:nvPr/>
        </p:nvSpPr>
        <p:spPr>
          <a:xfrm>
            <a:off x="6175427" y="6502680"/>
            <a:ext cx="53028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8A999"/>
                </a:solidFill>
                <a:latin typeface="Arial"/>
                <a:ea typeface="Arial"/>
                <a:cs typeface="Arial"/>
                <a:sym typeface="Arial"/>
              </a:rPr>
              <a:t>Machine Learning for Bioinformatics · </a:t>
            </a:r>
            <a:r>
              <a:rPr lang="en-US" sz="1300">
                <a:solidFill>
                  <a:srgbClr val="18A999"/>
                </a:solidFill>
              </a:rPr>
              <a:t>Lecture 3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" name="Google Shape;92;g3fb62108a68_0_324"/>
          <p:cNvPicPr preferRelativeResize="0"/>
          <p:nvPr/>
        </p:nvPicPr>
        <p:blipFill rotWithShape="1">
          <a:blip r:embed="rId3">
            <a:alphaModFix/>
          </a:blip>
          <a:srcRect b="833" l="84" r="78374" t="82673"/>
          <a:stretch/>
        </p:blipFill>
        <p:spPr>
          <a:xfrm>
            <a:off x="0" y="5727600"/>
            <a:ext cx="2437914" cy="1130039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g3fb62108a68_0_324"/>
          <p:cNvPicPr preferRelativeResize="0"/>
          <p:nvPr/>
        </p:nvPicPr>
        <p:blipFill rotWithShape="1">
          <a:blip r:embed="rId4">
            <a:alphaModFix/>
          </a:blip>
          <a:srcRect b="32032" l="0" r="0" t="36478"/>
          <a:stretch/>
        </p:blipFill>
        <p:spPr>
          <a:xfrm>
            <a:off x="0" y="2502000"/>
            <a:ext cx="12190295" cy="215855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g3fb62108a68_0_324"/>
          <p:cNvSpPr txBox="1"/>
          <p:nvPr>
            <p:ph type="title"/>
          </p:nvPr>
        </p:nvSpPr>
        <p:spPr>
          <a:xfrm>
            <a:off x="1928156" y="2752560"/>
            <a:ext cx="7871400" cy="163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5" name="Google Shape;95;g3fb62108a68_0_324"/>
          <p:cNvSpPr txBox="1"/>
          <p:nvPr>
            <p:ph idx="12" type="sldNum"/>
          </p:nvPr>
        </p:nvSpPr>
        <p:spPr>
          <a:xfrm>
            <a:off x="11409097" y="633312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2025" lIns="122025" spcFirstLastPara="1" rIns="122025" wrap="square" tIns="1220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g3fb62108a68_0_324"/>
          <p:cNvSpPr txBox="1"/>
          <p:nvPr>
            <p:ph idx="1" type="body"/>
          </p:nvPr>
        </p:nvSpPr>
        <p:spPr>
          <a:xfrm>
            <a:off x="609479" y="1604520"/>
            <a:ext cx="109725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68605" lvl="0" marL="45720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5275" lvl="1" marL="914400" marR="0" rtl="0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Char char="−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68605" lvl="2" marL="1371600" marR="0" rtl="0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marR="0" rtl="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Char char="−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85750" lvl="4" marL="22860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85750" lvl="6" marL="32004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_ONLY">
  <p:cSld name="CAPTION_ONLY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g3fb62108a68_0_333"/>
          <p:cNvPicPr preferRelativeResize="0"/>
          <p:nvPr/>
        </p:nvPicPr>
        <p:blipFill rotWithShape="1">
          <a:blip r:embed="rId2">
            <a:alphaModFix/>
          </a:blip>
          <a:srcRect b="0" l="45887" r="0" t="93322"/>
          <a:stretch/>
        </p:blipFill>
        <p:spPr>
          <a:xfrm>
            <a:off x="6064908" y="6400800"/>
            <a:ext cx="6126828" cy="456841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g3fb62108a68_0_333"/>
          <p:cNvPicPr preferRelativeResize="0"/>
          <p:nvPr/>
        </p:nvPicPr>
        <p:blipFill rotWithShape="1">
          <a:blip r:embed="rId2">
            <a:alphaModFix/>
          </a:blip>
          <a:srcRect b="84967" l="0" r="82433" t="0"/>
          <a:stretch/>
        </p:blipFill>
        <p:spPr>
          <a:xfrm>
            <a:off x="0" y="0"/>
            <a:ext cx="1987917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g3fb62108a68_0_333"/>
          <p:cNvSpPr/>
          <p:nvPr/>
        </p:nvSpPr>
        <p:spPr>
          <a:xfrm>
            <a:off x="6175427" y="6502680"/>
            <a:ext cx="53028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8A999"/>
                </a:solidFill>
                <a:latin typeface="Arial"/>
                <a:ea typeface="Arial"/>
                <a:cs typeface="Arial"/>
                <a:sym typeface="Arial"/>
              </a:rPr>
              <a:t>Machine Learning for Bioinformatics · </a:t>
            </a:r>
            <a:r>
              <a:rPr lang="en-US" sz="1300">
                <a:solidFill>
                  <a:srgbClr val="18A999"/>
                </a:solidFill>
              </a:rPr>
              <a:t>Lecture 3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g3fb62108a68_0_333"/>
          <p:cNvSpPr txBox="1"/>
          <p:nvPr>
            <p:ph idx="1" type="body"/>
          </p:nvPr>
        </p:nvSpPr>
        <p:spPr>
          <a:xfrm>
            <a:off x="415439" y="5640840"/>
            <a:ext cx="7998000" cy="8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>
            <a:lvl1pPr indent="-297180" lvl="0" marL="45720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/>
        </p:txBody>
      </p:sp>
      <p:sp>
        <p:nvSpPr>
          <p:cNvPr id="102" name="Google Shape;102;g3fb62108a68_0_333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_NUMBER">
  <p:cSld name="BIG_NUMBER">
    <p:bg>
      <p:bgPr>
        <a:solidFill>
          <a:schemeClr val="l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g3fb62108a68_0_339"/>
          <p:cNvPicPr preferRelativeResize="0"/>
          <p:nvPr/>
        </p:nvPicPr>
        <p:blipFill rotWithShape="1">
          <a:blip r:embed="rId2">
            <a:alphaModFix/>
          </a:blip>
          <a:srcRect b="0" l="45887" r="0" t="93322"/>
          <a:stretch/>
        </p:blipFill>
        <p:spPr>
          <a:xfrm>
            <a:off x="6064908" y="6400800"/>
            <a:ext cx="6126828" cy="4568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g3fb62108a68_0_339"/>
          <p:cNvPicPr preferRelativeResize="0"/>
          <p:nvPr/>
        </p:nvPicPr>
        <p:blipFill rotWithShape="1">
          <a:blip r:embed="rId2">
            <a:alphaModFix/>
          </a:blip>
          <a:srcRect b="84967" l="0" r="82433" t="0"/>
          <a:stretch/>
        </p:blipFill>
        <p:spPr>
          <a:xfrm>
            <a:off x="0" y="0"/>
            <a:ext cx="1987917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g3fb62108a68_0_339"/>
          <p:cNvSpPr/>
          <p:nvPr/>
        </p:nvSpPr>
        <p:spPr>
          <a:xfrm>
            <a:off x="6175427" y="6502680"/>
            <a:ext cx="53028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8A999"/>
                </a:solidFill>
                <a:latin typeface="Arial"/>
                <a:ea typeface="Arial"/>
                <a:cs typeface="Arial"/>
                <a:sym typeface="Arial"/>
              </a:rPr>
              <a:t>Machine Learning for Bioinformatics · </a:t>
            </a:r>
            <a:r>
              <a:rPr lang="en-US" sz="1300">
                <a:solidFill>
                  <a:srgbClr val="18A999"/>
                </a:solidFill>
              </a:rPr>
              <a:t>Lecture 3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g3fb62108a68_0_339"/>
          <p:cNvSpPr txBox="1"/>
          <p:nvPr>
            <p:ph hasCustomPrompt="1" type="title"/>
          </p:nvPr>
        </p:nvSpPr>
        <p:spPr>
          <a:xfrm>
            <a:off x="415439" y="1474920"/>
            <a:ext cx="11360400" cy="2617800"/>
          </a:xfrm>
          <a:prstGeom prst="rect">
            <a:avLst/>
          </a:prstGeom>
          <a:noFill/>
          <a:ln>
            <a:noFill/>
          </a:ln>
        </p:spPr>
        <p:txBody>
          <a:bodyPr anchorCtr="0" anchor="b" bIns="122025" lIns="122025" spcFirstLastPara="1" rIns="122025" wrap="square" tIns="12202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0"/>
              <a:buFont typeface="Arial"/>
              <a:buNone/>
              <a:defRPr b="0" i="0" sz="16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t>xx%</a:t>
            </a:r>
          </a:p>
        </p:txBody>
      </p:sp>
      <p:sp>
        <p:nvSpPr>
          <p:cNvPr id="108" name="Google Shape;108;g3fb62108a68_0_339"/>
          <p:cNvSpPr txBox="1"/>
          <p:nvPr>
            <p:ph idx="1" type="body"/>
          </p:nvPr>
        </p:nvSpPr>
        <p:spPr>
          <a:xfrm>
            <a:off x="415439" y="4203000"/>
            <a:ext cx="11360400" cy="17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2025" lIns="122025" spcFirstLastPara="1" rIns="122025" wrap="square" tIns="122025">
            <a:normAutofit/>
          </a:bodyPr>
          <a:lstStyle>
            <a:lvl1pPr indent="-297180" lvl="0" marL="45720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7180" lvl="2" marL="1371600" marR="0" rtl="0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7180" lvl="4" marL="22860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7180" lvl="5" marL="27432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7180" lvl="6" marL="32004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9" name="Google Shape;109;g3fb62108a68_0_339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mple-light-2">
  <p:cSld name="simple-light-2">
    <p:bg>
      <p:bgPr>
        <a:solidFill>
          <a:schemeClr val="lt1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g3fb62108a68_0_346"/>
          <p:cNvPicPr preferRelativeResize="0"/>
          <p:nvPr/>
        </p:nvPicPr>
        <p:blipFill rotWithShape="1">
          <a:blip r:embed="rId2">
            <a:alphaModFix/>
          </a:blip>
          <a:srcRect b="0" l="45887" r="0" t="93322"/>
          <a:stretch/>
        </p:blipFill>
        <p:spPr>
          <a:xfrm>
            <a:off x="6064908" y="6400800"/>
            <a:ext cx="6126828" cy="4568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g3fb62108a68_0_346"/>
          <p:cNvPicPr preferRelativeResize="0"/>
          <p:nvPr/>
        </p:nvPicPr>
        <p:blipFill rotWithShape="1">
          <a:blip r:embed="rId2">
            <a:alphaModFix/>
          </a:blip>
          <a:srcRect b="84967" l="0" r="82433" t="0"/>
          <a:stretch/>
        </p:blipFill>
        <p:spPr>
          <a:xfrm>
            <a:off x="0" y="0"/>
            <a:ext cx="1987917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g3fb62108a68_0_346"/>
          <p:cNvSpPr/>
          <p:nvPr/>
        </p:nvSpPr>
        <p:spPr>
          <a:xfrm>
            <a:off x="6175427" y="6502680"/>
            <a:ext cx="53028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8A999"/>
                </a:solidFill>
                <a:latin typeface="Arial"/>
                <a:ea typeface="Arial"/>
                <a:cs typeface="Arial"/>
                <a:sym typeface="Arial"/>
              </a:rPr>
              <a:t>Machine Learning for Bioinformatics · </a:t>
            </a:r>
            <a:r>
              <a:rPr lang="en-US" sz="1300">
                <a:solidFill>
                  <a:srgbClr val="18A999"/>
                </a:solidFill>
              </a:rPr>
              <a:t>Lecture 3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g3fb62108a68_0_346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вичайний" type="obj">
  <p:cSld name="OBJECT">
    <p:bg>
      <p:bgPr>
        <a:solidFill>
          <a:schemeClr val="lt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g3fb62108a68_0_351"/>
          <p:cNvPicPr preferRelativeResize="0"/>
          <p:nvPr/>
        </p:nvPicPr>
        <p:blipFill rotWithShape="1">
          <a:blip r:embed="rId2">
            <a:alphaModFix/>
          </a:blip>
          <a:srcRect b="0" l="45887" r="0" t="93322"/>
          <a:stretch/>
        </p:blipFill>
        <p:spPr>
          <a:xfrm>
            <a:off x="6064908" y="6400800"/>
            <a:ext cx="6126828" cy="4568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g3fb62108a68_0_351"/>
          <p:cNvPicPr preferRelativeResize="0"/>
          <p:nvPr/>
        </p:nvPicPr>
        <p:blipFill rotWithShape="1">
          <a:blip r:embed="rId2">
            <a:alphaModFix/>
          </a:blip>
          <a:srcRect b="84967" l="0" r="82433" t="0"/>
          <a:stretch/>
        </p:blipFill>
        <p:spPr>
          <a:xfrm>
            <a:off x="0" y="0"/>
            <a:ext cx="1987917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g3fb62108a68_0_351"/>
          <p:cNvSpPr/>
          <p:nvPr/>
        </p:nvSpPr>
        <p:spPr>
          <a:xfrm>
            <a:off x="6175427" y="6502680"/>
            <a:ext cx="53028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8A999"/>
                </a:solidFill>
                <a:latin typeface="Arial"/>
                <a:ea typeface="Arial"/>
                <a:cs typeface="Arial"/>
                <a:sym typeface="Arial"/>
              </a:rPr>
              <a:t>Machine Learning for Bioinformatics · </a:t>
            </a:r>
            <a:r>
              <a:rPr lang="en-US" sz="1300">
                <a:solidFill>
                  <a:srgbClr val="18A999"/>
                </a:solidFill>
              </a:rPr>
              <a:t>Lecture 3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g3fb62108a68_0_351"/>
          <p:cNvSpPr txBox="1"/>
          <p:nvPr>
            <p:ph type="title"/>
          </p:nvPr>
        </p:nvSpPr>
        <p:spPr>
          <a:xfrm>
            <a:off x="838078" y="365040"/>
            <a:ext cx="10515300" cy="132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  <a:defRPr b="0" i="0" sz="3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0" name="Google Shape;120;g3fb62108a68_0_351"/>
          <p:cNvSpPr txBox="1"/>
          <p:nvPr>
            <p:ph idx="1" type="body"/>
          </p:nvPr>
        </p:nvSpPr>
        <p:spPr>
          <a:xfrm>
            <a:off x="838078" y="1825560"/>
            <a:ext cx="10515300" cy="43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97180" lvl="0" marL="45720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7180" lvl="2" marL="1371600" marR="0" rtl="0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7180" lvl="4" marL="22860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7180" lvl="5" marL="27432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7180" lvl="6" marL="32004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1" name="Google Shape;121;g3fb62108a68_0_351"/>
          <p:cNvSpPr txBox="1"/>
          <p:nvPr>
            <p:ph idx="10" type="dt"/>
          </p:nvPr>
        </p:nvSpPr>
        <p:spPr>
          <a:xfrm>
            <a:off x="838078" y="6356520"/>
            <a:ext cx="27429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2" name="Google Shape;122;g3fb62108a68_0_351"/>
          <p:cNvSpPr txBox="1"/>
          <p:nvPr>
            <p:ph idx="11" type="ftr"/>
          </p:nvPr>
        </p:nvSpPr>
        <p:spPr>
          <a:xfrm>
            <a:off x="4038472" y="6356520"/>
            <a:ext cx="41145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3" name="Google Shape;123;g3fb62108a68_0_351"/>
          <p:cNvSpPr txBox="1"/>
          <p:nvPr>
            <p:ph idx="12" type="sldNum"/>
          </p:nvPr>
        </p:nvSpPr>
        <p:spPr>
          <a:xfrm>
            <a:off x="8610462" y="6356520"/>
            <a:ext cx="27429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  <a:defRPr b="0" i="0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  <a:defRPr b="0" i="0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  <a:defRPr b="0" i="0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  <a:defRPr b="0" i="0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  <a:defRPr b="0" i="0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  <a:defRPr b="0" i="0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  <a:defRPr b="0" i="0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  <a:defRPr b="0" i="0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  <a:defRPr b="0" i="0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вичайний 2">
  <p:cSld name="Звичайний 2">
    <p:bg>
      <p:bgPr>
        <a:solidFill>
          <a:schemeClr val="lt1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g3fb62108a68_0_360"/>
          <p:cNvPicPr preferRelativeResize="0"/>
          <p:nvPr/>
        </p:nvPicPr>
        <p:blipFill rotWithShape="1">
          <a:blip r:embed="rId2">
            <a:alphaModFix/>
          </a:blip>
          <a:srcRect b="0" l="45887" r="0" t="93322"/>
          <a:stretch/>
        </p:blipFill>
        <p:spPr>
          <a:xfrm>
            <a:off x="6064908" y="6400800"/>
            <a:ext cx="6126828" cy="4568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g3fb62108a68_0_360"/>
          <p:cNvPicPr preferRelativeResize="0"/>
          <p:nvPr/>
        </p:nvPicPr>
        <p:blipFill rotWithShape="1">
          <a:blip r:embed="rId2">
            <a:alphaModFix/>
          </a:blip>
          <a:srcRect b="84967" l="0" r="82433" t="0"/>
          <a:stretch/>
        </p:blipFill>
        <p:spPr>
          <a:xfrm>
            <a:off x="0" y="0"/>
            <a:ext cx="1987917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g3fb62108a68_0_360"/>
          <p:cNvSpPr/>
          <p:nvPr/>
        </p:nvSpPr>
        <p:spPr>
          <a:xfrm>
            <a:off x="6175427" y="6502680"/>
            <a:ext cx="53028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8A999"/>
                </a:solidFill>
                <a:latin typeface="Arial"/>
                <a:ea typeface="Arial"/>
                <a:cs typeface="Arial"/>
                <a:sym typeface="Arial"/>
              </a:rPr>
              <a:t>Machine Learning for Bioinformatics · </a:t>
            </a:r>
            <a:r>
              <a:rPr lang="en-US" sz="1300">
                <a:solidFill>
                  <a:srgbClr val="18A999"/>
                </a:solidFill>
              </a:rPr>
              <a:t>Lecture 3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g3fb62108a68_0_360"/>
          <p:cNvSpPr txBox="1"/>
          <p:nvPr>
            <p:ph type="title"/>
          </p:nvPr>
        </p:nvSpPr>
        <p:spPr>
          <a:xfrm>
            <a:off x="415439" y="2867760"/>
            <a:ext cx="11360400" cy="11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9" name="Google Shape;129;g3fb62108a68_0_360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" type="tx">
  <p:cSld name="TITLE_AND_BODY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g3fb62108a68_0_366"/>
          <p:cNvPicPr preferRelativeResize="0"/>
          <p:nvPr/>
        </p:nvPicPr>
        <p:blipFill rotWithShape="1">
          <a:blip r:embed="rId2">
            <a:alphaModFix/>
          </a:blip>
          <a:srcRect b="0" l="45887" r="0" t="93322"/>
          <a:stretch/>
        </p:blipFill>
        <p:spPr>
          <a:xfrm>
            <a:off x="6064908" y="6400800"/>
            <a:ext cx="6126828" cy="4568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g3fb62108a68_0_366"/>
          <p:cNvPicPr preferRelativeResize="0"/>
          <p:nvPr/>
        </p:nvPicPr>
        <p:blipFill rotWithShape="1">
          <a:blip r:embed="rId2">
            <a:alphaModFix/>
          </a:blip>
          <a:srcRect b="84967" l="0" r="82433" t="0"/>
          <a:stretch/>
        </p:blipFill>
        <p:spPr>
          <a:xfrm>
            <a:off x="0" y="0"/>
            <a:ext cx="1987917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g3fb62108a68_0_366"/>
          <p:cNvSpPr/>
          <p:nvPr/>
        </p:nvSpPr>
        <p:spPr>
          <a:xfrm>
            <a:off x="6175427" y="6502680"/>
            <a:ext cx="53028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8A999"/>
                </a:solidFill>
                <a:latin typeface="Arial"/>
                <a:ea typeface="Arial"/>
                <a:cs typeface="Arial"/>
                <a:sym typeface="Arial"/>
              </a:rPr>
              <a:t>Machine Learning for Bioinformatics · </a:t>
            </a:r>
            <a:r>
              <a:rPr lang="en-US" sz="1300">
                <a:solidFill>
                  <a:srgbClr val="18A999"/>
                </a:solidFill>
              </a:rPr>
              <a:t>Lecture 3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g3fb62108a68_0_366"/>
          <p:cNvSpPr txBox="1"/>
          <p:nvPr>
            <p:ph type="title"/>
          </p:nvPr>
        </p:nvSpPr>
        <p:spPr>
          <a:xfrm>
            <a:off x="415439" y="593280"/>
            <a:ext cx="11360400" cy="7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2025" lIns="122025" spcFirstLastPara="1" rIns="122025" wrap="square" tIns="1220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  <a:defRPr b="0" i="0" sz="3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5" name="Google Shape;135;g3fb62108a68_0_366"/>
          <p:cNvSpPr txBox="1"/>
          <p:nvPr>
            <p:ph idx="1" type="body"/>
          </p:nvPr>
        </p:nvSpPr>
        <p:spPr>
          <a:xfrm>
            <a:off x="415439" y="1536480"/>
            <a:ext cx="11360400" cy="4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2025" lIns="122025" spcFirstLastPara="1" rIns="122025" wrap="square" tIns="122025">
            <a:normAutofit/>
          </a:bodyPr>
          <a:lstStyle>
            <a:lvl1pPr indent="-297180" lvl="0" marL="45720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7180" lvl="2" marL="1371600" marR="0" rtl="0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7180" lvl="4" marL="22860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7180" lvl="5" marL="27432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7180" lvl="6" marL="32004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6" name="Google Shape;136;g3fb62108a68_0_366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TWO_COLUMNS" type="twoObj">
  <p:cSld name="TWO_OBJECTS">
    <p:bg>
      <p:bgPr>
        <a:solidFill>
          <a:schemeClr val="lt1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g3fb62108a68_0_373"/>
          <p:cNvPicPr preferRelativeResize="0"/>
          <p:nvPr/>
        </p:nvPicPr>
        <p:blipFill rotWithShape="1">
          <a:blip r:embed="rId2">
            <a:alphaModFix/>
          </a:blip>
          <a:srcRect b="0" l="45887" r="0" t="93322"/>
          <a:stretch/>
        </p:blipFill>
        <p:spPr>
          <a:xfrm>
            <a:off x="6064908" y="6400800"/>
            <a:ext cx="6126828" cy="4568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g3fb62108a68_0_373"/>
          <p:cNvPicPr preferRelativeResize="0"/>
          <p:nvPr/>
        </p:nvPicPr>
        <p:blipFill rotWithShape="1">
          <a:blip r:embed="rId2">
            <a:alphaModFix/>
          </a:blip>
          <a:srcRect b="84967" l="0" r="82433" t="0"/>
          <a:stretch/>
        </p:blipFill>
        <p:spPr>
          <a:xfrm>
            <a:off x="0" y="0"/>
            <a:ext cx="1987917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g3fb62108a68_0_373"/>
          <p:cNvSpPr/>
          <p:nvPr/>
        </p:nvSpPr>
        <p:spPr>
          <a:xfrm>
            <a:off x="6175427" y="6502680"/>
            <a:ext cx="53028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8A999"/>
                </a:solidFill>
                <a:latin typeface="Arial"/>
                <a:ea typeface="Arial"/>
                <a:cs typeface="Arial"/>
                <a:sym typeface="Arial"/>
              </a:rPr>
              <a:t>Machine Learning for Bioinformatics · </a:t>
            </a:r>
            <a:r>
              <a:rPr lang="en-US" sz="1300">
                <a:solidFill>
                  <a:srgbClr val="18A999"/>
                </a:solidFill>
              </a:rPr>
              <a:t>Lecture 3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g3fb62108a68_0_373"/>
          <p:cNvSpPr txBox="1"/>
          <p:nvPr>
            <p:ph type="title"/>
          </p:nvPr>
        </p:nvSpPr>
        <p:spPr>
          <a:xfrm>
            <a:off x="415439" y="593280"/>
            <a:ext cx="11360400" cy="7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2025" lIns="122025" spcFirstLastPara="1" rIns="122025" wrap="square" tIns="1220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  <a:defRPr b="0" i="0" sz="3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2" name="Google Shape;142;g3fb62108a68_0_373"/>
          <p:cNvSpPr txBox="1"/>
          <p:nvPr>
            <p:ph idx="1" type="body"/>
          </p:nvPr>
        </p:nvSpPr>
        <p:spPr>
          <a:xfrm>
            <a:off x="415439" y="1536480"/>
            <a:ext cx="5332800" cy="4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2025" lIns="122025" spcFirstLastPara="1" rIns="122025" wrap="square" tIns="122025">
            <a:normAutofit/>
          </a:bodyPr>
          <a:lstStyle>
            <a:lvl1pPr indent="-282893" lvl="0" marL="45720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855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9088" lvl="1" marL="914400" marR="0" rtl="0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Noto Sans Symbols"/>
              <a:buChar char="−"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82893" lvl="2" marL="1371600" marR="0" rtl="0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855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9088" lvl="3" marL="1828800" marR="0" rtl="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Noto Sans Symbols"/>
              <a:buChar char="−"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82892" lvl="4" marL="22860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55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2892" lvl="5" marL="27432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55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82892" lvl="6" marL="32004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55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3" name="Google Shape;143;g3fb62108a68_0_373"/>
          <p:cNvSpPr txBox="1"/>
          <p:nvPr>
            <p:ph idx="2" type="body"/>
          </p:nvPr>
        </p:nvSpPr>
        <p:spPr>
          <a:xfrm>
            <a:off x="6443267" y="1536480"/>
            <a:ext cx="5332800" cy="4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2025" lIns="122025" spcFirstLastPara="1" rIns="122025" wrap="square" tIns="122025">
            <a:normAutofit/>
          </a:bodyPr>
          <a:lstStyle>
            <a:lvl1pPr indent="-282893" lvl="0" marL="45720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855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9088" lvl="1" marL="914400" marR="0" rtl="0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Noto Sans Symbols"/>
              <a:buChar char="−"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82893" lvl="2" marL="1371600" marR="0" rtl="0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855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9088" lvl="3" marL="1828800" marR="0" rtl="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Noto Sans Symbols"/>
              <a:buChar char="−"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82892" lvl="4" marL="22860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55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2892" lvl="5" marL="27432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55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82892" lvl="6" marL="32004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55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4" name="Google Shape;144;g3fb62108a68_0_373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вичайний 3" type="titleOnly">
  <p:cSld name="TITLE_ONLY">
    <p:bg>
      <p:bgPr>
        <a:solidFill>
          <a:schemeClr val="lt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g3fb62108a68_0_381"/>
          <p:cNvPicPr preferRelativeResize="0"/>
          <p:nvPr/>
        </p:nvPicPr>
        <p:blipFill rotWithShape="1">
          <a:blip r:embed="rId2">
            <a:alphaModFix/>
          </a:blip>
          <a:srcRect b="0" l="45887" r="0" t="93322"/>
          <a:stretch/>
        </p:blipFill>
        <p:spPr>
          <a:xfrm>
            <a:off x="6064908" y="6400800"/>
            <a:ext cx="6126828" cy="4568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g3fb62108a68_0_381"/>
          <p:cNvPicPr preferRelativeResize="0"/>
          <p:nvPr/>
        </p:nvPicPr>
        <p:blipFill rotWithShape="1">
          <a:blip r:embed="rId2">
            <a:alphaModFix/>
          </a:blip>
          <a:srcRect b="84967" l="0" r="82433" t="0"/>
          <a:stretch/>
        </p:blipFill>
        <p:spPr>
          <a:xfrm>
            <a:off x="0" y="0"/>
            <a:ext cx="1987917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g3fb62108a68_0_381"/>
          <p:cNvSpPr/>
          <p:nvPr/>
        </p:nvSpPr>
        <p:spPr>
          <a:xfrm>
            <a:off x="6175427" y="6502680"/>
            <a:ext cx="53028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8A999"/>
                </a:solidFill>
                <a:latin typeface="Arial"/>
                <a:ea typeface="Arial"/>
                <a:cs typeface="Arial"/>
                <a:sym typeface="Arial"/>
              </a:rPr>
              <a:t>Machine Learning for Bioinformatics · </a:t>
            </a:r>
            <a:r>
              <a:rPr lang="en-US" sz="1300">
                <a:solidFill>
                  <a:srgbClr val="18A999"/>
                </a:solidFill>
              </a:rPr>
              <a:t>Lecture 3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fb62108a68_0_381"/>
          <p:cNvSpPr txBox="1"/>
          <p:nvPr>
            <p:ph type="title"/>
          </p:nvPr>
        </p:nvSpPr>
        <p:spPr>
          <a:xfrm>
            <a:off x="415439" y="593280"/>
            <a:ext cx="11360400" cy="7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2025" lIns="122025" spcFirstLastPara="1" rIns="122025" wrap="square" tIns="1220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  <a:defRPr b="0" i="0" sz="3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0" name="Google Shape;150;g3fb62108a68_0_381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_COLUMN_TEXT">
  <p:cSld name="ONE_COLUMN_TEXT">
    <p:bg>
      <p:bgPr>
        <a:solidFill>
          <a:schemeClr val="lt1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g3fb62108a68_0_387"/>
          <p:cNvPicPr preferRelativeResize="0"/>
          <p:nvPr/>
        </p:nvPicPr>
        <p:blipFill rotWithShape="1">
          <a:blip r:embed="rId2">
            <a:alphaModFix/>
          </a:blip>
          <a:srcRect b="0" l="45887" r="0" t="93322"/>
          <a:stretch/>
        </p:blipFill>
        <p:spPr>
          <a:xfrm>
            <a:off x="6064908" y="6400800"/>
            <a:ext cx="6126828" cy="4568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g3fb62108a68_0_387"/>
          <p:cNvPicPr preferRelativeResize="0"/>
          <p:nvPr/>
        </p:nvPicPr>
        <p:blipFill rotWithShape="1">
          <a:blip r:embed="rId2">
            <a:alphaModFix/>
          </a:blip>
          <a:srcRect b="84967" l="0" r="82433" t="0"/>
          <a:stretch/>
        </p:blipFill>
        <p:spPr>
          <a:xfrm>
            <a:off x="0" y="0"/>
            <a:ext cx="1987917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g3fb62108a68_0_387"/>
          <p:cNvSpPr/>
          <p:nvPr/>
        </p:nvSpPr>
        <p:spPr>
          <a:xfrm>
            <a:off x="6175427" y="6502680"/>
            <a:ext cx="53028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8A999"/>
                </a:solidFill>
                <a:latin typeface="Arial"/>
                <a:ea typeface="Arial"/>
                <a:cs typeface="Arial"/>
                <a:sym typeface="Arial"/>
              </a:rPr>
              <a:t>Machine Learning for Bioinformatics · </a:t>
            </a:r>
            <a:r>
              <a:rPr lang="en-US" sz="1300">
                <a:solidFill>
                  <a:srgbClr val="18A999"/>
                </a:solidFill>
              </a:rPr>
              <a:t>Lecture 3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g3fb62108a68_0_387"/>
          <p:cNvSpPr txBox="1"/>
          <p:nvPr>
            <p:ph type="title"/>
          </p:nvPr>
        </p:nvSpPr>
        <p:spPr>
          <a:xfrm>
            <a:off x="415439" y="740880"/>
            <a:ext cx="3743700" cy="1007400"/>
          </a:xfrm>
          <a:prstGeom prst="rect">
            <a:avLst/>
          </a:prstGeom>
          <a:noFill/>
          <a:ln>
            <a:noFill/>
          </a:ln>
        </p:spPr>
        <p:txBody>
          <a:bodyPr anchorCtr="0" anchor="b" bIns="122025" lIns="122025" spcFirstLastPara="1" rIns="122025" wrap="square" tIns="1220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6" name="Google Shape;156;g3fb62108a68_0_387"/>
          <p:cNvSpPr txBox="1"/>
          <p:nvPr>
            <p:ph idx="1" type="body"/>
          </p:nvPr>
        </p:nvSpPr>
        <p:spPr>
          <a:xfrm>
            <a:off x="415439" y="1852920"/>
            <a:ext cx="3743700" cy="42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2025" lIns="122025" spcFirstLastPara="1" rIns="122025" wrap="square" tIns="122025">
            <a:normAutofit/>
          </a:bodyPr>
          <a:lstStyle>
            <a:lvl1pPr indent="-274320" lvl="0" marL="45720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720"/>
              <a:buFont typeface="Noto Sans Symbols"/>
              <a:buChar char="●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−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4320" lvl="2" marL="1371600" marR="0" rtl="0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Noto Sans Symbols"/>
              <a:buChar char="●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−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4320" lvl="4" marL="22860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720"/>
              <a:buFont typeface="Noto Sans Symbols"/>
              <a:buChar char="●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74320" lvl="5" marL="27432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720"/>
              <a:buFont typeface="Noto Sans Symbols"/>
              <a:buChar char="●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4320" lvl="6" marL="32004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720"/>
              <a:buFont typeface="Noto Sans Symbols"/>
              <a:buChar char="●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7" name="Google Shape;157;g3fb62108a68_0_387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_POINT">
  <p:cSld name="MAIN_POINT">
    <p:bg>
      <p:bgPr>
        <a:solidFill>
          <a:schemeClr val="lt1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g3fb62108a68_0_394"/>
          <p:cNvPicPr preferRelativeResize="0"/>
          <p:nvPr/>
        </p:nvPicPr>
        <p:blipFill rotWithShape="1">
          <a:blip r:embed="rId2">
            <a:alphaModFix/>
          </a:blip>
          <a:srcRect b="0" l="45887" r="0" t="93322"/>
          <a:stretch/>
        </p:blipFill>
        <p:spPr>
          <a:xfrm>
            <a:off x="6064908" y="6400800"/>
            <a:ext cx="6126828" cy="4568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g3fb62108a68_0_394"/>
          <p:cNvPicPr preferRelativeResize="0"/>
          <p:nvPr/>
        </p:nvPicPr>
        <p:blipFill rotWithShape="1">
          <a:blip r:embed="rId2">
            <a:alphaModFix/>
          </a:blip>
          <a:srcRect b="84967" l="0" r="82433" t="0"/>
          <a:stretch/>
        </p:blipFill>
        <p:spPr>
          <a:xfrm>
            <a:off x="0" y="0"/>
            <a:ext cx="1987917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g3fb62108a68_0_394"/>
          <p:cNvSpPr/>
          <p:nvPr/>
        </p:nvSpPr>
        <p:spPr>
          <a:xfrm>
            <a:off x="6175427" y="6502680"/>
            <a:ext cx="53028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8A999"/>
                </a:solidFill>
                <a:latin typeface="Arial"/>
                <a:ea typeface="Arial"/>
                <a:cs typeface="Arial"/>
                <a:sym typeface="Arial"/>
              </a:rPr>
              <a:t>Machine Learning for Bioinformatics · </a:t>
            </a:r>
            <a:r>
              <a:rPr lang="en-US" sz="1300">
                <a:solidFill>
                  <a:srgbClr val="18A999"/>
                </a:solidFill>
              </a:rPr>
              <a:t>Lecture 3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g3fb62108a68_0_394"/>
          <p:cNvSpPr txBox="1"/>
          <p:nvPr>
            <p:ph type="title"/>
          </p:nvPr>
        </p:nvSpPr>
        <p:spPr>
          <a:xfrm>
            <a:off x="653759" y="600120"/>
            <a:ext cx="8490000" cy="54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b="0" i="0" sz="6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3" name="Google Shape;163;g3fb62108a68_0_394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TITLE_AND_DESCRIPTION">
  <p:cSld name="SECTION_TITLE_AND_DESCRIPTION">
    <p:bg>
      <p:bgPr>
        <a:solidFill>
          <a:schemeClr val="lt1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g3fb62108a68_0_400"/>
          <p:cNvPicPr preferRelativeResize="0"/>
          <p:nvPr/>
        </p:nvPicPr>
        <p:blipFill rotWithShape="1">
          <a:blip r:embed="rId2">
            <a:alphaModFix/>
          </a:blip>
          <a:srcRect b="0" l="45887" r="0" t="93322"/>
          <a:stretch/>
        </p:blipFill>
        <p:spPr>
          <a:xfrm>
            <a:off x="6064908" y="6400800"/>
            <a:ext cx="6126828" cy="4568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g3fb62108a68_0_400"/>
          <p:cNvPicPr preferRelativeResize="0"/>
          <p:nvPr/>
        </p:nvPicPr>
        <p:blipFill rotWithShape="1">
          <a:blip r:embed="rId2">
            <a:alphaModFix/>
          </a:blip>
          <a:srcRect b="84967" l="0" r="82433" t="0"/>
          <a:stretch/>
        </p:blipFill>
        <p:spPr>
          <a:xfrm>
            <a:off x="0" y="0"/>
            <a:ext cx="1987917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g3fb62108a68_0_400"/>
          <p:cNvSpPr/>
          <p:nvPr/>
        </p:nvSpPr>
        <p:spPr>
          <a:xfrm>
            <a:off x="6175427" y="6502680"/>
            <a:ext cx="53028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8A999"/>
                </a:solidFill>
                <a:latin typeface="Arial"/>
                <a:ea typeface="Arial"/>
                <a:cs typeface="Arial"/>
                <a:sym typeface="Arial"/>
              </a:rPr>
              <a:t>Machine Learning for Bioinformatics · </a:t>
            </a:r>
            <a:r>
              <a:rPr lang="en-US" sz="1300">
                <a:solidFill>
                  <a:srgbClr val="18A999"/>
                </a:solidFill>
              </a:rPr>
              <a:t>Lecture 3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g3fb62108a68_0_400"/>
          <p:cNvSpPr/>
          <p:nvPr/>
        </p:nvSpPr>
        <p:spPr>
          <a:xfrm>
            <a:off x="6095868" y="0"/>
            <a:ext cx="6095400" cy="6857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2025" lIns="122025" spcFirstLastPara="1" rIns="122025" wrap="square" tIns="122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g3fb62108a68_0_400"/>
          <p:cNvSpPr txBox="1"/>
          <p:nvPr>
            <p:ph type="title"/>
          </p:nvPr>
        </p:nvSpPr>
        <p:spPr>
          <a:xfrm>
            <a:off x="353879" y="1644120"/>
            <a:ext cx="5393400" cy="1976100"/>
          </a:xfrm>
          <a:prstGeom prst="rect">
            <a:avLst/>
          </a:prstGeom>
          <a:noFill/>
          <a:ln>
            <a:noFill/>
          </a:ln>
        </p:spPr>
        <p:txBody>
          <a:bodyPr anchorCtr="0" anchor="b" bIns="122025" lIns="122025" spcFirstLastPara="1" rIns="122025" wrap="square" tIns="1220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  <a:defRPr b="0" i="0" sz="5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0" name="Google Shape;170;g3fb62108a68_0_400"/>
          <p:cNvSpPr txBox="1"/>
          <p:nvPr>
            <p:ph idx="1" type="body"/>
          </p:nvPr>
        </p:nvSpPr>
        <p:spPr>
          <a:xfrm>
            <a:off x="6585826" y="965520"/>
            <a:ext cx="5115600" cy="492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>
            <a:lvl1pPr indent="-297180" lvl="0" marL="45720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7180" lvl="2" marL="1371600" marR="0" rtl="0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7180" lvl="4" marL="22860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7180" lvl="5" marL="27432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7180" lvl="6" marL="32004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1" name="Google Shape;171;g3fb62108a68_0_400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3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fb62108a68_0_9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g3fb62108a68_0_9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g3fb62108a68_0_9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g3fb62108a68_0_9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g3fb62108a68_0_9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comments" Target="../comments/comment1.xml"/><Relationship Id="rId4" Type="http://schemas.openxmlformats.org/officeDocument/2006/relationships/image" Target="../media/image11.png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6.png"/><Relationship Id="rId4" Type="http://schemas.openxmlformats.org/officeDocument/2006/relationships/image" Target="../media/image2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2.png"/><Relationship Id="rId4" Type="http://schemas.openxmlformats.org/officeDocument/2006/relationships/image" Target="../media/image38.png"/><Relationship Id="rId5" Type="http://schemas.openxmlformats.org/officeDocument/2006/relationships/image" Target="../media/image34.png"/><Relationship Id="rId6" Type="http://schemas.openxmlformats.org/officeDocument/2006/relationships/image" Target="../media/image2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Relationship Id="rId3" Type="http://schemas.openxmlformats.org/officeDocument/2006/relationships/comments" Target="../comments/comment2.xml"/><Relationship Id="rId4" Type="http://schemas.openxmlformats.org/officeDocument/2006/relationships/image" Target="../media/image3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2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0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9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4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g3fb62108a68_0_83"/>
          <p:cNvPicPr preferRelativeResize="0"/>
          <p:nvPr/>
        </p:nvPicPr>
        <p:blipFill rotWithShape="1">
          <a:blip r:embed="rId3">
            <a:alphaModFix/>
          </a:blip>
          <a:srcRect b="0" l="0" r="79008" t="80962"/>
          <a:stretch/>
        </p:blipFill>
        <p:spPr>
          <a:xfrm>
            <a:off x="-18000" y="5553000"/>
            <a:ext cx="2375634" cy="13046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g3fb62108a68_0_83"/>
          <p:cNvPicPr preferRelativeResize="0"/>
          <p:nvPr/>
        </p:nvPicPr>
        <p:blipFill rotWithShape="1">
          <a:blip r:embed="rId4">
            <a:alphaModFix/>
          </a:blip>
          <a:srcRect b="28805" l="0" r="0" t="37794"/>
          <a:stretch/>
        </p:blipFill>
        <p:spPr>
          <a:xfrm>
            <a:off x="0" y="2592360"/>
            <a:ext cx="12191734" cy="2289959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g3fb62108a68_0_83"/>
          <p:cNvSpPr/>
          <p:nvPr/>
        </p:nvSpPr>
        <p:spPr>
          <a:xfrm>
            <a:off x="68400" y="2644560"/>
            <a:ext cx="49494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005F89"/>
                </a:solidFill>
                <a:latin typeface="Arial"/>
                <a:ea typeface="Arial"/>
                <a:cs typeface="Arial"/>
                <a:sym typeface="Arial"/>
              </a:rPr>
              <a:t>From Nonlinear Regression</a:t>
            </a:r>
            <a:endParaRPr b="1" i="0" sz="3800" u="none" cap="none" strike="noStrike">
              <a:solidFill>
                <a:srgbClr val="005F8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005F89"/>
                </a:solidFill>
                <a:latin typeface="Arial"/>
                <a:ea typeface="Arial"/>
                <a:cs typeface="Arial"/>
                <a:sym typeface="Arial"/>
              </a:rPr>
              <a:t>to Classification</a:t>
            </a:r>
            <a:endParaRPr b="1" i="0" sz="3800" u="none" cap="none" strike="noStrike">
              <a:solidFill>
                <a:srgbClr val="005F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g3fb62108a68_0_83"/>
          <p:cNvSpPr/>
          <p:nvPr/>
        </p:nvSpPr>
        <p:spPr>
          <a:xfrm>
            <a:off x="5752076" y="3023650"/>
            <a:ext cx="5021100" cy="10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7191"/>
                </a:solidFill>
                <a:latin typeface="Arial"/>
                <a:ea typeface="Arial"/>
                <a:cs typeface="Arial"/>
                <a:sym typeface="Arial"/>
              </a:rPr>
              <a:t>Polynomial regression · Symbolic regression · Regression zoo · Logistic regression · Classification metrics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4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lang="en-US"/>
              <a:t>/</a:t>
            </a:r>
            <a:r>
              <a:rPr lang="en-US"/>
              <a:t>42</a:t>
            </a:r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5" name="Google Shape;185;p4"/>
          <p:cNvSpPr/>
          <p:nvPr/>
        </p:nvSpPr>
        <p:spPr>
          <a:xfrm>
            <a:off x="1140180" y="2156515"/>
            <a:ext cx="1553700" cy="1416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4"/>
          <p:cNvSpPr/>
          <p:nvPr/>
        </p:nvSpPr>
        <p:spPr>
          <a:xfrm>
            <a:off x="1231620" y="2385115"/>
            <a:ext cx="13710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2F6BFF"/>
                </a:solidFill>
              </a:rPr>
              <a:t>What if</a:t>
            </a:r>
            <a:endParaRPr b="0" sz="1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4"/>
          <p:cNvSpPr/>
          <p:nvPr/>
        </p:nvSpPr>
        <p:spPr>
          <a:xfrm>
            <a:off x="1249980" y="2842315"/>
            <a:ext cx="13341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rgbClr val="5E6C84"/>
                </a:solidFill>
              </a:rPr>
              <a:t>Non-linear data</a:t>
            </a:r>
            <a:endParaRPr b="0" sz="15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4"/>
          <p:cNvSpPr/>
          <p:nvPr/>
        </p:nvSpPr>
        <p:spPr>
          <a:xfrm>
            <a:off x="3014700" y="2156515"/>
            <a:ext cx="1553700" cy="1416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18A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4"/>
          <p:cNvSpPr/>
          <p:nvPr/>
        </p:nvSpPr>
        <p:spPr>
          <a:xfrm>
            <a:off x="3106140" y="2385115"/>
            <a:ext cx="13710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8A999"/>
                </a:solidFill>
              </a:rPr>
              <a:t>Polynoms</a:t>
            </a:r>
            <a:endParaRPr b="0" sz="1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4"/>
          <p:cNvSpPr/>
          <p:nvPr/>
        </p:nvSpPr>
        <p:spPr>
          <a:xfrm>
            <a:off x="3124500" y="2842315"/>
            <a:ext cx="13341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rgbClr val="5E6C84"/>
                </a:solidFill>
              </a:rPr>
              <a:t>Curved model</a:t>
            </a:r>
            <a:endParaRPr b="0" sz="15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4"/>
          <p:cNvSpPr/>
          <p:nvPr/>
        </p:nvSpPr>
        <p:spPr>
          <a:xfrm>
            <a:off x="4723326" y="2156525"/>
            <a:ext cx="1904100" cy="1416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7C5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4"/>
          <p:cNvSpPr/>
          <p:nvPr/>
        </p:nvSpPr>
        <p:spPr>
          <a:xfrm>
            <a:off x="4779800" y="2385125"/>
            <a:ext cx="16773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7C5CFC"/>
                </a:solidFill>
              </a:rPr>
              <a:t>Regression zoo</a:t>
            </a:r>
            <a:endParaRPr b="0" sz="1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4"/>
          <p:cNvSpPr/>
          <p:nvPr/>
        </p:nvSpPr>
        <p:spPr>
          <a:xfrm>
            <a:off x="4903325" y="2842325"/>
            <a:ext cx="15537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rgbClr val="5E6C84"/>
                </a:solidFill>
              </a:rPr>
              <a:t>A linear model for every use case</a:t>
            </a:r>
            <a:endParaRPr b="0" sz="15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4"/>
          <p:cNvSpPr/>
          <p:nvPr/>
        </p:nvSpPr>
        <p:spPr>
          <a:xfrm>
            <a:off x="6763750" y="2156525"/>
            <a:ext cx="1751700" cy="1416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4"/>
          <p:cNvSpPr/>
          <p:nvPr/>
        </p:nvSpPr>
        <p:spPr>
          <a:xfrm>
            <a:off x="6816175" y="2385125"/>
            <a:ext cx="16773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F59E0B"/>
                </a:solidFill>
              </a:rPr>
              <a:t>Classification</a:t>
            </a:r>
            <a:endParaRPr b="0" sz="1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4"/>
          <p:cNvSpPr/>
          <p:nvPr/>
        </p:nvSpPr>
        <p:spPr>
          <a:xfrm>
            <a:off x="6873540" y="2842315"/>
            <a:ext cx="13341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20">
                <a:solidFill>
                  <a:srgbClr val="5E6C84"/>
                </a:solidFill>
              </a:rPr>
              <a:t>Logistic regression</a:t>
            </a:r>
            <a:endParaRPr b="0" sz="152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4"/>
          <p:cNvSpPr/>
          <p:nvPr/>
        </p:nvSpPr>
        <p:spPr>
          <a:xfrm>
            <a:off x="8638249" y="2156525"/>
            <a:ext cx="1677300" cy="1416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E052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4"/>
          <p:cNvSpPr/>
          <p:nvPr/>
        </p:nvSpPr>
        <p:spPr>
          <a:xfrm>
            <a:off x="8729700" y="2385115"/>
            <a:ext cx="13710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E05260"/>
                </a:solidFill>
              </a:rPr>
              <a:t>Evaluate</a:t>
            </a:r>
            <a:endParaRPr b="0" sz="1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4"/>
          <p:cNvSpPr/>
          <p:nvPr/>
        </p:nvSpPr>
        <p:spPr>
          <a:xfrm>
            <a:off x="8748060" y="2842315"/>
            <a:ext cx="13341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rgbClr val="5E6C84"/>
                </a:solidFill>
              </a:rPr>
              <a:t>Metrics</a:t>
            </a:r>
            <a:endParaRPr b="0" sz="15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4"/>
          <p:cNvSpPr txBox="1"/>
          <p:nvPr/>
        </p:nvSpPr>
        <p:spPr>
          <a:xfrm>
            <a:off x="1915300" y="475850"/>
            <a:ext cx="593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-US" sz="2400">
                <a:solidFill>
                  <a:srgbClr val="143552"/>
                </a:solidFill>
              </a:rPr>
              <a:t>What's for today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"/>
          <p:cNvSpPr txBox="1"/>
          <p:nvPr>
            <p:ph idx="12" type="sldNum"/>
          </p:nvPr>
        </p:nvSpPr>
        <p:spPr>
          <a:xfrm>
            <a:off x="11409073" y="633312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2025" lIns="122025" spcFirstLastPara="1" rIns="122025" wrap="square" tIns="1220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" name="Google Shape;206;p1"/>
          <p:cNvSpPr txBox="1"/>
          <p:nvPr/>
        </p:nvSpPr>
        <p:spPr>
          <a:xfrm>
            <a:off x="914400" y="2770632"/>
            <a:ext cx="100584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18A999"/>
                </a:solidFill>
                <a:latin typeface="Arial"/>
                <a:ea typeface="Arial"/>
                <a:cs typeface="Arial"/>
                <a:sym typeface="Arial"/>
              </a:rPr>
              <a:t>1. When linear regression is not enough</a:t>
            </a:r>
            <a:endParaRPr b="0" i="0" sz="1800" u="none" cap="none" strike="noStrike">
              <a:solidFill>
                <a:srgbClr val="18A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"/>
          <p:cNvSpPr txBox="1"/>
          <p:nvPr/>
        </p:nvSpPr>
        <p:spPr>
          <a:xfrm>
            <a:off x="914400" y="3264408"/>
            <a:ext cx="1005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7191"/>
                </a:solidFill>
                <a:latin typeface="Arial"/>
                <a:ea typeface="Arial"/>
                <a:cs typeface="Arial"/>
                <a:sym typeface="Arial"/>
              </a:rPr>
              <a:t>A straight line is just a modelling assumption.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8" name="Google Shape;20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0825" y="2062158"/>
            <a:ext cx="4857750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lang="en-US"/>
              <a:t>/</a:t>
            </a:r>
            <a:r>
              <a:rPr lang="en-US"/>
              <a:t>42</a:t>
            </a:r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4" name="Google Shape;214;p2"/>
          <p:cNvSpPr txBox="1"/>
          <p:nvPr/>
        </p:nvSpPr>
        <p:spPr>
          <a:xfrm>
            <a:off x="1603655" y="748918"/>
            <a:ext cx="1042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7191"/>
                </a:solidFill>
                <a:latin typeface="Arial"/>
                <a:ea typeface="Arial"/>
                <a:cs typeface="Arial"/>
                <a:sym typeface="Arial"/>
              </a:rPr>
              <a:t>Many biological (and other) relationships are nonlinear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"/>
          <p:cNvSpPr txBox="1"/>
          <p:nvPr/>
        </p:nvSpPr>
        <p:spPr>
          <a:xfrm>
            <a:off x="877824" y="1828800"/>
            <a:ext cx="3102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7191"/>
                </a:solidFill>
                <a:latin typeface="Arial"/>
                <a:ea typeface="Arial"/>
                <a:cs typeface="Arial"/>
                <a:sym typeface="Arial"/>
              </a:rPr>
              <a:t>Dose–response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"/>
          <p:cNvSpPr txBox="1"/>
          <p:nvPr/>
        </p:nvSpPr>
        <p:spPr>
          <a:xfrm>
            <a:off x="877824" y="2258568"/>
            <a:ext cx="3102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273139"/>
                </a:solidFill>
                <a:latin typeface="Arial"/>
                <a:ea typeface="Arial"/>
                <a:cs typeface="Arial"/>
                <a:sym typeface="Arial"/>
              </a:rPr>
              <a:t>Saturation, thresholds and sigmoidal responses.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"/>
          <p:cNvSpPr txBox="1"/>
          <p:nvPr/>
        </p:nvSpPr>
        <p:spPr>
          <a:xfrm>
            <a:off x="4529328" y="1828800"/>
            <a:ext cx="3102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B6CB0"/>
                </a:solidFill>
                <a:latin typeface="Arial"/>
                <a:ea typeface="Arial"/>
                <a:cs typeface="Arial"/>
                <a:sym typeface="Arial"/>
              </a:rPr>
              <a:t>Growth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"/>
          <p:cNvSpPr txBox="1"/>
          <p:nvPr/>
        </p:nvSpPr>
        <p:spPr>
          <a:xfrm>
            <a:off x="4529328" y="2258568"/>
            <a:ext cx="3102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273139"/>
                </a:solidFill>
                <a:latin typeface="Arial"/>
                <a:ea typeface="Arial"/>
                <a:cs typeface="Arial"/>
                <a:sym typeface="Arial"/>
              </a:rPr>
              <a:t>Acceleration followed by a plateau or carrying capacity.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"/>
          <p:cNvSpPr txBox="1"/>
          <p:nvPr/>
        </p:nvSpPr>
        <p:spPr>
          <a:xfrm>
            <a:off x="8180832" y="1828800"/>
            <a:ext cx="3102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DC9123"/>
                </a:solidFill>
                <a:latin typeface="Arial"/>
                <a:ea typeface="Arial"/>
                <a:cs typeface="Arial"/>
                <a:sym typeface="Arial"/>
              </a:rPr>
              <a:t>Physiology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2"/>
          <p:cNvSpPr txBox="1"/>
          <p:nvPr/>
        </p:nvSpPr>
        <p:spPr>
          <a:xfrm>
            <a:off x="8180832" y="2258568"/>
            <a:ext cx="3102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273139"/>
                </a:solidFill>
                <a:latin typeface="Arial"/>
                <a:ea typeface="Arial"/>
                <a:cs typeface="Arial"/>
                <a:sym typeface="Arial"/>
              </a:rPr>
              <a:t>Optimal ranges, U-shaped and threshold effects.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1" name="Google Shape;221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79165" y="3148174"/>
            <a:ext cx="4417259" cy="278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3250049"/>
            <a:ext cx="5171800" cy="2785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lang="en-US"/>
              <a:t>/</a:t>
            </a:r>
            <a:r>
              <a:rPr lang="en-US"/>
              <a:t>42</a:t>
            </a:r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8" name="Google Shape;228;p3"/>
          <p:cNvSpPr txBox="1"/>
          <p:nvPr/>
        </p:nvSpPr>
        <p:spPr>
          <a:xfrm>
            <a:off x="1904130" y="344593"/>
            <a:ext cx="1042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7191"/>
                </a:solidFill>
                <a:latin typeface="Arial"/>
                <a:ea typeface="Arial"/>
                <a:cs typeface="Arial"/>
                <a:sym typeface="Arial"/>
              </a:rPr>
              <a:t>Residual diagnostic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3"/>
          <p:cNvSpPr txBox="1"/>
          <p:nvPr/>
        </p:nvSpPr>
        <p:spPr>
          <a:xfrm>
            <a:off x="614804" y="2156718"/>
            <a:ext cx="478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0" name="Google Shape;23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09150" y="893850"/>
            <a:ext cx="5543526" cy="5543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5"/>
          <p:cNvSpPr txBox="1"/>
          <p:nvPr>
            <p:ph idx="12" type="sldNum"/>
          </p:nvPr>
        </p:nvSpPr>
        <p:spPr>
          <a:xfrm>
            <a:off x="11375123" y="644627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2025" lIns="122025" spcFirstLastPara="1" rIns="122025" wrap="square" tIns="1220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6" name="Google Shape;236;p5"/>
          <p:cNvSpPr txBox="1"/>
          <p:nvPr/>
        </p:nvSpPr>
        <p:spPr>
          <a:xfrm>
            <a:off x="914400" y="2770625"/>
            <a:ext cx="60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18A999"/>
                </a:solidFill>
                <a:latin typeface="Arial"/>
                <a:ea typeface="Arial"/>
                <a:cs typeface="Arial"/>
                <a:sym typeface="Arial"/>
              </a:rPr>
              <a:t>2. Polynomial regression</a:t>
            </a:r>
            <a:endParaRPr b="0" i="0" sz="1700" u="none" cap="none" strike="noStrike">
              <a:solidFill>
                <a:srgbClr val="18A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5"/>
          <p:cNvSpPr txBox="1"/>
          <p:nvPr/>
        </p:nvSpPr>
        <p:spPr>
          <a:xfrm>
            <a:off x="914400" y="3264400"/>
            <a:ext cx="605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7191"/>
                </a:solidFill>
                <a:latin typeface="Arial"/>
                <a:ea typeface="Arial"/>
                <a:cs typeface="Arial"/>
                <a:sym typeface="Arial"/>
              </a:rPr>
              <a:t>A linear model can learn nonlinear relationships after feature transformation.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8" name="Google Shape;2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2200" y="1335375"/>
            <a:ext cx="5509774" cy="3865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6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lang="en-US"/>
              <a:t>/</a:t>
            </a:r>
            <a:r>
              <a:rPr lang="en-US"/>
              <a:t>42</a:t>
            </a:r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4" name="Google Shape;244;p6"/>
          <p:cNvSpPr txBox="1"/>
          <p:nvPr/>
        </p:nvSpPr>
        <p:spPr>
          <a:xfrm>
            <a:off x="1389255" y="701918"/>
            <a:ext cx="1042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7191"/>
                </a:solidFill>
                <a:latin typeface="Arial"/>
                <a:ea typeface="Arial"/>
                <a:cs typeface="Arial"/>
                <a:sym typeface="Arial"/>
              </a:rPr>
              <a:t>Add nonlinear features, keep a linear model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6"/>
          <p:cNvSpPr txBox="1"/>
          <p:nvPr/>
        </p:nvSpPr>
        <p:spPr>
          <a:xfrm>
            <a:off x="1865153" y="1411607"/>
            <a:ext cx="8284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rgbClr val="007191"/>
                </a:solidFill>
                <a:latin typeface="Arial"/>
                <a:ea typeface="Arial"/>
                <a:cs typeface="Arial"/>
                <a:sym typeface="Arial"/>
              </a:rPr>
              <a:t>ŷ = β₀ + β₁x + β₂x²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6" name="Google Shape;24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8100" y="2040497"/>
            <a:ext cx="8284500" cy="414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7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lang="en-US"/>
              <a:t>/</a:t>
            </a:r>
            <a:r>
              <a:rPr lang="en-US"/>
              <a:t>42</a:t>
            </a:r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2" name="Google Shape;252;p7"/>
          <p:cNvSpPr txBox="1"/>
          <p:nvPr/>
        </p:nvSpPr>
        <p:spPr>
          <a:xfrm>
            <a:off x="1767880" y="669693"/>
            <a:ext cx="1042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7191"/>
                </a:solidFill>
                <a:latin typeface="Arial"/>
                <a:ea typeface="Arial"/>
                <a:cs typeface="Arial"/>
                <a:sym typeface="Arial"/>
              </a:rPr>
              <a:t>Polynomial degree controls flexibility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7"/>
          <p:cNvSpPr txBox="1"/>
          <p:nvPr/>
        </p:nvSpPr>
        <p:spPr>
          <a:xfrm>
            <a:off x="893036" y="1285600"/>
            <a:ext cx="3102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B6CB0"/>
                </a:solidFill>
                <a:latin typeface="Arial"/>
                <a:ea typeface="Arial"/>
                <a:cs typeface="Arial"/>
                <a:sym typeface="Arial"/>
              </a:rPr>
              <a:t>Degree 1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7"/>
          <p:cNvSpPr txBox="1"/>
          <p:nvPr/>
        </p:nvSpPr>
        <p:spPr>
          <a:xfrm>
            <a:off x="893036" y="1715368"/>
            <a:ext cx="3102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273139"/>
                </a:solidFill>
                <a:latin typeface="Arial"/>
                <a:ea typeface="Arial"/>
                <a:cs typeface="Arial"/>
                <a:sym typeface="Arial"/>
              </a:rPr>
              <a:t>Straight line — often underfits curved relationships.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7"/>
          <p:cNvSpPr txBox="1"/>
          <p:nvPr/>
        </p:nvSpPr>
        <p:spPr>
          <a:xfrm>
            <a:off x="4544541" y="1285600"/>
            <a:ext cx="3102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7191"/>
                </a:solidFill>
                <a:latin typeface="Arial"/>
                <a:ea typeface="Arial"/>
                <a:cs typeface="Arial"/>
                <a:sym typeface="Arial"/>
              </a:rPr>
              <a:t>Degree 2–3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7"/>
          <p:cNvSpPr txBox="1"/>
          <p:nvPr/>
        </p:nvSpPr>
        <p:spPr>
          <a:xfrm>
            <a:off x="4544541" y="1715368"/>
            <a:ext cx="3102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273139"/>
                </a:solidFill>
                <a:latin typeface="Arial"/>
                <a:ea typeface="Arial"/>
                <a:cs typeface="Arial"/>
                <a:sym typeface="Arial"/>
              </a:rPr>
              <a:t>Smooth curvature with moderate flexibility.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7"/>
          <p:cNvSpPr txBox="1"/>
          <p:nvPr/>
        </p:nvSpPr>
        <p:spPr>
          <a:xfrm>
            <a:off x="8196045" y="1285600"/>
            <a:ext cx="3102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BE4646"/>
                </a:solidFill>
                <a:latin typeface="Arial"/>
                <a:ea typeface="Arial"/>
                <a:cs typeface="Arial"/>
                <a:sym typeface="Arial"/>
              </a:rPr>
              <a:t>High degree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7"/>
          <p:cNvSpPr txBox="1"/>
          <p:nvPr/>
        </p:nvSpPr>
        <p:spPr>
          <a:xfrm>
            <a:off x="8196045" y="1715368"/>
            <a:ext cx="3102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273139"/>
                </a:solidFill>
                <a:latin typeface="Arial"/>
                <a:ea typeface="Arial"/>
                <a:cs typeface="Arial"/>
                <a:sym typeface="Arial"/>
              </a:rPr>
              <a:t>Can follow noise and become unstable.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9" name="Google Shape;259;p7"/>
          <p:cNvPicPr preferRelativeResize="0"/>
          <p:nvPr/>
        </p:nvPicPr>
        <p:blipFill rotWithShape="1">
          <a:blip r:embed="rId3">
            <a:alphaModFix/>
          </a:blip>
          <a:srcRect b="7390" l="0" r="0" t="0"/>
          <a:stretch/>
        </p:blipFill>
        <p:spPr>
          <a:xfrm>
            <a:off x="152400" y="2421874"/>
            <a:ext cx="11887176" cy="301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0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lang="en-US"/>
              <a:t>/</a:t>
            </a:r>
            <a:r>
              <a:rPr lang="en-US"/>
              <a:t>42</a:t>
            </a:r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5" name="Google Shape;265;p10"/>
          <p:cNvSpPr txBox="1"/>
          <p:nvPr/>
        </p:nvSpPr>
        <p:spPr>
          <a:xfrm>
            <a:off x="1887205" y="669668"/>
            <a:ext cx="1042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7191"/>
                </a:solidFill>
                <a:latin typeface="Arial"/>
                <a:ea typeface="Arial"/>
                <a:cs typeface="Arial"/>
                <a:sym typeface="Arial"/>
              </a:rPr>
              <a:t>Polynomial regression: limitations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0"/>
          <p:cNvSpPr txBox="1"/>
          <p:nvPr/>
        </p:nvSpPr>
        <p:spPr>
          <a:xfrm>
            <a:off x="823875" y="1317750"/>
            <a:ext cx="6113400" cy="1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73139"/>
                </a:solidFill>
                <a:latin typeface="Arial"/>
                <a:ea typeface="Arial"/>
                <a:cs typeface="Arial"/>
                <a:sym typeface="Arial"/>
              </a:rPr>
              <a:t>• Degree and included terms are chosen by the analyst.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73139"/>
                </a:solidFill>
                <a:latin typeface="Arial"/>
                <a:ea typeface="Arial"/>
                <a:cs typeface="Arial"/>
                <a:sym typeface="Arial"/>
              </a:rPr>
              <a:t>• Feature count grows rapidly with predictors and degree.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73139"/>
                </a:solidFill>
                <a:latin typeface="Arial"/>
                <a:ea typeface="Arial"/>
                <a:cs typeface="Arial"/>
                <a:sym typeface="Arial"/>
              </a:rPr>
              <a:t>• High-degree models extrapolate poorly.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73139"/>
                </a:solidFill>
                <a:latin typeface="Arial"/>
                <a:ea typeface="Arial"/>
                <a:cs typeface="Arial"/>
                <a:sym typeface="Arial"/>
              </a:rPr>
              <a:t>• A good polynomial fit does not imply a biological mechanism.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73139"/>
                </a:solidFill>
                <a:latin typeface="Arial"/>
                <a:ea typeface="Arial"/>
                <a:cs typeface="Arial"/>
                <a:sym typeface="Arial"/>
              </a:rPr>
              <a:t>• Train/test evaluation remains essential.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7" name="Google Shape;26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5425" y="3052050"/>
            <a:ext cx="9398973" cy="345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1"/>
          <p:cNvSpPr txBox="1"/>
          <p:nvPr>
            <p:ph idx="12" type="sldNum"/>
          </p:nvPr>
        </p:nvSpPr>
        <p:spPr>
          <a:xfrm>
            <a:off x="11409073" y="633312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2025" lIns="122025" spcFirstLastPara="1" rIns="122025" wrap="square" tIns="1220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3" name="Google Shape;273;p11"/>
          <p:cNvSpPr txBox="1"/>
          <p:nvPr/>
        </p:nvSpPr>
        <p:spPr>
          <a:xfrm>
            <a:off x="914400" y="2770632"/>
            <a:ext cx="10058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7191"/>
                </a:solidFill>
                <a:latin typeface="Arial"/>
                <a:ea typeface="Arial"/>
                <a:cs typeface="Arial"/>
                <a:sym typeface="Arial"/>
              </a:rPr>
              <a:t>3. Symbolic regression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1"/>
          <p:cNvSpPr txBox="1"/>
          <p:nvPr/>
        </p:nvSpPr>
        <p:spPr>
          <a:xfrm>
            <a:off x="914400" y="3264408"/>
            <a:ext cx="10058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7191"/>
                </a:solidFill>
                <a:latin typeface="Arial"/>
                <a:ea typeface="Arial"/>
                <a:cs typeface="Arial"/>
                <a:sym typeface="Arial"/>
              </a:rPr>
              <a:t>What if the mathematical form itself is unknown?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5" name="Google Shape;27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87225" y="2159906"/>
            <a:ext cx="2904744" cy="2904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2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lang="en-US"/>
              <a:t>/</a:t>
            </a:r>
            <a:r>
              <a:rPr lang="en-US"/>
              <a:t>42</a:t>
            </a:r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2"/>
          <p:cNvSpPr txBox="1"/>
          <p:nvPr/>
        </p:nvSpPr>
        <p:spPr>
          <a:xfrm>
            <a:off x="1943780" y="658368"/>
            <a:ext cx="1042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7191"/>
                </a:solidFill>
                <a:latin typeface="Arial"/>
                <a:ea typeface="Arial"/>
                <a:cs typeface="Arial"/>
                <a:sym typeface="Arial"/>
              </a:rPr>
              <a:t>Polynomial versus symbolic regression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2"/>
          <p:cNvSpPr txBox="1"/>
          <p:nvPr/>
        </p:nvSpPr>
        <p:spPr>
          <a:xfrm>
            <a:off x="923544" y="1828800"/>
            <a:ext cx="478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7191"/>
                </a:solidFill>
                <a:latin typeface="Arial"/>
                <a:ea typeface="Arial"/>
                <a:cs typeface="Arial"/>
                <a:sym typeface="Arial"/>
              </a:rPr>
              <a:t>Polynomial regression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2"/>
          <p:cNvSpPr txBox="1"/>
          <p:nvPr/>
        </p:nvSpPr>
        <p:spPr>
          <a:xfrm>
            <a:off x="923544" y="2258568"/>
            <a:ext cx="4782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73139"/>
                </a:solidFill>
                <a:latin typeface="Arial"/>
                <a:ea typeface="Arial"/>
                <a:cs typeface="Arial"/>
                <a:sym typeface="Arial"/>
              </a:rPr>
              <a:t>We choose the equation structure and algorithm estimates coefficients.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2"/>
          <p:cNvSpPr txBox="1"/>
          <p:nvPr/>
        </p:nvSpPr>
        <p:spPr>
          <a:xfrm>
            <a:off x="6318504" y="1828800"/>
            <a:ext cx="478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B6CB0"/>
                </a:solidFill>
                <a:latin typeface="Arial"/>
                <a:ea typeface="Arial"/>
                <a:cs typeface="Arial"/>
                <a:sym typeface="Arial"/>
              </a:rPr>
              <a:t>Symbolic regression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2"/>
          <p:cNvSpPr txBox="1"/>
          <p:nvPr/>
        </p:nvSpPr>
        <p:spPr>
          <a:xfrm>
            <a:off x="6318504" y="2258568"/>
            <a:ext cx="4782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73139"/>
                </a:solidFill>
                <a:latin typeface="Arial"/>
                <a:ea typeface="Arial"/>
                <a:cs typeface="Arial"/>
                <a:sym typeface="Arial"/>
              </a:rPr>
              <a:t>The algorithm searches expression structure and numerical constants.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2"/>
          <p:cNvSpPr txBox="1"/>
          <p:nvPr/>
        </p:nvSpPr>
        <p:spPr>
          <a:xfrm>
            <a:off x="-590574" y="2904050"/>
            <a:ext cx="5886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rgbClr val="007191"/>
                </a:solidFill>
                <a:latin typeface="Arial"/>
                <a:ea typeface="Arial"/>
                <a:cs typeface="Arial"/>
                <a:sym typeface="Arial"/>
              </a:rPr>
              <a:t>ŷ = β₀ + β₁x + β₂x²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2"/>
          <p:cNvSpPr txBox="1"/>
          <p:nvPr/>
        </p:nvSpPr>
        <p:spPr>
          <a:xfrm>
            <a:off x="6399275" y="2857850"/>
            <a:ext cx="41142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07191"/>
                </a:solidFill>
              </a:rPr>
              <a:t>ŷ = β₀ + 3sin(x) + 0.5x²</a:t>
            </a:r>
            <a:endParaRPr/>
          </a:p>
        </p:txBody>
      </p:sp>
      <p:pic>
        <p:nvPicPr>
          <p:cNvPr id="288" name="Google Shape;2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9350" y="3396650"/>
            <a:ext cx="8251290" cy="3110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3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lang="en-US"/>
              <a:t>/</a:t>
            </a:r>
            <a:r>
              <a:rPr lang="en-US"/>
              <a:t>42</a:t>
            </a:r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4" name="Google Shape;294;p13"/>
          <p:cNvSpPr txBox="1"/>
          <p:nvPr/>
        </p:nvSpPr>
        <p:spPr>
          <a:xfrm>
            <a:off x="1767880" y="690443"/>
            <a:ext cx="1042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7191"/>
                </a:solidFill>
                <a:latin typeface="Arial"/>
                <a:ea typeface="Arial"/>
                <a:cs typeface="Arial"/>
                <a:sym typeface="Arial"/>
              </a:rPr>
              <a:t>Searching a space of equations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3"/>
          <p:cNvSpPr txBox="1"/>
          <p:nvPr/>
        </p:nvSpPr>
        <p:spPr>
          <a:xfrm>
            <a:off x="405150" y="1476175"/>
            <a:ext cx="4234800" cy="23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73139"/>
                </a:solidFill>
                <a:latin typeface="Arial"/>
                <a:ea typeface="Arial"/>
                <a:cs typeface="Arial"/>
                <a:sym typeface="Arial"/>
              </a:rPr>
              <a:t>• Candidate operators may include +, −, ×, ÷, powers, log, exp or trigonometric functions.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73139"/>
                </a:solidFill>
                <a:latin typeface="Arial"/>
                <a:ea typeface="Arial"/>
                <a:cs typeface="Arial"/>
                <a:sym typeface="Arial"/>
              </a:rPr>
              <a:t>• Each candidate equation is evaluated on predictive error.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73139"/>
                </a:solidFill>
                <a:latin typeface="Arial"/>
                <a:ea typeface="Arial"/>
                <a:cs typeface="Arial"/>
                <a:sym typeface="Arial"/>
              </a:rPr>
              <a:t>• Complexity must also be penalized or constrained.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73139"/>
                </a:solidFill>
                <a:latin typeface="Arial"/>
                <a:ea typeface="Arial"/>
                <a:cs typeface="Arial"/>
                <a:sym typeface="Arial"/>
              </a:rPr>
              <a:t>• The result can be an explicit human-readable equation.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6" name="Google Shape;29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30100" y="1225350"/>
            <a:ext cx="6288124" cy="527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5"/>
          <p:cNvSpPr txBox="1"/>
          <p:nvPr>
            <p:ph idx="12" type="sldNum"/>
          </p:nvPr>
        </p:nvSpPr>
        <p:spPr>
          <a:xfrm>
            <a:off x="11409592" y="642413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lang="en-US"/>
              <a:t>/</a:t>
            </a:r>
            <a:r>
              <a:rPr lang="en-US"/>
              <a:t>42</a:t>
            </a:r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2" name="Google Shape;302;p15"/>
          <p:cNvSpPr txBox="1"/>
          <p:nvPr/>
        </p:nvSpPr>
        <p:spPr>
          <a:xfrm>
            <a:off x="2305930" y="409393"/>
            <a:ext cx="1042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7191"/>
                </a:solidFill>
                <a:latin typeface="Arial"/>
                <a:ea typeface="Arial"/>
                <a:cs typeface="Arial"/>
                <a:sym typeface="Arial"/>
              </a:rPr>
              <a:t>Why use symbolic regression?</a:t>
            </a:r>
            <a:endParaRPr sz="2400">
              <a:solidFill>
                <a:srgbClr val="007191"/>
              </a:solidFill>
            </a:endParaRPr>
          </a:p>
        </p:txBody>
      </p:sp>
      <p:pic>
        <p:nvPicPr>
          <p:cNvPr id="303" name="Google Shape;303;p15"/>
          <p:cNvPicPr preferRelativeResize="0"/>
          <p:nvPr/>
        </p:nvPicPr>
        <p:blipFill rotWithShape="1">
          <a:blip r:embed="rId3">
            <a:alphaModFix/>
          </a:blip>
          <a:srcRect b="6189" l="0" r="0" t="5393"/>
          <a:stretch/>
        </p:blipFill>
        <p:spPr>
          <a:xfrm>
            <a:off x="361375" y="1393438"/>
            <a:ext cx="11887176" cy="3925787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15"/>
          <p:cNvSpPr txBox="1"/>
          <p:nvPr/>
        </p:nvSpPr>
        <p:spPr>
          <a:xfrm>
            <a:off x="959648" y="5616691"/>
            <a:ext cx="10119300" cy="2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273139"/>
                </a:solidFill>
                <a:latin typeface="Arial"/>
                <a:ea typeface="Arial"/>
                <a:cs typeface="Arial"/>
                <a:sym typeface="Arial"/>
              </a:rPr>
              <a:t>Interpretable does not mean mechanistic</a:t>
            </a:r>
            <a:r>
              <a:rPr lang="en-US">
                <a:solidFill>
                  <a:srgbClr val="273139"/>
                </a:solidFill>
              </a:rPr>
              <a:t> - still no causal discovery</a:t>
            </a:r>
            <a:r>
              <a:rPr b="0" i="0" lang="en-US" u="none" cap="none" strike="noStrike">
                <a:solidFill>
                  <a:srgbClr val="27313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7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6"/>
          <p:cNvSpPr txBox="1"/>
          <p:nvPr>
            <p:ph idx="12" type="sldNum"/>
          </p:nvPr>
        </p:nvSpPr>
        <p:spPr>
          <a:xfrm>
            <a:off x="11409073" y="633312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2025" lIns="122025" spcFirstLastPara="1" rIns="122025" wrap="square" tIns="1220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0" name="Google Shape;310;p16"/>
          <p:cNvSpPr txBox="1"/>
          <p:nvPr/>
        </p:nvSpPr>
        <p:spPr>
          <a:xfrm>
            <a:off x="914400" y="2736682"/>
            <a:ext cx="1005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18A999"/>
                </a:solidFill>
                <a:latin typeface="Arial"/>
                <a:ea typeface="Arial"/>
                <a:cs typeface="Arial"/>
                <a:sym typeface="Arial"/>
              </a:rPr>
              <a:t>4. Regression zoo</a:t>
            </a:r>
            <a:endParaRPr b="0" i="0" sz="1700" u="none" cap="none" strike="noStrike">
              <a:solidFill>
                <a:srgbClr val="18A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6"/>
          <p:cNvSpPr txBox="1"/>
          <p:nvPr/>
        </p:nvSpPr>
        <p:spPr>
          <a:xfrm>
            <a:off x="914400" y="3264408"/>
            <a:ext cx="10058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7191"/>
                </a:solidFill>
                <a:latin typeface="Arial"/>
                <a:ea typeface="Arial"/>
                <a:cs typeface="Arial"/>
                <a:sym typeface="Arial"/>
              </a:rPr>
              <a:t>Less-common regression methods worth recognizing.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2" name="Google Shape;31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1577" y="1450850"/>
            <a:ext cx="3670400" cy="367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7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lang="en-US"/>
              <a:t>/</a:t>
            </a:r>
            <a:r>
              <a:rPr lang="en-US"/>
              <a:t>42</a:t>
            </a:r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8" name="Google Shape;318;p17"/>
          <p:cNvSpPr txBox="1"/>
          <p:nvPr/>
        </p:nvSpPr>
        <p:spPr>
          <a:xfrm>
            <a:off x="1819305" y="658368"/>
            <a:ext cx="1042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7191"/>
                </a:solidFill>
                <a:latin typeface="Arial"/>
                <a:ea typeface="Arial"/>
                <a:cs typeface="Arial"/>
                <a:sym typeface="Arial"/>
              </a:rPr>
              <a:t>A map of regression families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7"/>
          <p:cNvSpPr txBox="1"/>
          <p:nvPr/>
        </p:nvSpPr>
        <p:spPr>
          <a:xfrm>
            <a:off x="877824" y="1828800"/>
            <a:ext cx="3102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07191"/>
                </a:solidFill>
                <a:latin typeface="Arial"/>
                <a:ea typeface="Arial"/>
                <a:cs typeface="Arial"/>
                <a:sym typeface="Arial"/>
              </a:rPr>
              <a:t>Basis/Regions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7"/>
          <p:cNvSpPr txBox="1"/>
          <p:nvPr/>
        </p:nvSpPr>
        <p:spPr>
          <a:xfrm>
            <a:off x="877824" y="2258568"/>
            <a:ext cx="3102900" cy="14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273139"/>
                </a:solidFill>
                <a:latin typeface="Arial"/>
                <a:ea typeface="Arial"/>
                <a:cs typeface="Arial"/>
                <a:sym typeface="Arial"/>
              </a:rPr>
              <a:t>Splines · MARS · GAM · LOESS</a:t>
            </a:r>
            <a:endParaRPr b="0" i="0" sz="1700" u="none" cap="none" strike="noStrike">
              <a:solidFill>
                <a:srgbClr val="27313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27313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27313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273139"/>
                </a:solidFill>
                <a:latin typeface="Arial"/>
                <a:ea typeface="Arial"/>
                <a:cs typeface="Arial"/>
                <a:sym typeface="Arial"/>
              </a:rPr>
              <a:t>If you want </a:t>
            </a:r>
            <a:r>
              <a:rPr lang="en-US" sz="1700">
                <a:solidFill>
                  <a:srgbClr val="273139"/>
                </a:solidFill>
              </a:rPr>
              <a:t>curvature</a:t>
            </a:r>
            <a:r>
              <a:rPr b="0" i="0" lang="en-US" sz="1700" u="none" cap="none" strike="noStrike">
                <a:solidFill>
                  <a:srgbClr val="27313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700" u="none" cap="none" strike="noStrike">
              <a:solidFill>
                <a:srgbClr val="27313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7"/>
          <p:cNvSpPr txBox="1"/>
          <p:nvPr/>
        </p:nvSpPr>
        <p:spPr>
          <a:xfrm>
            <a:off x="4529328" y="1828800"/>
            <a:ext cx="3102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lang="en-US" sz="1900">
                <a:solidFill>
                  <a:srgbClr val="2B6CB0"/>
                </a:solidFill>
              </a:rPr>
              <a:t>Representation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7"/>
          <p:cNvSpPr txBox="1"/>
          <p:nvPr/>
        </p:nvSpPr>
        <p:spPr>
          <a:xfrm>
            <a:off x="4529328" y="2258568"/>
            <a:ext cx="3102900" cy="16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273139"/>
                </a:solidFill>
                <a:latin typeface="Arial"/>
                <a:ea typeface="Arial"/>
                <a:cs typeface="Arial"/>
                <a:sym typeface="Arial"/>
              </a:rPr>
              <a:t>Robust · Quantile · Poisson · NB</a:t>
            </a:r>
            <a:endParaRPr b="0" i="0" sz="1700" u="none" cap="none" strike="noStrike">
              <a:solidFill>
                <a:srgbClr val="27313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27313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27313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273139"/>
                </a:solidFill>
                <a:latin typeface="Arial"/>
                <a:ea typeface="Arial"/>
                <a:cs typeface="Arial"/>
                <a:sym typeface="Arial"/>
              </a:rPr>
              <a:t>If you deal with something different from mean</a:t>
            </a:r>
            <a:endParaRPr b="0" i="0" sz="1700" u="none" cap="none" strike="noStrike">
              <a:solidFill>
                <a:srgbClr val="27313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7"/>
          <p:cNvSpPr txBox="1"/>
          <p:nvPr/>
        </p:nvSpPr>
        <p:spPr>
          <a:xfrm>
            <a:off x="8180832" y="1828800"/>
            <a:ext cx="3102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DC9123"/>
                </a:solidFill>
                <a:latin typeface="Arial"/>
                <a:ea typeface="Arial"/>
                <a:cs typeface="Arial"/>
                <a:sym typeface="Arial"/>
              </a:rPr>
              <a:t>Structure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7"/>
          <p:cNvSpPr txBox="1"/>
          <p:nvPr/>
        </p:nvSpPr>
        <p:spPr>
          <a:xfrm>
            <a:off x="8180832" y="2258568"/>
            <a:ext cx="3102900" cy="19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273139"/>
                </a:solidFill>
                <a:latin typeface="Arial"/>
                <a:ea typeface="Arial"/>
                <a:cs typeface="Arial"/>
                <a:sym typeface="Arial"/>
              </a:rPr>
              <a:t>Mixed effects · Survival · GP · Bayesian</a:t>
            </a:r>
            <a:endParaRPr b="0" i="0" sz="1700" u="none" cap="none" strike="noStrike">
              <a:solidFill>
                <a:srgbClr val="27313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27313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27313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273139"/>
                </a:solidFill>
                <a:latin typeface="Arial"/>
                <a:ea typeface="Arial"/>
                <a:cs typeface="Arial"/>
                <a:sym typeface="Arial"/>
              </a:rPr>
              <a:t>If your experimental design was awful</a:t>
            </a:r>
            <a:endParaRPr b="0" i="0" sz="1700" u="none" cap="none" strike="noStrike">
              <a:solidFill>
                <a:srgbClr val="27313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27313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8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lang="en-US"/>
              <a:t>/</a:t>
            </a:r>
            <a:r>
              <a:rPr lang="en-US"/>
              <a:t>42</a:t>
            </a:r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0" name="Google Shape;330;p18"/>
          <p:cNvSpPr txBox="1"/>
          <p:nvPr/>
        </p:nvSpPr>
        <p:spPr>
          <a:xfrm>
            <a:off x="1767805" y="647043"/>
            <a:ext cx="1042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7191"/>
                </a:solidFill>
                <a:latin typeface="Arial"/>
                <a:ea typeface="Arial"/>
                <a:cs typeface="Arial"/>
                <a:sym typeface="Arial"/>
              </a:rPr>
              <a:t>Splines bend the model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8"/>
          <p:cNvSpPr txBox="1"/>
          <p:nvPr/>
        </p:nvSpPr>
        <p:spPr>
          <a:xfrm>
            <a:off x="903144" y="1647725"/>
            <a:ext cx="4782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7191"/>
                </a:solidFill>
                <a:latin typeface="Arial"/>
                <a:ea typeface="Arial"/>
                <a:cs typeface="Arial"/>
                <a:sym typeface="Arial"/>
              </a:rPr>
              <a:t>Idea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18"/>
          <p:cNvSpPr txBox="1"/>
          <p:nvPr/>
        </p:nvSpPr>
        <p:spPr>
          <a:xfrm>
            <a:off x="903153" y="2077500"/>
            <a:ext cx="7337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73139"/>
                </a:solidFill>
                <a:latin typeface="Arial"/>
                <a:ea typeface="Arial"/>
                <a:cs typeface="Arial"/>
                <a:sym typeface="Arial"/>
              </a:rPr>
              <a:t>Smooth curves are built from local basis functions joined at knots.</a:t>
            </a:r>
            <a:endParaRPr b="0" i="0" sz="1400" u="none" cap="none" strike="noStrike">
              <a:solidFill>
                <a:srgbClr val="27313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7313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73139"/>
                </a:solidFill>
                <a:latin typeface="Arial"/>
                <a:ea typeface="Arial"/>
                <a:cs typeface="Arial"/>
                <a:sym typeface="Arial"/>
              </a:rPr>
              <a:t>Growth curves, dose–response, age effects, physiological trajectories.</a:t>
            </a:r>
            <a:endParaRPr b="0" i="0" sz="1400" u="none" cap="none" strike="noStrike">
              <a:solidFill>
                <a:srgbClr val="27313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8"/>
          <p:cNvSpPr txBox="1"/>
          <p:nvPr/>
        </p:nvSpPr>
        <p:spPr>
          <a:xfrm>
            <a:off x="5605554" y="3096018"/>
            <a:ext cx="4782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4" name="Google Shape;33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46300" y="2907475"/>
            <a:ext cx="8847050" cy="347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9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lang="en-US"/>
              <a:t>/</a:t>
            </a:r>
            <a:r>
              <a:rPr lang="en-US"/>
              <a:t>42</a:t>
            </a:r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0" name="Google Shape;340;p19"/>
          <p:cNvSpPr txBox="1"/>
          <p:nvPr/>
        </p:nvSpPr>
        <p:spPr>
          <a:xfrm>
            <a:off x="1875855" y="658368"/>
            <a:ext cx="1042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7191"/>
                </a:solidFill>
                <a:latin typeface="Arial"/>
                <a:ea typeface="Arial"/>
                <a:cs typeface="Arial"/>
                <a:sym typeface="Arial"/>
              </a:rPr>
              <a:t>MARS -  Multivariate Adaptive Regression Splines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9"/>
          <p:cNvSpPr txBox="1"/>
          <p:nvPr/>
        </p:nvSpPr>
        <p:spPr>
          <a:xfrm>
            <a:off x="923544" y="1828800"/>
            <a:ext cx="478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7191"/>
                </a:solidFill>
                <a:latin typeface="Arial"/>
                <a:ea typeface="Arial"/>
                <a:cs typeface="Arial"/>
                <a:sym typeface="Arial"/>
              </a:rPr>
              <a:t>How it works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9"/>
          <p:cNvSpPr txBox="1"/>
          <p:nvPr/>
        </p:nvSpPr>
        <p:spPr>
          <a:xfrm>
            <a:off x="923544" y="2258568"/>
            <a:ext cx="47823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73139"/>
                </a:solidFill>
                <a:latin typeface="Arial"/>
                <a:ea typeface="Arial"/>
                <a:cs typeface="Arial"/>
                <a:sym typeface="Arial"/>
              </a:rPr>
              <a:t>Builds hinge functions such as max(0, x−t), chooses knots/interactions, then prunes terms.</a:t>
            </a:r>
            <a:endParaRPr b="0" i="0" sz="1600" u="none" cap="none" strike="noStrike">
              <a:solidFill>
                <a:srgbClr val="27313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27313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73139"/>
                </a:solidFill>
                <a:latin typeface="Arial"/>
                <a:ea typeface="Arial"/>
                <a:cs typeface="Arial"/>
                <a:sym typeface="Arial"/>
              </a:rPr>
              <a:t>QSAR, nonlinear biomarker effects, interaction screening, environmental exposure modelling.</a:t>
            </a:r>
            <a:endParaRPr b="0" i="0" sz="1600" u="none" cap="none" strike="noStrike">
              <a:solidFill>
                <a:srgbClr val="27313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9"/>
          <p:cNvSpPr txBox="1"/>
          <p:nvPr/>
        </p:nvSpPr>
        <p:spPr>
          <a:xfrm>
            <a:off x="6318504" y="2258568"/>
            <a:ext cx="478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4" name="Google Shape;344;p19"/>
          <p:cNvPicPr preferRelativeResize="0"/>
          <p:nvPr/>
        </p:nvPicPr>
        <p:blipFill rotWithShape="1">
          <a:blip r:embed="rId3">
            <a:alphaModFix/>
          </a:blip>
          <a:srcRect b="3659" l="1047" r="1067" t="11257"/>
          <a:stretch/>
        </p:blipFill>
        <p:spPr>
          <a:xfrm>
            <a:off x="471638" y="3712013"/>
            <a:ext cx="11248699" cy="266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0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lang="en-US"/>
              <a:t>/</a:t>
            </a:r>
            <a:r>
              <a:rPr lang="en-US"/>
              <a:t>42</a:t>
            </a:r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0" name="Google Shape;350;p20"/>
          <p:cNvSpPr txBox="1"/>
          <p:nvPr/>
        </p:nvSpPr>
        <p:spPr>
          <a:xfrm>
            <a:off x="2068255" y="522593"/>
            <a:ext cx="1042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7191"/>
                </a:solidFill>
                <a:latin typeface="Arial"/>
                <a:ea typeface="Arial"/>
                <a:cs typeface="Arial"/>
                <a:sym typeface="Arial"/>
              </a:rPr>
              <a:t>GAM - Generalized Additive Models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20"/>
          <p:cNvSpPr txBox="1"/>
          <p:nvPr/>
        </p:nvSpPr>
        <p:spPr>
          <a:xfrm>
            <a:off x="1953741" y="1453357"/>
            <a:ext cx="828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7191"/>
                </a:solidFill>
                <a:latin typeface="Arial"/>
                <a:ea typeface="Arial"/>
                <a:cs typeface="Arial"/>
                <a:sym typeface="Arial"/>
              </a:rPr>
              <a:t>g(E[Y]) = β₀ + f₁(x₁) + f₂(x₂) + … + fₚ(xₚ)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2" name="Google Shape;35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60575" y="1915050"/>
            <a:ext cx="8031834" cy="4522324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20"/>
          <p:cNvSpPr txBox="1"/>
          <p:nvPr/>
        </p:nvSpPr>
        <p:spPr>
          <a:xfrm>
            <a:off x="9034887" y="984290"/>
            <a:ext cx="3291900" cy="9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predictor gets its own smooth function.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Useful for age effects, dose–response and trajectories.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2"/>
          <p:cNvSpPr txBox="1"/>
          <p:nvPr/>
        </p:nvSpPr>
        <p:spPr>
          <a:xfrm>
            <a:off x="1864555" y="669693"/>
            <a:ext cx="1042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7191"/>
                </a:solidFill>
                <a:latin typeface="Arial"/>
                <a:ea typeface="Arial"/>
                <a:cs typeface="Arial"/>
                <a:sym typeface="Arial"/>
              </a:rPr>
              <a:t>LOESS / LOWESS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22"/>
          <p:cNvSpPr txBox="1"/>
          <p:nvPr/>
        </p:nvSpPr>
        <p:spPr>
          <a:xfrm>
            <a:off x="923544" y="1828800"/>
            <a:ext cx="4782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7191"/>
                </a:solidFill>
                <a:latin typeface="Arial"/>
                <a:ea typeface="Arial"/>
                <a:cs typeface="Arial"/>
                <a:sym typeface="Arial"/>
              </a:rPr>
              <a:t>Mechanism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22"/>
          <p:cNvSpPr txBox="1"/>
          <p:nvPr/>
        </p:nvSpPr>
        <p:spPr>
          <a:xfrm>
            <a:off x="923552" y="2258575"/>
            <a:ext cx="6341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273139"/>
                </a:solidFill>
                <a:latin typeface="Arial"/>
                <a:ea typeface="Arial"/>
                <a:cs typeface="Arial"/>
                <a:sym typeface="Arial"/>
              </a:rPr>
              <a:t>Fit a small weighted regression around each query point using nearby observations.</a:t>
            </a:r>
            <a:endParaRPr b="0" i="0" sz="1500" u="none" cap="none" strike="noStrike">
              <a:solidFill>
                <a:srgbClr val="27313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273139"/>
                </a:solidFill>
                <a:latin typeface="Arial"/>
                <a:ea typeface="Arial"/>
                <a:cs typeface="Arial"/>
                <a:sym typeface="Arial"/>
              </a:rPr>
              <a:t>Exploratory trend lines, expression time courses, assay calibration and visualization.</a:t>
            </a:r>
            <a:endParaRPr b="0" i="0" sz="1500" u="none" cap="none" strike="noStrike">
              <a:solidFill>
                <a:srgbClr val="27313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1" name="Google Shape;36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57050" y="3112125"/>
            <a:ext cx="8912650" cy="329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5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lang="en-US"/>
              <a:t>/</a:t>
            </a:r>
            <a:r>
              <a:rPr lang="en-US"/>
              <a:t>42</a:t>
            </a:r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7" name="Google Shape;367;p25"/>
          <p:cNvSpPr txBox="1"/>
          <p:nvPr/>
        </p:nvSpPr>
        <p:spPr>
          <a:xfrm>
            <a:off x="2034305" y="647043"/>
            <a:ext cx="1042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7191"/>
                </a:solidFill>
                <a:latin typeface="Arial"/>
                <a:ea typeface="Arial"/>
                <a:cs typeface="Arial"/>
                <a:sym typeface="Arial"/>
              </a:rPr>
              <a:t>Robust regression</a:t>
            </a:r>
            <a:r>
              <a:rPr lang="en-US" sz="2400">
                <a:solidFill>
                  <a:srgbClr val="007191"/>
                </a:solidFill>
              </a:rPr>
              <a:t> </a:t>
            </a:r>
            <a:r>
              <a:rPr b="0" i="0" lang="en-US" sz="2400" u="none" cap="none" strike="noStrike">
                <a:solidFill>
                  <a:srgbClr val="007191"/>
                </a:solidFill>
                <a:latin typeface="Arial"/>
                <a:ea typeface="Arial"/>
                <a:cs typeface="Arial"/>
                <a:sym typeface="Arial"/>
              </a:rPr>
              <a:t>when there are a lot </a:t>
            </a:r>
            <a:r>
              <a:rPr lang="en-US" sz="2400">
                <a:solidFill>
                  <a:srgbClr val="007191"/>
                </a:solidFill>
              </a:rPr>
              <a:t>of</a:t>
            </a:r>
            <a:r>
              <a:rPr b="0" i="0" lang="en-US" sz="2400" u="none" cap="none" strike="noStrike">
                <a:solidFill>
                  <a:srgbClr val="007191"/>
                </a:solidFill>
                <a:latin typeface="Arial"/>
                <a:ea typeface="Arial"/>
                <a:cs typeface="Arial"/>
                <a:sym typeface="Arial"/>
              </a:rPr>
              <a:t> outlier</a:t>
            </a:r>
            <a:r>
              <a:rPr lang="en-US" sz="2400">
                <a:solidFill>
                  <a:srgbClr val="007191"/>
                </a:solidFill>
              </a:rPr>
              <a:t>s</a:t>
            </a:r>
            <a:endParaRPr sz="2400">
              <a:solidFill>
                <a:srgbClr val="007191"/>
              </a:solidFill>
            </a:endParaRPr>
          </a:p>
        </p:txBody>
      </p:sp>
      <p:pic>
        <p:nvPicPr>
          <p:cNvPr id="368" name="Google Shape;36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4225" y="1271654"/>
            <a:ext cx="7637542" cy="51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25"/>
          <p:cNvSpPr txBox="1"/>
          <p:nvPr/>
        </p:nvSpPr>
        <p:spPr>
          <a:xfrm>
            <a:off x="8961101" y="1577340"/>
            <a:ext cx="268223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7191"/>
                </a:solidFill>
                <a:latin typeface="Arial"/>
                <a:ea typeface="Arial"/>
                <a:cs typeface="Arial"/>
                <a:sym typeface="Arial"/>
              </a:rPr>
              <a:t>OLS</a:t>
            </a:r>
            <a:endParaRPr/>
          </a:p>
        </p:txBody>
      </p:sp>
      <p:sp>
        <p:nvSpPr>
          <p:cNvPr id="370" name="Google Shape;370;p25"/>
          <p:cNvSpPr txBox="1"/>
          <p:nvPr/>
        </p:nvSpPr>
        <p:spPr>
          <a:xfrm>
            <a:off x="8961101" y="1954529"/>
            <a:ext cx="2682234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73139"/>
                </a:solidFill>
                <a:latin typeface="Arial"/>
                <a:ea typeface="Arial"/>
                <a:cs typeface="Arial"/>
                <a:sym typeface="Arial"/>
              </a:rPr>
              <a:t>Squared errors make extreme residuals very influential.</a:t>
            </a:r>
            <a:endParaRPr/>
          </a:p>
        </p:txBody>
      </p:sp>
      <p:sp>
        <p:nvSpPr>
          <p:cNvPr id="371" name="Google Shape;371;p25"/>
          <p:cNvSpPr txBox="1"/>
          <p:nvPr/>
        </p:nvSpPr>
        <p:spPr>
          <a:xfrm>
            <a:off x="8961101" y="2880360"/>
            <a:ext cx="268223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C9123"/>
                </a:solidFill>
                <a:latin typeface="Arial"/>
                <a:ea typeface="Arial"/>
                <a:cs typeface="Arial"/>
                <a:sym typeface="Arial"/>
              </a:rPr>
              <a:t>Robust alternatives</a:t>
            </a:r>
            <a:endParaRPr/>
          </a:p>
        </p:txBody>
      </p:sp>
      <p:sp>
        <p:nvSpPr>
          <p:cNvPr id="372" name="Google Shape;372;p25"/>
          <p:cNvSpPr txBox="1"/>
          <p:nvPr/>
        </p:nvSpPr>
        <p:spPr>
          <a:xfrm>
            <a:off x="8961101" y="3257550"/>
            <a:ext cx="26823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73139"/>
                </a:solidFill>
                <a:latin typeface="Arial"/>
                <a:ea typeface="Arial"/>
                <a:cs typeface="Arial"/>
                <a:sym typeface="Arial"/>
              </a:rPr>
              <a:t>Huber</a:t>
            </a:r>
            <a:r>
              <a:rPr b="0" i="0" lang="en-US" sz="1200" u="none" cap="none" strike="noStrike">
                <a:solidFill>
                  <a:srgbClr val="273139"/>
                </a:solidFill>
                <a:latin typeface="Arial"/>
                <a:ea typeface="Arial"/>
                <a:cs typeface="Arial"/>
                <a:sym typeface="Arial"/>
              </a:rPr>
              <a:t> / LAD(Least Absolute Deviations)</a:t>
            </a:r>
            <a:r>
              <a:rPr b="0" i="0" lang="en-US" sz="1200" u="none" cap="none" strike="noStrike">
                <a:solidFill>
                  <a:srgbClr val="273139"/>
                </a:solidFill>
                <a:latin typeface="Arial"/>
                <a:ea typeface="Arial"/>
                <a:cs typeface="Arial"/>
                <a:sym typeface="Arial"/>
              </a:rPr>
              <a:t> reduce the influence of extreme observations without simply deleting them.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7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lang="en-US"/>
              <a:t>/</a:t>
            </a:r>
            <a:r>
              <a:rPr lang="en-US"/>
              <a:t>42</a:t>
            </a:r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8" name="Google Shape;378;p27"/>
          <p:cNvSpPr txBox="1"/>
          <p:nvPr/>
        </p:nvSpPr>
        <p:spPr>
          <a:xfrm>
            <a:off x="2238005" y="647043"/>
            <a:ext cx="1042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7191"/>
                </a:solidFill>
                <a:latin typeface="Arial"/>
                <a:ea typeface="Arial"/>
                <a:cs typeface="Arial"/>
                <a:sym typeface="Arial"/>
              </a:rPr>
              <a:t>Count regression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27"/>
          <p:cNvSpPr txBox="1"/>
          <p:nvPr/>
        </p:nvSpPr>
        <p:spPr>
          <a:xfrm>
            <a:off x="719375" y="1851425"/>
            <a:ext cx="3750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B6CB0"/>
                </a:solidFill>
                <a:latin typeface="Arial"/>
                <a:ea typeface="Arial"/>
                <a:cs typeface="Arial"/>
                <a:sym typeface="Arial"/>
              </a:rPr>
              <a:t>Poisson </a:t>
            </a: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b="1" i="0" lang="en-US" sz="1600" u="none" cap="none" strike="noStrike">
                <a:solidFill>
                  <a:srgbClr val="2B6CB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none" cap="none" strike="noStrike">
                <a:solidFill>
                  <a:srgbClr val="007191"/>
                </a:solidFill>
                <a:latin typeface="Arial"/>
                <a:ea typeface="Arial"/>
                <a:cs typeface="Arial"/>
                <a:sym typeface="Arial"/>
              </a:rPr>
              <a:t>Negative binomial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27"/>
          <p:cNvSpPr txBox="1"/>
          <p:nvPr/>
        </p:nvSpPr>
        <p:spPr>
          <a:xfrm>
            <a:off x="764649" y="2349093"/>
            <a:ext cx="31029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73139"/>
                </a:solidFill>
                <a:latin typeface="Arial"/>
                <a:ea typeface="Arial"/>
                <a:cs typeface="Arial"/>
                <a:sym typeface="Arial"/>
              </a:rPr>
              <a:t>Count outcomes/events.</a:t>
            </a:r>
            <a:endParaRPr b="0" i="0" sz="1400" u="none" cap="none" strike="noStrike">
              <a:solidFill>
                <a:srgbClr val="27313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7313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73139"/>
                </a:solidFill>
                <a:latin typeface="Arial"/>
                <a:ea typeface="Arial"/>
                <a:cs typeface="Arial"/>
                <a:sym typeface="Arial"/>
              </a:rPr>
              <a:t>RNA-seq, colony counts, mutation/event counts, ecological abundance.</a:t>
            </a:r>
            <a:endParaRPr b="0" i="0" sz="1400" u="none" cap="none" strike="noStrike">
              <a:solidFill>
                <a:srgbClr val="27313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1" name="Google Shape;38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51050" y="1176925"/>
            <a:ext cx="7012425" cy="532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9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lang="en-US"/>
              <a:t>/</a:t>
            </a:r>
            <a:r>
              <a:rPr lang="en-US"/>
              <a:t>42</a:t>
            </a:r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7" name="Google Shape;387;p29"/>
          <p:cNvSpPr txBox="1"/>
          <p:nvPr/>
        </p:nvSpPr>
        <p:spPr>
          <a:xfrm>
            <a:off x="1694805" y="680993"/>
            <a:ext cx="1042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7191"/>
                </a:solidFill>
                <a:latin typeface="Arial"/>
                <a:ea typeface="Arial"/>
                <a:cs typeface="Arial"/>
                <a:sym typeface="Arial"/>
              </a:rPr>
              <a:t>Survival regression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29"/>
          <p:cNvSpPr txBox="1"/>
          <p:nvPr/>
        </p:nvSpPr>
        <p:spPr>
          <a:xfrm>
            <a:off x="776444" y="1806175"/>
            <a:ext cx="4782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7191"/>
                </a:solidFill>
                <a:latin typeface="Arial"/>
                <a:ea typeface="Arial"/>
                <a:cs typeface="Arial"/>
                <a:sym typeface="Arial"/>
              </a:rPr>
              <a:t>Cox / AFT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29"/>
          <p:cNvSpPr txBox="1"/>
          <p:nvPr/>
        </p:nvSpPr>
        <p:spPr>
          <a:xfrm>
            <a:off x="776444" y="2235943"/>
            <a:ext cx="47823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273139"/>
                </a:solidFill>
                <a:latin typeface="Arial"/>
                <a:ea typeface="Arial"/>
                <a:cs typeface="Arial"/>
                <a:sym typeface="Arial"/>
              </a:rPr>
              <a:t>Models time-to-event while accounting for censored observations.</a:t>
            </a:r>
            <a:endParaRPr b="0" i="0" sz="1500" u="none" cap="none" strike="noStrike">
              <a:solidFill>
                <a:srgbClr val="27313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27313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273139"/>
                </a:solidFill>
                <a:latin typeface="Arial"/>
                <a:ea typeface="Arial"/>
                <a:cs typeface="Arial"/>
                <a:sym typeface="Arial"/>
              </a:rPr>
              <a:t>Overall survival, relapse, device failure, time to biological event.</a:t>
            </a:r>
            <a:endParaRPr b="0" i="0" sz="1500" u="none" cap="none" strike="noStrike">
              <a:solidFill>
                <a:srgbClr val="27313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0" name="Google Shape;390;p29"/>
          <p:cNvPicPr preferRelativeResize="0"/>
          <p:nvPr/>
        </p:nvPicPr>
        <p:blipFill rotWithShape="1">
          <a:blip r:embed="rId3">
            <a:alphaModFix/>
          </a:blip>
          <a:srcRect b="42370" l="0" r="0" t="0"/>
          <a:stretch/>
        </p:blipFill>
        <p:spPr>
          <a:xfrm>
            <a:off x="2157125" y="3429000"/>
            <a:ext cx="7757788" cy="307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0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lang="en-US"/>
              <a:t>/</a:t>
            </a:r>
            <a:r>
              <a:rPr lang="en-US"/>
              <a:t>42</a:t>
            </a:r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6" name="Google Shape;396;p30"/>
          <p:cNvSpPr txBox="1"/>
          <p:nvPr/>
        </p:nvSpPr>
        <p:spPr>
          <a:xfrm>
            <a:off x="1875880" y="692318"/>
            <a:ext cx="1042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7191"/>
                </a:solidFill>
                <a:latin typeface="Arial"/>
                <a:ea typeface="Arial"/>
                <a:cs typeface="Arial"/>
                <a:sym typeface="Arial"/>
              </a:rPr>
              <a:t>Gaussian Process Regression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30"/>
          <p:cNvSpPr txBox="1"/>
          <p:nvPr/>
        </p:nvSpPr>
        <p:spPr>
          <a:xfrm>
            <a:off x="82578" y="1679682"/>
            <a:ext cx="828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7191"/>
                </a:solidFill>
                <a:latin typeface="Arial"/>
                <a:ea typeface="Arial"/>
                <a:cs typeface="Arial"/>
                <a:sym typeface="Arial"/>
              </a:rPr>
              <a:t>f(x) ~ GP(m(x), k(x,x′))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30"/>
          <p:cNvSpPr txBox="1"/>
          <p:nvPr/>
        </p:nvSpPr>
        <p:spPr>
          <a:xfrm>
            <a:off x="337250" y="2323303"/>
            <a:ext cx="10058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273139"/>
                </a:solidFill>
                <a:latin typeface="Arial"/>
                <a:ea typeface="Arial"/>
                <a:cs typeface="Arial"/>
                <a:sym typeface="Arial"/>
              </a:rPr>
              <a:t>A kernel defines similarity and a probability distribution over plausible functions.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9" name="Google Shape;39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4000" y="2667025"/>
            <a:ext cx="5587968" cy="4190976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30"/>
          <p:cNvSpPr txBox="1"/>
          <p:nvPr/>
        </p:nvSpPr>
        <p:spPr>
          <a:xfrm>
            <a:off x="6583666" y="2948940"/>
            <a:ext cx="4876790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7191"/>
                </a:solidFill>
                <a:latin typeface="Arial"/>
                <a:ea typeface="Arial"/>
                <a:cs typeface="Arial"/>
                <a:sym typeface="Arial"/>
              </a:rPr>
              <a:t>What do we get?</a:t>
            </a:r>
            <a:endParaRPr/>
          </a:p>
        </p:txBody>
      </p:sp>
      <p:sp>
        <p:nvSpPr>
          <p:cNvPr id="401" name="Google Shape;401;p30"/>
          <p:cNvSpPr txBox="1"/>
          <p:nvPr/>
        </p:nvSpPr>
        <p:spPr>
          <a:xfrm>
            <a:off x="6583666" y="3360420"/>
            <a:ext cx="487679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73139"/>
                </a:solidFill>
                <a:latin typeface="Arial"/>
                <a:ea typeface="Arial"/>
                <a:cs typeface="Arial"/>
                <a:sym typeface="Arial"/>
              </a:rPr>
              <a:t>• Nonlinear prediction</a:t>
            </a:r>
            <a:br>
              <a:rPr b="0" i="0" lang="en-US" sz="1300" u="none" cap="none" strike="noStrike">
                <a:solidFill>
                  <a:srgbClr val="27313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cap="none" strike="noStrike">
                <a:solidFill>
                  <a:srgbClr val="273139"/>
                </a:solidFill>
                <a:latin typeface="Arial"/>
                <a:ea typeface="Arial"/>
                <a:cs typeface="Arial"/>
                <a:sym typeface="Arial"/>
              </a:rPr>
              <a:t>• Predictive uncertainty</a:t>
            </a:r>
            <a:br>
              <a:rPr b="0" i="0" lang="en-US" sz="1300" u="none" cap="none" strike="noStrike">
                <a:solidFill>
                  <a:srgbClr val="27313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cap="none" strike="noStrike">
                <a:solidFill>
                  <a:srgbClr val="273139"/>
                </a:solidFill>
                <a:latin typeface="Arial"/>
                <a:ea typeface="Arial"/>
                <a:cs typeface="Arial"/>
                <a:sym typeface="Arial"/>
              </a:rPr>
              <a:t>• Flexibility controlled by the kernel</a:t>
            </a:r>
            <a:endParaRPr/>
          </a:p>
        </p:txBody>
      </p:sp>
      <p:sp>
        <p:nvSpPr>
          <p:cNvPr id="402" name="Google Shape;402;p30"/>
          <p:cNvSpPr txBox="1"/>
          <p:nvPr/>
        </p:nvSpPr>
        <p:spPr>
          <a:xfrm>
            <a:off x="6583666" y="4732020"/>
            <a:ext cx="4876790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C9123"/>
                </a:solidFill>
                <a:latin typeface="Arial"/>
                <a:ea typeface="Arial"/>
                <a:cs typeface="Arial"/>
                <a:sym typeface="Arial"/>
              </a:rPr>
              <a:t>Where is it useful?</a:t>
            </a:r>
            <a:endParaRPr/>
          </a:p>
        </p:txBody>
      </p:sp>
      <p:sp>
        <p:nvSpPr>
          <p:cNvPr id="403" name="Google Shape;403;p30"/>
          <p:cNvSpPr txBox="1"/>
          <p:nvPr/>
        </p:nvSpPr>
        <p:spPr>
          <a:xfrm>
            <a:off x="6583666" y="5143500"/>
            <a:ext cx="487679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73139"/>
                </a:solidFill>
                <a:latin typeface="Arial"/>
                <a:ea typeface="Arial"/>
                <a:cs typeface="Arial"/>
                <a:sym typeface="Arial"/>
              </a:rPr>
              <a:t>Small-data experiments, dose–response surfaces and Bayesian optimization.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2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lang="en-US"/>
              <a:t>/</a:t>
            </a:r>
            <a:r>
              <a:rPr lang="en-US"/>
              <a:t>42</a:t>
            </a:r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9" name="Google Shape;409;p32"/>
          <p:cNvSpPr txBox="1"/>
          <p:nvPr/>
        </p:nvSpPr>
        <p:spPr>
          <a:xfrm>
            <a:off x="1767805" y="713218"/>
            <a:ext cx="1042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7191"/>
                </a:solidFill>
                <a:latin typeface="Arial"/>
                <a:ea typeface="Arial"/>
                <a:cs typeface="Arial"/>
                <a:sym typeface="Arial"/>
              </a:rPr>
              <a:t>Bayesian regression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32"/>
          <p:cNvSpPr txBox="1"/>
          <p:nvPr/>
        </p:nvSpPr>
        <p:spPr>
          <a:xfrm>
            <a:off x="258025" y="1497178"/>
            <a:ext cx="10058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273139"/>
                </a:solidFill>
                <a:latin typeface="Arial"/>
                <a:ea typeface="Arial"/>
                <a:cs typeface="Arial"/>
                <a:sym typeface="Arial"/>
              </a:rPr>
              <a:t>Prior information is updated by the observed data.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1" name="Google Shape;41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8975" y="2003575"/>
            <a:ext cx="5087299" cy="187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2625" y="1497175"/>
            <a:ext cx="6644575" cy="4836525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32"/>
          <p:cNvSpPr txBox="1"/>
          <p:nvPr/>
        </p:nvSpPr>
        <p:spPr>
          <a:xfrm>
            <a:off x="487679" y="4046220"/>
            <a:ext cx="4511030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7191"/>
                </a:solidFill>
                <a:latin typeface="Arial"/>
                <a:ea typeface="Arial"/>
                <a:cs typeface="Arial"/>
                <a:sym typeface="Arial"/>
              </a:rPr>
              <a:t>Prior × likelihood → posterior</a:t>
            </a:r>
            <a:endParaRPr/>
          </a:p>
        </p:txBody>
      </p:sp>
      <p:sp>
        <p:nvSpPr>
          <p:cNvPr id="414" name="Google Shape;414;p32"/>
          <p:cNvSpPr txBox="1"/>
          <p:nvPr/>
        </p:nvSpPr>
        <p:spPr>
          <a:xfrm>
            <a:off x="487679" y="4423400"/>
            <a:ext cx="45111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73139"/>
                </a:solidFill>
                <a:latin typeface="Arial"/>
                <a:ea typeface="Arial"/>
                <a:cs typeface="Arial"/>
                <a:sym typeface="Arial"/>
              </a:rPr>
              <a:t>Parameters are distributions rather than single point estimates. Uncertainty propagates into predictions.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33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lang="en-US"/>
              <a:t>/</a:t>
            </a:r>
            <a:r>
              <a:rPr lang="en-US"/>
              <a:t>42</a:t>
            </a:r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0" name="Google Shape;420;p33"/>
          <p:cNvSpPr txBox="1"/>
          <p:nvPr/>
        </p:nvSpPr>
        <p:spPr>
          <a:xfrm>
            <a:off x="1938530" y="681018"/>
            <a:ext cx="1042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7191"/>
                </a:solidFill>
                <a:latin typeface="Arial"/>
                <a:ea typeface="Arial"/>
                <a:cs typeface="Arial"/>
                <a:sym typeface="Arial"/>
              </a:rPr>
              <a:t>Mixed-effects regression - great for hierarchical 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33"/>
          <p:cNvSpPr txBox="1"/>
          <p:nvPr/>
        </p:nvSpPr>
        <p:spPr>
          <a:xfrm>
            <a:off x="429753" y="1351482"/>
            <a:ext cx="828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7191"/>
                </a:solidFill>
                <a:latin typeface="Arial"/>
                <a:ea typeface="Arial"/>
                <a:cs typeface="Arial"/>
                <a:sym typeface="Arial"/>
              </a:rPr>
              <a:t>yᵢⱼ = β₀ + β₁xᵢⱼ + bᵢ + εᵢⱼ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2" name="Google Shape;422;p33"/>
          <p:cNvPicPr preferRelativeResize="0"/>
          <p:nvPr/>
        </p:nvPicPr>
        <p:blipFill rotWithShape="1">
          <a:blip r:embed="rId3">
            <a:alphaModFix/>
          </a:blip>
          <a:srcRect b="6533" l="0" r="0" t="0"/>
          <a:stretch/>
        </p:blipFill>
        <p:spPr>
          <a:xfrm>
            <a:off x="152400" y="1965575"/>
            <a:ext cx="11887176" cy="3748813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3"/>
          <p:cNvSpPr/>
          <p:nvPr/>
        </p:nvSpPr>
        <p:spPr>
          <a:xfrm>
            <a:off x="670558" y="5349240"/>
            <a:ext cx="3291833" cy="8229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00719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33"/>
          <p:cNvSpPr txBox="1"/>
          <p:nvPr/>
        </p:nvSpPr>
        <p:spPr>
          <a:xfrm>
            <a:off x="853438" y="5452110"/>
            <a:ext cx="2926074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7191"/>
                </a:solidFill>
                <a:latin typeface="Arial"/>
                <a:ea typeface="Arial"/>
                <a:cs typeface="Arial"/>
                <a:sym typeface="Arial"/>
              </a:rPr>
              <a:t>Fixed effect: β₁</a:t>
            </a:r>
            <a:endParaRPr/>
          </a:p>
        </p:txBody>
      </p:sp>
      <p:sp>
        <p:nvSpPr>
          <p:cNvPr id="425" name="Google Shape;425;p33"/>
          <p:cNvSpPr txBox="1"/>
          <p:nvPr/>
        </p:nvSpPr>
        <p:spPr>
          <a:xfrm>
            <a:off x="853438" y="5712714"/>
            <a:ext cx="2926074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73139"/>
                </a:solidFill>
                <a:latin typeface="Arial"/>
                <a:ea typeface="Arial"/>
                <a:cs typeface="Arial"/>
                <a:sym typeface="Arial"/>
              </a:rPr>
              <a:t>Population-level effect.</a:t>
            </a:r>
            <a:endParaRPr/>
          </a:p>
        </p:txBody>
      </p:sp>
      <p:sp>
        <p:nvSpPr>
          <p:cNvPr id="426" name="Google Shape;426;p33"/>
          <p:cNvSpPr/>
          <p:nvPr/>
        </p:nvSpPr>
        <p:spPr>
          <a:xfrm>
            <a:off x="4450070" y="5349240"/>
            <a:ext cx="3291833" cy="8229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2B6CB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33"/>
          <p:cNvSpPr txBox="1"/>
          <p:nvPr/>
        </p:nvSpPr>
        <p:spPr>
          <a:xfrm>
            <a:off x="4632950" y="5452110"/>
            <a:ext cx="2926074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B6CB0"/>
                </a:solidFill>
                <a:latin typeface="Arial"/>
                <a:ea typeface="Arial"/>
                <a:cs typeface="Arial"/>
                <a:sym typeface="Arial"/>
              </a:rPr>
              <a:t>Random effect: bᵢ</a:t>
            </a:r>
            <a:endParaRPr/>
          </a:p>
        </p:txBody>
      </p:sp>
      <p:sp>
        <p:nvSpPr>
          <p:cNvPr id="428" name="Google Shape;428;p33"/>
          <p:cNvSpPr txBox="1"/>
          <p:nvPr/>
        </p:nvSpPr>
        <p:spPr>
          <a:xfrm>
            <a:off x="4632950" y="5712714"/>
            <a:ext cx="2926074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73139"/>
                </a:solidFill>
                <a:latin typeface="Arial"/>
                <a:ea typeface="Arial"/>
                <a:cs typeface="Arial"/>
                <a:sym typeface="Arial"/>
              </a:rPr>
              <a:t>Subject / batch deviation.</a:t>
            </a:r>
            <a:endParaRPr/>
          </a:p>
        </p:txBody>
      </p:sp>
      <p:sp>
        <p:nvSpPr>
          <p:cNvPr id="429" name="Google Shape;429;p33"/>
          <p:cNvSpPr/>
          <p:nvPr/>
        </p:nvSpPr>
        <p:spPr>
          <a:xfrm>
            <a:off x="8229583" y="5349240"/>
            <a:ext cx="3291833" cy="8229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DC912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33"/>
          <p:cNvSpPr txBox="1"/>
          <p:nvPr/>
        </p:nvSpPr>
        <p:spPr>
          <a:xfrm>
            <a:off x="8412462" y="5452110"/>
            <a:ext cx="2926074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DC9123"/>
                </a:solidFill>
                <a:latin typeface="Arial"/>
                <a:ea typeface="Arial"/>
                <a:cs typeface="Arial"/>
                <a:sym typeface="Arial"/>
              </a:rPr>
              <a:t>Use when rows cluster</a:t>
            </a:r>
            <a:endParaRPr/>
          </a:p>
        </p:txBody>
      </p:sp>
      <p:sp>
        <p:nvSpPr>
          <p:cNvPr id="431" name="Google Shape;431;p33"/>
          <p:cNvSpPr txBox="1"/>
          <p:nvPr/>
        </p:nvSpPr>
        <p:spPr>
          <a:xfrm>
            <a:off x="8412462" y="5712714"/>
            <a:ext cx="2926074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73139"/>
                </a:solidFill>
                <a:latin typeface="Arial"/>
                <a:ea typeface="Arial"/>
                <a:cs typeface="Arial"/>
                <a:sym typeface="Arial"/>
              </a:rPr>
              <a:t>Repeated measures, donors, centres.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5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lang="en-US"/>
              <a:t>/</a:t>
            </a:r>
            <a:r>
              <a:rPr lang="en-US"/>
              <a:t>42</a:t>
            </a:r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7" name="Google Shape;437;p35"/>
          <p:cNvSpPr txBox="1"/>
          <p:nvPr/>
        </p:nvSpPr>
        <p:spPr>
          <a:xfrm>
            <a:off x="1830605" y="681018"/>
            <a:ext cx="1042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7191"/>
                </a:solidFill>
                <a:latin typeface="Arial"/>
                <a:ea typeface="Arial"/>
                <a:cs typeface="Arial"/>
                <a:sym typeface="Arial"/>
              </a:rPr>
              <a:t>Which regression method should you think of?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35"/>
          <p:cNvSpPr txBox="1"/>
          <p:nvPr/>
        </p:nvSpPr>
        <p:spPr>
          <a:xfrm>
            <a:off x="914400" y="1645920"/>
            <a:ext cx="10241280" cy="4297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73139"/>
                </a:solidFill>
                <a:latin typeface="Arial"/>
                <a:ea typeface="Arial"/>
                <a:cs typeface="Arial"/>
                <a:sym typeface="Arial"/>
              </a:rPr>
              <a:t>• Smooth nonlinear relation → splines / GAM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73139"/>
                </a:solidFill>
                <a:latin typeface="Arial"/>
                <a:ea typeface="Arial"/>
                <a:cs typeface="Arial"/>
                <a:sym typeface="Arial"/>
              </a:rPr>
              <a:t>• Piecewise changes + interactions → MARS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73139"/>
                </a:solidFill>
                <a:latin typeface="Arial"/>
                <a:ea typeface="Arial"/>
                <a:cs typeface="Arial"/>
                <a:sym typeface="Arial"/>
              </a:rPr>
              <a:t>• Outliers dominate → robust / Huber / LAD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73139"/>
                </a:solidFill>
                <a:latin typeface="Arial"/>
                <a:ea typeface="Arial"/>
                <a:cs typeface="Arial"/>
                <a:sym typeface="Arial"/>
              </a:rPr>
              <a:t>• Effects differ across outcome distribution → quantile regression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73139"/>
                </a:solidFill>
                <a:latin typeface="Arial"/>
                <a:ea typeface="Arial"/>
                <a:cs typeface="Arial"/>
                <a:sym typeface="Arial"/>
              </a:rPr>
              <a:t>• Many correlated predictors → PLSR / PCR / regularization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73139"/>
                </a:solidFill>
                <a:latin typeface="Arial"/>
                <a:ea typeface="Arial"/>
                <a:cs typeface="Arial"/>
                <a:sym typeface="Arial"/>
              </a:rPr>
              <a:t>• Counts → Poisson / negative binomial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73139"/>
                </a:solidFill>
                <a:latin typeface="Arial"/>
                <a:ea typeface="Arial"/>
                <a:cs typeface="Arial"/>
                <a:sym typeface="Arial"/>
              </a:rPr>
              <a:t>• Repeated measures → mixed-effects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73139"/>
                </a:solidFill>
                <a:latin typeface="Arial"/>
                <a:ea typeface="Arial"/>
                <a:cs typeface="Arial"/>
                <a:sym typeface="Arial"/>
              </a:rPr>
              <a:t>• Time-to-event → survival regression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73139"/>
                </a:solidFill>
                <a:latin typeface="Arial"/>
                <a:ea typeface="Arial"/>
                <a:cs typeface="Arial"/>
                <a:sym typeface="Arial"/>
              </a:rPr>
              <a:t>• Small nonlinear data + uncertainty → Gaussian process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73139"/>
                </a:solidFill>
                <a:latin typeface="Arial"/>
                <a:ea typeface="Arial"/>
                <a:cs typeface="Arial"/>
                <a:sym typeface="Arial"/>
              </a:rPr>
              <a:t>• Need an explicit discovered equation → symbolic regression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7"/>
          <p:cNvSpPr txBox="1"/>
          <p:nvPr>
            <p:ph idx="12" type="sldNum"/>
          </p:nvPr>
        </p:nvSpPr>
        <p:spPr>
          <a:xfrm>
            <a:off x="11409073" y="633312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2025" lIns="122025" spcFirstLastPara="1" rIns="122025" wrap="square" tIns="1220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4" name="Google Shape;444;p37"/>
          <p:cNvSpPr txBox="1"/>
          <p:nvPr/>
        </p:nvSpPr>
        <p:spPr>
          <a:xfrm>
            <a:off x="914400" y="2770632"/>
            <a:ext cx="1005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18A999"/>
                </a:solidFill>
                <a:latin typeface="Arial"/>
                <a:ea typeface="Arial"/>
                <a:cs typeface="Arial"/>
                <a:sym typeface="Arial"/>
              </a:rPr>
              <a:t>5. From regression to classification</a:t>
            </a:r>
            <a:endParaRPr b="0" i="0" sz="1700" u="none" cap="none" strike="noStrike">
              <a:solidFill>
                <a:srgbClr val="18A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37"/>
          <p:cNvSpPr txBox="1"/>
          <p:nvPr/>
        </p:nvSpPr>
        <p:spPr>
          <a:xfrm>
            <a:off x="914400" y="3264408"/>
            <a:ext cx="10058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7191"/>
                </a:solidFill>
                <a:latin typeface="Arial"/>
                <a:ea typeface="Arial"/>
                <a:cs typeface="Arial"/>
                <a:sym typeface="Arial"/>
              </a:rPr>
              <a:t>What changes when the target is a category?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6" name="Google Shape;446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75400" y="2239131"/>
            <a:ext cx="4216563" cy="29047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39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lang="en-US"/>
              <a:t>/</a:t>
            </a:r>
            <a:r>
              <a:rPr lang="en-US"/>
              <a:t>42</a:t>
            </a:r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2" name="Google Shape;452;p39"/>
          <p:cNvSpPr txBox="1"/>
          <p:nvPr/>
        </p:nvSpPr>
        <p:spPr>
          <a:xfrm>
            <a:off x="2113530" y="658368"/>
            <a:ext cx="1042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7191"/>
                </a:solidFill>
                <a:latin typeface="Arial"/>
                <a:ea typeface="Arial"/>
                <a:cs typeface="Arial"/>
                <a:sym typeface="Arial"/>
              </a:rPr>
              <a:t>Classification label types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39"/>
          <p:cNvSpPr txBox="1"/>
          <p:nvPr/>
        </p:nvSpPr>
        <p:spPr>
          <a:xfrm>
            <a:off x="877824" y="1828800"/>
            <a:ext cx="3102864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B6CB0"/>
                </a:solidFill>
                <a:latin typeface="Arial"/>
                <a:ea typeface="Arial"/>
                <a:cs typeface="Arial"/>
                <a:sym typeface="Arial"/>
              </a:rPr>
              <a:t>Binary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39"/>
          <p:cNvSpPr txBox="1"/>
          <p:nvPr/>
        </p:nvSpPr>
        <p:spPr>
          <a:xfrm>
            <a:off x="877824" y="2258568"/>
            <a:ext cx="31029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73139"/>
                </a:solidFill>
                <a:latin typeface="Arial"/>
                <a:ea typeface="Arial"/>
                <a:cs typeface="Arial"/>
                <a:sym typeface="Arial"/>
              </a:rPr>
              <a:t>Two mutually exclusive classes.</a:t>
            </a:r>
            <a:endParaRPr b="0" i="0" sz="1200" u="none" cap="none" strike="noStrike">
              <a:solidFill>
                <a:srgbClr val="27313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27313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73139"/>
                </a:solidFill>
                <a:latin typeface="Arial"/>
                <a:ea typeface="Arial"/>
                <a:cs typeface="Arial"/>
                <a:sym typeface="Arial"/>
              </a:rPr>
              <a:t>Dead - alive.</a:t>
            </a:r>
            <a:endParaRPr b="0" i="0" sz="1200" u="none" cap="none" strike="noStrike">
              <a:solidFill>
                <a:srgbClr val="27313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27313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73139"/>
                </a:solidFill>
                <a:latin typeface="Arial"/>
                <a:ea typeface="Arial"/>
                <a:cs typeface="Arial"/>
                <a:sym typeface="Arial"/>
              </a:rPr>
              <a:t>Cytosol - nuclei.</a:t>
            </a:r>
            <a:endParaRPr b="0" i="0" sz="1200" u="none" cap="none" strike="noStrike">
              <a:solidFill>
                <a:srgbClr val="27313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27313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73139"/>
                </a:solidFill>
                <a:latin typeface="Arial"/>
                <a:ea typeface="Arial"/>
                <a:cs typeface="Arial"/>
                <a:sym typeface="Arial"/>
              </a:rPr>
              <a:t>Effect - no effect.</a:t>
            </a:r>
            <a:endParaRPr b="0" i="0" sz="1200" u="none" cap="none" strike="noStrike">
              <a:solidFill>
                <a:srgbClr val="27313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39"/>
          <p:cNvSpPr txBox="1"/>
          <p:nvPr/>
        </p:nvSpPr>
        <p:spPr>
          <a:xfrm>
            <a:off x="4529328" y="1828800"/>
            <a:ext cx="3102864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7191"/>
                </a:solidFill>
                <a:latin typeface="Arial"/>
                <a:ea typeface="Arial"/>
                <a:cs typeface="Arial"/>
                <a:sym typeface="Arial"/>
              </a:rPr>
              <a:t>Multiclass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39"/>
          <p:cNvSpPr txBox="1"/>
          <p:nvPr/>
        </p:nvSpPr>
        <p:spPr>
          <a:xfrm>
            <a:off x="4529328" y="2258568"/>
            <a:ext cx="31029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73139"/>
                </a:solidFill>
                <a:latin typeface="Arial"/>
                <a:ea typeface="Arial"/>
                <a:cs typeface="Arial"/>
                <a:sym typeface="Arial"/>
              </a:rPr>
              <a:t>One class among K possibilities.</a:t>
            </a:r>
            <a:endParaRPr b="0" i="0" sz="1200" u="none" cap="none" strike="noStrike">
              <a:solidFill>
                <a:srgbClr val="27313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27313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73139"/>
                </a:solidFill>
                <a:latin typeface="Arial"/>
                <a:ea typeface="Arial"/>
                <a:cs typeface="Arial"/>
                <a:sym typeface="Arial"/>
              </a:rPr>
              <a:t>Cat - dog - frog - any other animal</a:t>
            </a:r>
            <a:endParaRPr b="0" i="0" sz="1200" u="none" cap="none" strike="noStrike">
              <a:solidFill>
                <a:srgbClr val="27313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27313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73139"/>
                </a:solidFill>
                <a:latin typeface="Arial"/>
                <a:ea typeface="Arial"/>
                <a:cs typeface="Arial"/>
                <a:sym typeface="Arial"/>
              </a:rPr>
              <a:t>Dead - sensitised - irritated - necrotic</a:t>
            </a:r>
            <a:endParaRPr b="0" i="0" sz="1200" u="none" cap="none" strike="noStrike">
              <a:solidFill>
                <a:srgbClr val="27313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27313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27313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39"/>
          <p:cNvSpPr txBox="1"/>
          <p:nvPr/>
        </p:nvSpPr>
        <p:spPr>
          <a:xfrm>
            <a:off x="8180832" y="1828800"/>
            <a:ext cx="3102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DC9123"/>
                </a:solidFill>
                <a:latin typeface="Arial"/>
                <a:ea typeface="Arial"/>
                <a:cs typeface="Arial"/>
                <a:sym typeface="Arial"/>
              </a:rPr>
              <a:t>Multilabel/fuzzy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39"/>
          <p:cNvSpPr txBox="1"/>
          <p:nvPr/>
        </p:nvSpPr>
        <p:spPr>
          <a:xfrm>
            <a:off x="8180832" y="2258568"/>
            <a:ext cx="3102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73139"/>
                </a:solidFill>
                <a:latin typeface="Arial"/>
                <a:ea typeface="Arial"/>
                <a:cs typeface="Arial"/>
                <a:sym typeface="Arial"/>
              </a:rPr>
              <a:t>Several labels may be true simultaneously.</a:t>
            </a:r>
            <a:endParaRPr b="0" i="0" sz="1200" u="none" cap="none" strike="noStrike">
              <a:solidFill>
                <a:srgbClr val="27313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27313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27313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9" name="Google Shape;459;p39"/>
          <p:cNvPicPr preferRelativeResize="0"/>
          <p:nvPr/>
        </p:nvPicPr>
        <p:blipFill rotWithShape="1">
          <a:blip r:embed="rId3">
            <a:alphaModFix/>
          </a:blip>
          <a:srcRect b="0" l="0" r="0" t="12564"/>
          <a:stretch/>
        </p:blipFill>
        <p:spPr>
          <a:xfrm>
            <a:off x="2879750" y="3304525"/>
            <a:ext cx="6355450" cy="314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41"/>
          <p:cNvSpPr txBox="1"/>
          <p:nvPr>
            <p:ph idx="12" type="sldNum"/>
          </p:nvPr>
        </p:nvSpPr>
        <p:spPr>
          <a:xfrm>
            <a:off x="11409073" y="633312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2025" lIns="122025" spcFirstLastPara="1" rIns="122025" wrap="square" tIns="1220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5" name="Google Shape;465;p41"/>
          <p:cNvSpPr txBox="1"/>
          <p:nvPr/>
        </p:nvSpPr>
        <p:spPr>
          <a:xfrm>
            <a:off x="914400" y="2770632"/>
            <a:ext cx="1005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18A999"/>
                </a:solidFill>
                <a:latin typeface="Arial"/>
                <a:ea typeface="Arial"/>
                <a:cs typeface="Arial"/>
                <a:sym typeface="Arial"/>
              </a:rPr>
              <a:t>6. Logistic regression</a:t>
            </a:r>
            <a:endParaRPr b="0" i="0" sz="1700" u="none" cap="none" strike="noStrike">
              <a:solidFill>
                <a:srgbClr val="18A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41"/>
          <p:cNvSpPr txBox="1"/>
          <p:nvPr/>
        </p:nvSpPr>
        <p:spPr>
          <a:xfrm>
            <a:off x="914400" y="3264408"/>
            <a:ext cx="10058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7191"/>
                </a:solidFill>
                <a:latin typeface="Arial"/>
                <a:ea typeface="Arial"/>
                <a:cs typeface="Arial"/>
                <a:sym typeface="Arial"/>
              </a:rPr>
              <a:t>A linear score transformed into a class probability.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7" name="Google Shape;467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3625" y="1865875"/>
            <a:ext cx="4168350" cy="312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3fb94c80e5d_0_34"/>
          <p:cNvSpPr txBox="1"/>
          <p:nvPr/>
        </p:nvSpPr>
        <p:spPr>
          <a:xfrm>
            <a:off x="1767880" y="340668"/>
            <a:ext cx="1042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7191"/>
                </a:solidFill>
                <a:latin typeface="Arial"/>
                <a:ea typeface="Arial"/>
                <a:cs typeface="Arial"/>
                <a:sym typeface="Arial"/>
              </a:rPr>
              <a:t>Math behind 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g3fb94c80e5d_0_34"/>
          <p:cNvSpPr/>
          <p:nvPr/>
        </p:nvSpPr>
        <p:spPr>
          <a:xfrm>
            <a:off x="777240" y="1344168"/>
            <a:ext cx="10561320" cy="8412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1E6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q0.png" id="474" name="Google Shape;474;g3fb94c80e5d_0_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120" y="1463040"/>
            <a:ext cx="5394960" cy="475533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g3fb94c80e5d_0_34"/>
          <p:cNvSpPr txBox="1"/>
          <p:nvPr/>
        </p:nvSpPr>
        <p:spPr>
          <a:xfrm>
            <a:off x="6492240" y="1417320"/>
            <a:ext cx="4526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F6970"/>
                </a:solidFill>
                <a:latin typeface="Arial"/>
                <a:ea typeface="Arial"/>
                <a:cs typeface="Arial"/>
                <a:sym typeface="Arial"/>
              </a:rPr>
              <a:t>Start with the familiar linear model.</a:t>
            </a:r>
            <a:endParaRPr/>
          </a:p>
        </p:txBody>
      </p:sp>
      <p:sp>
        <p:nvSpPr>
          <p:cNvPr id="476" name="Google Shape;476;g3fb94c80e5d_0_34"/>
          <p:cNvSpPr/>
          <p:nvPr/>
        </p:nvSpPr>
        <p:spPr>
          <a:xfrm>
            <a:off x="777240" y="2441448"/>
            <a:ext cx="10561320" cy="8412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1E6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q1.png" id="477" name="Google Shape;477;g3fb94c80e5d_0_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0120" y="2560320"/>
            <a:ext cx="5394960" cy="475533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g3fb94c80e5d_0_34"/>
          <p:cNvSpPr txBox="1"/>
          <p:nvPr/>
        </p:nvSpPr>
        <p:spPr>
          <a:xfrm>
            <a:off x="6492240" y="2514600"/>
            <a:ext cx="4526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F6970"/>
                </a:solidFill>
                <a:latin typeface="Arial"/>
                <a:ea typeface="Arial"/>
                <a:cs typeface="Arial"/>
                <a:sym typeface="Arial"/>
              </a:rPr>
              <a:t>For classification, model the probability of class 1.</a:t>
            </a:r>
            <a:endParaRPr/>
          </a:p>
        </p:txBody>
      </p:sp>
      <p:sp>
        <p:nvSpPr>
          <p:cNvPr id="479" name="Google Shape;479;g3fb94c80e5d_0_34"/>
          <p:cNvSpPr/>
          <p:nvPr/>
        </p:nvSpPr>
        <p:spPr>
          <a:xfrm>
            <a:off x="777240" y="3538728"/>
            <a:ext cx="10561320" cy="8412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1E6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q2.png" id="480" name="Google Shape;480;g3fb94c80e5d_0_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0120" y="3657600"/>
            <a:ext cx="5394960" cy="475533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g3fb94c80e5d_0_34"/>
          <p:cNvSpPr txBox="1"/>
          <p:nvPr/>
        </p:nvSpPr>
        <p:spPr>
          <a:xfrm>
            <a:off x="6492240" y="3611880"/>
            <a:ext cx="4526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F6970"/>
                </a:solidFill>
                <a:latin typeface="Arial"/>
                <a:ea typeface="Arial"/>
                <a:cs typeface="Arial"/>
                <a:sym typeface="Arial"/>
              </a:rPr>
              <a:t>Transform probability to log-odds, which range from −∞ to +∞.</a:t>
            </a:r>
            <a:endParaRPr/>
          </a:p>
        </p:txBody>
      </p:sp>
      <p:sp>
        <p:nvSpPr>
          <p:cNvPr id="482" name="Google Shape;482;g3fb94c80e5d_0_34"/>
          <p:cNvSpPr/>
          <p:nvPr/>
        </p:nvSpPr>
        <p:spPr>
          <a:xfrm>
            <a:off x="777240" y="4663440"/>
            <a:ext cx="10561320" cy="8412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1E6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q3.png" id="483" name="Google Shape;483;g3fb94c80e5d_0_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0120" y="4782312"/>
            <a:ext cx="5394960" cy="475533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g3fb94c80e5d_0_34"/>
          <p:cNvSpPr txBox="1"/>
          <p:nvPr/>
        </p:nvSpPr>
        <p:spPr>
          <a:xfrm>
            <a:off x="6492240" y="4736592"/>
            <a:ext cx="4526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F6970"/>
                </a:solidFill>
                <a:latin typeface="Arial"/>
                <a:ea typeface="Arial"/>
                <a:cs typeface="Arial"/>
                <a:sym typeface="Arial"/>
              </a:rPr>
              <a:t>Invert the logit to recover a probability between 0 and 1.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fb94c80e5d_0_46"/>
          <p:cNvSpPr txBox="1"/>
          <p:nvPr/>
        </p:nvSpPr>
        <p:spPr>
          <a:xfrm>
            <a:off x="1767880" y="340668"/>
            <a:ext cx="1042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7191"/>
                </a:solidFill>
                <a:latin typeface="Arial"/>
                <a:ea typeface="Arial"/>
                <a:cs typeface="Arial"/>
                <a:sym typeface="Arial"/>
              </a:rPr>
              <a:t>How to interpret coefficients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g3fb94c80e5d_0_46"/>
          <p:cNvSpPr txBox="1"/>
          <p:nvPr/>
        </p:nvSpPr>
        <p:spPr>
          <a:xfrm>
            <a:off x="1097277" y="1234440"/>
            <a:ext cx="9997419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7191"/>
                </a:solidFill>
                <a:latin typeface="Arial"/>
                <a:ea typeface="Arial"/>
                <a:cs typeface="Arial"/>
                <a:sym typeface="Arial"/>
              </a:rPr>
              <a:t>logit(p) = b₀ + b₁x</a:t>
            </a:r>
            <a:endParaRPr/>
          </a:p>
        </p:txBody>
      </p:sp>
      <p:sp>
        <p:nvSpPr>
          <p:cNvPr id="491" name="Google Shape;491;g3fb94c80e5d_0_46"/>
          <p:cNvSpPr/>
          <p:nvPr/>
        </p:nvSpPr>
        <p:spPr>
          <a:xfrm>
            <a:off x="2194555" y="1885950"/>
            <a:ext cx="7802864" cy="27432"/>
          </a:xfrm>
          <a:prstGeom prst="rect">
            <a:avLst/>
          </a:prstGeom>
          <a:solidFill>
            <a:srgbClr val="00719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g3fb94c80e5d_0_46"/>
          <p:cNvSpPr/>
          <p:nvPr/>
        </p:nvSpPr>
        <p:spPr>
          <a:xfrm>
            <a:off x="975358" y="2263140"/>
            <a:ext cx="4632950" cy="1714500"/>
          </a:xfrm>
          <a:prstGeom prst="roundRect">
            <a:avLst>
              <a:gd fmla="val 16667" name="adj"/>
            </a:avLst>
          </a:prstGeom>
          <a:solidFill>
            <a:srgbClr val="F2F5F6"/>
          </a:solidFill>
          <a:ln cap="flat" cmpd="sng" w="15225">
            <a:solidFill>
              <a:srgbClr val="00719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g3fb94c80e5d_0_46"/>
          <p:cNvSpPr txBox="1"/>
          <p:nvPr/>
        </p:nvSpPr>
        <p:spPr>
          <a:xfrm>
            <a:off x="1280157" y="2434590"/>
            <a:ext cx="4023351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7191"/>
                </a:solidFill>
                <a:latin typeface="Arial"/>
                <a:ea typeface="Arial"/>
                <a:cs typeface="Arial"/>
                <a:sym typeface="Arial"/>
              </a:rPr>
              <a:t>Coefficient b₁</a:t>
            </a:r>
            <a:endParaRPr/>
          </a:p>
        </p:txBody>
      </p:sp>
      <p:sp>
        <p:nvSpPr>
          <p:cNvPr id="494" name="Google Shape;494;g3fb94c80e5d_0_46"/>
          <p:cNvSpPr txBox="1"/>
          <p:nvPr/>
        </p:nvSpPr>
        <p:spPr>
          <a:xfrm>
            <a:off x="1280157" y="2811780"/>
            <a:ext cx="4023351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73139"/>
                </a:solidFill>
                <a:latin typeface="Arial"/>
                <a:ea typeface="Arial"/>
                <a:cs typeface="Arial"/>
                <a:sym typeface="Arial"/>
              </a:rPr>
              <a:t>Change in log-odds of Y = 1 for a +1 unit change in x.</a:t>
            </a:r>
            <a:endParaRPr/>
          </a:p>
        </p:txBody>
      </p:sp>
      <p:sp>
        <p:nvSpPr>
          <p:cNvPr id="495" name="Google Shape;495;g3fb94c80e5d_0_46"/>
          <p:cNvSpPr/>
          <p:nvPr/>
        </p:nvSpPr>
        <p:spPr>
          <a:xfrm>
            <a:off x="6583666" y="2263140"/>
            <a:ext cx="4632950" cy="1714500"/>
          </a:xfrm>
          <a:prstGeom prst="roundRect">
            <a:avLst>
              <a:gd fmla="val 16667" name="adj"/>
            </a:avLst>
          </a:prstGeom>
          <a:solidFill>
            <a:srgbClr val="F2F5F6"/>
          </a:solidFill>
          <a:ln cap="flat" cmpd="sng" w="15225">
            <a:solidFill>
              <a:srgbClr val="DC912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g3fb94c80e5d_0_46"/>
          <p:cNvSpPr txBox="1"/>
          <p:nvPr/>
        </p:nvSpPr>
        <p:spPr>
          <a:xfrm>
            <a:off x="6888465" y="2434590"/>
            <a:ext cx="4023351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DC9123"/>
                </a:solidFill>
                <a:latin typeface="Arial"/>
                <a:ea typeface="Arial"/>
                <a:cs typeface="Arial"/>
                <a:sym typeface="Arial"/>
              </a:rPr>
              <a:t>Odds ratio = eᵇ¹</a:t>
            </a:r>
            <a:endParaRPr/>
          </a:p>
        </p:txBody>
      </p:sp>
      <p:sp>
        <p:nvSpPr>
          <p:cNvPr id="497" name="Google Shape;497;g3fb94c80e5d_0_46"/>
          <p:cNvSpPr txBox="1"/>
          <p:nvPr/>
        </p:nvSpPr>
        <p:spPr>
          <a:xfrm>
            <a:off x="6888465" y="2811780"/>
            <a:ext cx="4023351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73139"/>
                </a:solidFill>
                <a:latin typeface="Arial"/>
                <a:ea typeface="Arial"/>
                <a:cs typeface="Arial"/>
                <a:sym typeface="Arial"/>
              </a:rPr>
              <a:t>How many times the odds are multiplied for a +1 unit change in x.</a:t>
            </a:r>
            <a:endParaRPr/>
          </a:p>
        </p:txBody>
      </p:sp>
      <p:sp>
        <p:nvSpPr>
          <p:cNvPr id="498" name="Google Shape;498;g3fb94c80e5d_0_46"/>
          <p:cNvSpPr txBox="1"/>
          <p:nvPr/>
        </p:nvSpPr>
        <p:spPr>
          <a:xfrm>
            <a:off x="1706876" y="4457700"/>
            <a:ext cx="8778300" cy="3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B6CB0"/>
                </a:solidFill>
                <a:latin typeface="Arial"/>
                <a:ea typeface="Arial"/>
                <a:cs typeface="Arial"/>
                <a:sym typeface="Arial"/>
              </a:rPr>
              <a:t>Example:  b₁ = 0.69  = e⁰·⁶⁹ ≈ 2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fb94c80e5d_0_41"/>
          <p:cNvSpPr txBox="1"/>
          <p:nvPr/>
        </p:nvSpPr>
        <p:spPr>
          <a:xfrm>
            <a:off x="1715380" y="372118"/>
            <a:ext cx="1042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7191"/>
                </a:solidFill>
                <a:latin typeface="Arial"/>
                <a:ea typeface="Arial"/>
                <a:cs typeface="Arial"/>
                <a:sym typeface="Arial"/>
              </a:rPr>
              <a:t>The sigmoid maps score to probability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4" name="Google Shape;504;g3fb94c80e5d_0_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23275" y="1234475"/>
            <a:ext cx="7535475" cy="5214550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g3fb94c80e5d_0_41"/>
          <p:cNvSpPr txBox="1"/>
          <p:nvPr/>
        </p:nvSpPr>
        <p:spPr>
          <a:xfrm>
            <a:off x="9265901" y="3383045"/>
            <a:ext cx="2682300" cy="9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73139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  <a:t>The linear score z can range from −∞ to +∞.</a:t>
            </a:r>
            <a:br>
              <a:rPr b="0" i="0" lang="en-US" sz="1200" u="none" cap="none" strike="noStrike">
                <a:solidFill>
                  <a:srgbClr val="273139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</a:br>
            <a:br>
              <a:rPr b="0" i="0" lang="en-US" sz="1200" u="none" cap="none" strike="noStrike">
                <a:solidFill>
                  <a:srgbClr val="273139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</a:br>
            <a:r>
              <a:rPr b="0" i="0" lang="en-US" sz="1200" u="none" cap="none" strike="noStrike">
                <a:solidFill>
                  <a:srgbClr val="273139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  <a:t>The sigmoid compresses it to a probability from 0 to 1.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44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lang="en-US"/>
              <a:t>/</a:t>
            </a:r>
            <a:r>
              <a:rPr lang="en-US"/>
              <a:t>42</a:t>
            </a:r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1" name="Google Shape;511;p44"/>
          <p:cNvSpPr txBox="1"/>
          <p:nvPr/>
        </p:nvSpPr>
        <p:spPr>
          <a:xfrm>
            <a:off x="1853230" y="703643"/>
            <a:ext cx="1042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7191"/>
                </a:solidFill>
                <a:latin typeface="Arial"/>
                <a:ea typeface="Arial"/>
                <a:cs typeface="Arial"/>
                <a:sym typeface="Arial"/>
              </a:rPr>
              <a:t>Logistic regression is a linear classifier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44"/>
          <p:cNvSpPr txBox="1"/>
          <p:nvPr/>
        </p:nvSpPr>
        <p:spPr>
          <a:xfrm>
            <a:off x="923544" y="1828800"/>
            <a:ext cx="4782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07191"/>
                </a:solidFill>
                <a:latin typeface="Arial"/>
                <a:ea typeface="Arial"/>
                <a:cs typeface="Arial"/>
                <a:sym typeface="Arial"/>
              </a:rPr>
              <a:t>Probability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44"/>
          <p:cNvSpPr txBox="1"/>
          <p:nvPr/>
        </p:nvSpPr>
        <p:spPr>
          <a:xfrm>
            <a:off x="923547" y="2258575"/>
            <a:ext cx="2426100" cy="21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273139"/>
                </a:solidFill>
                <a:latin typeface="Arial"/>
                <a:ea typeface="Arial"/>
                <a:cs typeface="Arial"/>
                <a:sym typeface="Arial"/>
              </a:rPr>
              <a:t>The sigmoid makes the probability response nonlinear.</a:t>
            </a:r>
            <a:endParaRPr b="0" i="0" sz="1700" u="none" cap="none" strike="noStrike">
              <a:solidFill>
                <a:srgbClr val="27313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27313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273139"/>
                </a:solidFill>
                <a:latin typeface="Arial"/>
                <a:ea typeface="Arial"/>
                <a:cs typeface="Arial"/>
                <a:sym typeface="Arial"/>
              </a:rPr>
              <a:t>The default decision boundary remains linear in the original feature space.</a:t>
            </a:r>
            <a:endParaRPr b="0" i="0" sz="1700" u="none" cap="none" strike="noStrike">
              <a:solidFill>
                <a:srgbClr val="27313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4" name="Google Shape;514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9325" y="1464877"/>
            <a:ext cx="6124449" cy="497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48"/>
          <p:cNvSpPr txBox="1"/>
          <p:nvPr>
            <p:ph idx="12" type="sldNum"/>
          </p:nvPr>
        </p:nvSpPr>
        <p:spPr>
          <a:xfrm>
            <a:off x="11409073" y="633312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2025" lIns="122025" spcFirstLastPara="1" rIns="122025" wrap="square" tIns="1220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0" name="Google Shape;520;p48"/>
          <p:cNvSpPr txBox="1"/>
          <p:nvPr/>
        </p:nvSpPr>
        <p:spPr>
          <a:xfrm>
            <a:off x="914400" y="2770632"/>
            <a:ext cx="10058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18A999"/>
                </a:solidFill>
                <a:latin typeface="Arial"/>
                <a:ea typeface="Arial"/>
                <a:cs typeface="Arial"/>
                <a:sym typeface="Arial"/>
              </a:rPr>
              <a:t>7. Probability, threshold and decision</a:t>
            </a:r>
            <a:endParaRPr b="0" i="0" sz="1400" u="none" cap="none" strike="noStrike">
              <a:solidFill>
                <a:srgbClr val="18A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48"/>
          <p:cNvSpPr txBox="1"/>
          <p:nvPr/>
        </p:nvSpPr>
        <p:spPr>
          <a:xfrm>
            <a:off x="914400" y="3264408"/>
            <a:ext cx="10058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7191"/>
                </a:solidFill>
                <a:latin typeface="Arial"/>
                <a:ea typeface="Arial"/>
                <a:cs typeface="Arial"/>
                <a:sym typeface="Arial"/>
              </a:rPr>
              <a:t>The model produces a </a:t>
            </a:r>
            <a:r>
              <a:rPr lang="en-US" sz="1200">
                <a:solidFill>
                  <a:srgbClr val="007191"/>
                </a:solidFill>
              </a:rPr>
              <a:t>probability</a:t>
            </a:r>
            <a:r>
              <a:rPr lang="en-US" sz="1200">
                <a:solidFill>
                  <a:srgbClr val="007191"/>
                </a:solidFill>
              </a:rPr>
              <a:t>,</a:t>
            </a:r>
            <a:r>
              <a:rPr b="0" i="0" lang="en-US" sz="1200" u="none" cap="none" strike="noStrike">
                <a:solidFill>
                  <a:srgbClr val="007191"/>
                </a:solidFill>
                <a:latin typeface="Arial"/>
                <a:ea typeface="Arial"/>
                <a:cs typeface="Arial"/>
                <a:sym typeface="Arial"/>
              </a:rPr>
              <a:t> a threshold converts it into a class.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2" name="Google Shape;522;p48"/>
          <p:cNvPicPr preferRelativeResize="0"/>
          <p:nvPr/>
        </p:nvPicPr>
        <p:blipFill>
          <a:blip r:embed="rId3">
            <a:alphaModFix amt="37000"/>
          </a:blip>
          <a:stretch>
            <a:fillRect/>
          </a:stretch>
        </p:blipFill>
        <p:spPr>
          <a:xfrm>
            <a:off x="6382475" y="2067656"/>
            <a:ext cx="5809490" cy="29047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49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lang="en-US"/>
              <a:t>/</a:t>
            </a:r>
            <a:r>
              <a:rPr lang="en-US"/>
              <a:t>42</a:t>
            </a:r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8" name="Google Shape;528;p49"/>
          <p:cNvSpPr txBox="1"/>
          <p:nvPr/>
        </p:nvSpPr>
        <p:spPr>
          <a:xfrm>
            <a:off x="1828805" y="713218"/>
            <a:ext cx="10424100" cy="4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7191"/>
                </a:solidFill>
                <a:latin typeface="Arial"/>
                <a:ea typeface="Arial"/>
                <a:cs typeface="Arial"/>
                <a:sym typeface="Arial"/>
              </a:rPr>
              <a:t>Probability is not a class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49"/>
          <p:cNvSpPr txBox="1"/>
          <p:nvPr/>
        </p:nvSpPr>
        <p:spPr>
          <a:xfrm>
            <a:off x="975358" y="1371600"/>
            <a:ext cx="10241259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73139"/>
                </a:solidFill>
                <a:latin typeface="Arial"/>
                <a:ea typeface="Arial"/>
                <a:cs typeface="Arial"/>
                <a:sym typeface="Arial"/>
              </a:rPr>
              <a:t>The model outputs P(Y = 1 | x), not a final class label.</a:t>
            </a:r>
            <a:endParaRPr/>
          </a:p>
        </p:txBody>
      </p:sp>
      <p:sp>
        <p:nvSpPr>
          <p:cNvPr id="530" name="Google Shape;530;p49"/>
          <p:cNvSpPr txBox="1"/>
          <p:nvPr/>
        </p:nvSpPr>
        <p:spPr>
          <a:xfrm>
            <a:off x="1219197" y="2537460"/>
            <a:ext cx="2438400" cy="2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7191"/>
                </a:solidFill>
                <a:latin typeface="Arial"/>
                <a:ea typeface="Arial"/>
                <a:cs typeface="Arial"/>
                <a:sym typeface="Arial"/>
              </a:rPr>
              <a:t>Model output</a:t>
            </a:r>
            <a:endParaRPr/>
          </a:p>
        </p:txBody>
      </p:sp>
      <p:sp>
        <p:nvSpPr>
          <p:cNvPr id="531" name="Google Shape;531;p49"/>
          <p:cNvSpPr txBox="1"/>
          <p:nvPr/>
        </p:nvSpPr>
        <p:spPr>
          <a:xfrm>
            <a:off x="1219197" y="3017520"/>
            <a:ext cx="243839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73139"/>
                </a:solidFill>
                <a:latin typeface="Arial"/>
                <a:ea typeface="Arial"/>
                <a:cs typeface="Arial"/>
                <a:sym typeface="Arial"/>
              </a:rPr>
              <a:t>p = 0.73</a:t>
            </a:r>
            <a:endParaRPr/>
          </a:p>
        </p:txBody>
      </p:sp>
      <p:sp>
        <p:nvSpPr>
          <p:cNvPr id="532" name="Google Shape;532;p49"/>
          <p:cNvSpPr txBox="1"/>
          <p:nvPr/>
        </p:nvSpPr>
        <p:spPr>
          <a:xfrm>
            <a:off x="8534382" y="2537460"/>
            <a:ext cx="2438400" cy="2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DC9123"/>
                </a:solidFill>
                <a:latin typeface="Arial"/>
                <a:ea typeface="Arial"/>
                <a:cs typeface="Arial"/>
                <a:sym typeface="Arial"/>
              </a:rPr>
              <a:t>Decision la</a:t>
            </a:r>
            <a:r>
              <a:rPr b="1" lang="en-US">
                <a:solidFill>
                  <a:srgbClr val="DC9123"/>
                </a:solidFill>
              </a:rPr>
              <a:t>bel</a:t>
            </a:r>
            <a:endParaRPr/>
          </a:p>
        </p:txBody>
      </p:sp>
      <p:sp>
        <p:nvSpPr>
          <p:cNvPr id="533" name="Google Shape;533;p49"/>
          <p:cNvSpPr txBox="1"/>
          <p:nvPr/>
        </p:nvSpPr>
        <p:spPr>
          <a:xfrm>
            <a:off x="8534382" y="3017520"/>
            <a:ext cx="243839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273139"/>
                </a:solidFill>
                <a:latin typeface="Arial"/>
                <a:ea typeface="Arial"/>
                <a:cs typeface="Arial"/>
                <a:sym typeface="Arial"/>
              </a:rPr>
              <a:t>Class 1</a:t>
            </a:r>
            <a:endParaRPr/>
          </a:p>
        </p:txBody>
      </p:sp>
      <p:sp>
        <p:nvSpPr>
          <p:cNvPr id="534" name="Google Shape;534;p49"/>
          <p:cNvSpPr txBox="1"/>
          <p:nvPr/>
        </p:nvSpPr>
        <p:spPr>
          <a:xfrm>
            <a:off x="1107076" y="4583560"/>
            <a:ext cx="8778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73139"/>
                </a:solidFill>
                <a:latin typeface="Arial"/>
                <a:ea typeface="Arial"/>
                <a:cs typeface="Arial"/>
                <a:sym typeface="Arial"/>
              </a:rPr>
              <a:t>t = 0.50 Class 1      |      t = 0.80 → Class 0</a:t>
            </a:r>
            <a:endParaRPr/>
          </a:p>
        </p:txBody>
      </p:sp>
      <p:cxnSp>
        <p:nvCxnSpPr>
          <p:cNvPr id="535" name="Google Shape;535;p49"/>
          <p:cNvCxnSpPr>
            <a:stCxn id="531" idx="3"/>
            <a:endCxn id="533" idx="1"/>
          </p:cNvCxnSpPr>
          <p:nvPr/>
        </p:nvCxnSpPr>
        <p:spPr>
          <a:xfrm>
            <a:off x="3657592" y="3274695"/>
            <a:ext cx="487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36" name="Google Shape;536;p49"/>
          <p:cNvSpPr txBox="1"/>
          <p:nvPr/>
        </p:nvSpPr>
        <p:spPr>
          <a:xfrm>
            <a:off x="4990725" y="2482100"/>
            <a:ext cx="651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BE4646"/>
                </a:solidFill>
              </a:rPr>
              <a:t>Threshold</a:t>
            </a:r>
            <a:endParaRPr>
              <a:solidFill>
                <a:srgbClr val="BE4646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50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lang="en-US"/>
              <a:t>/</a:t>
            </a:r>
            <a:r>
              <a:rPr lang="en-US"/>
              <a:t>42</a:t>
            </a:r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2" name="Google Shape;542;p50"/>
          <p:cNvSpPr txBox="1"/>
          <p:nvPr/>
        </p:nvSpPr>
        <p:spPr>
          <a:xfrm>
            <a:off x="1767805" y="638635"/>
            <a:ext cx="10424100" cy="4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7191"/>
                </a:solidFill>
                <a:latin typeface="Arial"/>
                <a:ea typeface="Arial"/>
                <a:cs typeface="Arial"/>
                <a:sym typeface="Arial"/>
              </a:rPr>
              <a:t>How to select threshold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3" name="Google Shape;543;p50"/>
          <p:cNvPicPr preferRelativeResize="0"/>
          <p:nvPr/>
        </p:nvPicPr>
        <p:blipFill rotWithShape="1">
          <a:blip r:embed="rId3">
            <a:alphaModFix/>
          </a:blip>
          <a:srcRect b="5069" l="0" r="0" t="0"/>
          <a:stretch/>
        </p:blipFill>
        <p:spPr>
          <a:xfrm>
            <a:off x="152400" y="1427101"/>
            <a:ext cx="11887176" cy="3878950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50"/>
          <p:cNvSpPr txBox="1"/>
          <p:nvPr/>
        </p:nvSpPr>
        <p:spPr>
          <a:xfrm>
            <a:off x="975358" y="5486400"/>
            <a:ext cx="10241259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191"/>
                </a:solidFill>
                <a:latin typeface="Arial"/>
                <a:ea typeface="Arial"/>
                <a:cs typeface="Arial"/>
                <a:sym typeface="Arial"/>
              </a:rPr>
              <a:t>Lower threshold → more positives → ↑ sensitivity, usually ↓ specificity</a:t>
            </a:r>
            <a:endParaRPr/>
          </a:p>
        </p:txBody>
      </p:sp>
      <p:sp>
        <p:nvSpPr>
          <p:cNvPr id="545" name="Google Shape;545;p50"/>
          <p:cNvSpPr txBox="1"/>
          <p:nvPr/>
        </p:nvSpPr>
        <p:spPr>
          <a:xfrm>
            <a:off x="975358" y="5863590"/>
            <a:ext cx="10241259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DC9123"/>
                </a:solidFill>
                <a:latin typeface="Arial"/>
                <a:ea typeface="Arial"/>
                <a:cs typeface="Arial"/>
                <a:sym typeface="Arial"/>
              </a:rPr>
              <a:t>Higher threshold → fewer positives → ↑ specificity, usually ↓ sensitivity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63"/>
          <p:cNvSpPr txBox="1"/>
          <p:nvPr>
            <p:ph idx="12" type="sldNum"/>
          </p:nvPr>
        </p:nvSpPr>
        <p:spPr>
          <a:xfrm>
            <a:off x="11409073" y="633312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2025" lIns="122025" spcFirstLastPara="1" rIns="122025" wrap="square" tIns="1220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1" name="Google Shape;551;p63"/>
          <p:cNvSpPr txBox="1"/>
          <p:nvPr/>
        </p:nvSpPr>
        <p:spPr>
          <a:xfrm>
            <a:off x="914400" y="2770632"/>
            <a:ext cx="10058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18A999"/>
                </a:solidFill>
                <a:latin typeface="Arial"/>
                <a:ea typeface="Arial"/>
                <a:cs typeface="Arial"/>
                <a:sym typeface="Arial"/>
              </a:rPr>
              <a:t>8. Classification metrics</a:t>
            </a:r>
            <a:endParaRPr b="0" i="0" sz="1400" u="none" cap="none" strike="noStrike">
              <a:solidFill>
                <a:srgbClr val="18A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63"/>
          <p:cNvSpPr txBox="1"/>
          <p:nvPr/>
        </p:nvSpPr>
        <p:spPr>
          <a:xfrm>
            <a:off x="914400" y="3264408"/>
            <a:ext cx="10058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7191"/>
                </a:solidFill>
                <a:latin typeface="Arial"/>
                <a:ea typeface="Arial"/>
                <a:cs typeface="Arial"/>
                <a:sym typeface="Arial"/>
              </a:rPr>
              <a:t>A classifier can be wrong in more than one way.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3" name="Google Shape;553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21225" y="2103556"/>
            <a:ext cx="2970761" cy="2904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64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lang="en-US"/>
              <a:t>/</a:t>
            </a:r>
            <a:r>
              <a:rPr lang="en-US"/>
              <a:t>42</a:t>
            </a:r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9" name="Google Shape;559;p64"/>
          <p:cNvSpPr txBox="1"/>
          <p:nvPr/>
        </p:nvSpPr>
        <p:spPr>
          <a:xfrm>
            <a:off x="2008980" y="497067"/>
            <a:ext cx="1042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7191"/>
                </a:solidFill>
                <a:latin typeface="Arial"/>
                <a:ea typeface="Arial"/>
                <a:cs typeface="Arial"/>
                <a:sym typeface="Arial"/>
              </a:rPr>
              <a:t>Confusion matrix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0" name="Google Shape;560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2750" y="1101692"/>
            <a:ext cx="9479640" cy="52837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65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lang="en-US"/>
              <a:t>/</a:t>
            </a:r>
            <a:r>
              <a:rPr lang="en-US"/>
              <a:t>42</a:t>
            </a:r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6" name="Google Shape;566;p65"/>
          <p:cNvSpPr txBox="1"/>
          <p:nvPr/>
        </p:nvSpPr>
        <p:spPr>
          <a:xfrm>
            <a:off x="2443166" y="669752"/>
            <a:ext cx="1042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7191"/>
                </a:solidFill>
                <a:latin typeface="Arial"/>
                <a:ea typeface="Arial"/>
                <a:cs typeface="Arial"/>
                <a:sym typeface="Arial"/>
              </a:rPr>
              <a:t>When accuracy is not accurate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65"/>
          <p:cNvSpPr txBox="1"/>
          <p:nvPr/>
        </p:nvSpPr>
        <p:spPr>
          <a:xfrm>
            <a:off x="1119169" y="1535200"/>
            <a:ext cx="4782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600" u="none" cap="none" strike="noStrike">
                <a:solidFill>
                  <a:srgbClr val="007191"/>
                </a:solidFill>
                <a:latin typeface="Arial"/>
                <a:ea typeface="Arial"/>
                <a:cs typeface="Arial"/>
                <a:sym typeface="Arial"/>
              </a:rPr>
              <a:t>Sensitivity / Recall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65"/>
          <p:cNvSpPr txBox="1"/>
          <p:nvPr/>
        </p:nvSpPr>
        <p:spPr>
          <a:xfrm>
            <a:off x="6580654" y="1535200"/>
            <a:ext cx="4782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600" u="none" cap="none" strike="noStrike">
                <a:solidFill>
                  <a:srgbClr val="2B6CB0"/>
                </a:solidFill>
                <a:latin typeface="Arial"/>
                <a:ea typeface="Arial"/>
                <a:cs typeface="Arial"/>
                <a:sym typeface="Arial"/>
              </a:rPr>
              <a:t>Specificity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65"/>
          <p:cNvSpPr txBox="1"/>
          <p:nvPr/>
        </p:nvSpPr>
        <p:spPr>
          <a:xfrm>
            <a:off x="1119169" y="3503700"/>
            <a:ext cx="4782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600" u="none" cap="none" strike="noStrike">
                <a:solidFill>
                  <a:srgbClr val="007191"/>
                </a:solidFill>
                <a:latin typeface="Arial"/>
                <a:ea typeface="Arial"/>
                <a:cs typeface="Arial"/>
                <a:sym typeface="Arial"/>
              </a:rPr>
              <a:t>Precision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65"/>
          <p:cNvSpPr txBox="1"/>
          <p:nvPr/>
        </p:nvSpPr>
        <p:spPr>
          <a:xfrm>
            <a:off x="6514129" y="3503700"/>
            <a:ext cx="4782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600" u="none" cap="none" strike="noStrike">
                <a:solidFill>
                  <a:srgbClr val="2B6CB0"/>
                </a:solidFill>
                <a:latin typeface="Arial"/>
                <a:ea typeface="Arial"/>
                <a:cs typeface="Arial"/>
                <a:sym typeface="Arial"/>
              </a:rPr>
              <a:t>F1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65"/>
          <p:cNvSpPr txBox="1"/>
          <p:nvPr/>
        </p:nvSpPr>
        <p:spPr>
          <a:xfrm>
            <a:off x="1119169" y="1980970"/>
            <a:ext cx="478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73139"/>
                </a:solidFill>
                <a:latin typeface="Arial"/>
                <a:ea typeface="Arial"/>
                <a:cs typeface="Arial"/>
                <a:sym typeface="Arial"/>
              </a:rPr>
              <a:t>TP / (TP + FN)</a:t>
            </a:r>
            <a:endParaRPr sz="1600"/>
          </a:p>
        </p:txBody>
      </p:sp>
      <p:sp>
        <p:nvSpPr>
          <p:cNvPr id="572" name="Google Shape;572;p65"/>
          <p:cNvSpPr txBox="1"/>
          <p:nvPr/>
        </p:nvSpPr>
        <p:spPr>
          <a:xfrm>
            <a:off x="1302048" y="2426740"/>
            <a:ext cx="4416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B656F"/>
                </a:solidFill>
                <a:latin typeface="Arial"/>
                <a:ea typeface="Arial"/>
                <a:cs typeface="Arial"/>
                <a:sym typeface="Arial"/>
              </a:rPr>
              <a:t>Of all true positives, how many did we detect?</a:t>
            </a:r>
            <a:endParaRPr sz="1600"/>
          </a:p>
        </p:txBody>
      </p:sp>
      <p:sp>
        <p:nvSpPr>
          <p:cNvPr id="573" name="Google Shape;573;p65"/>
          <p:cNvSpPr txBox="1"/>
          <p:nvPr/>
        </p:nvSpPr>
        <p:spPr>
          <a:xfrm>
            <a:off x="6580654" y="1980970"/>
            <a:ext cx="478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73139"/>
                </a:solidFill>
                <a:latin typeface="Arial"/>
                <a:ea typeface="Arial"/>
                <a:cs typeface="Arial"/>
                <a:sym typeface="Arial"/>
              </a:rPr>
              <a:t>TN / (TN + FP)</a:t>
            </a:r>
            <a:endParaRPr sz="1600"/>
          </a:p>
        </p:txBody>
      </p:sp>
      <p:sp>
        <p:nvSpPr>
          <p:cNvPr id="574" name="Google Shape;574;p65"/>
          <p:cNvSpPr txBox="1"/>
          <p:nvPr/>
        </p:nvSpPr>
        <p:spPr>
          <a:xfrm>
            <a:off x="6763533" y="2426740"/>
            <a:ext cx="4416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B656F"/>
                </a:solidFill>
                <a:latin typeface="Arial"/>
                <a:ea typeface="Arial"/>
                <a:cs typeface="Arial"/>
                <a:sym typeface="Arial"/>
              </a:rPr>
              <a:t>Of all true negatives, how many did we reject correctly?</a:t>
            </a:r>
            <a:endParaRPr sz="1600"/>
          </a:p>
        </p:txBody>
      </p:sp>
      <p:sp>
        <p:nvSpPr>
          <p:cNvPr id="575" name="Google Shape;575;p65"/>
          <p:cNvSpPr txBox="1"/>
          <p:nvPr/>
        </p:nvSpPr>
        <p:spPr>
          <a:xfrm>
            <a:off x="1119169" y="3949469"/>
            <a:ext cx="478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73139"/>
                </a:solidFill>
                <a:latin typeface="Arial"/>
                <a:ea typeface="Arial"/>
                <a:cs typeface="Arial"/>
                <a:sym typeface="Arial"/>
              </a:rPr>
              <a:t>TP / (TP + FP)</a:t>
            </a:r>
            <a:endParaRPr sz="1600"/>
          </a:p>
        </p:txBody>
      </p:sp>
      <p:sp>
        <p:nvSpPr>
          <p:cNvPr id="576" name="Google Shape;576;p65"/>
          <p:cNvSpPr txBox="1"/>
          <p:nvPr/>
        </p:nvSpPr>
        <p:spPr>
          <a:xfrm>
            <a:off x="1302048" y="4395240"/>
            <a:ext cx="4416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B656F"/>
                </a:solidFill>
                <a:latin typeface="Arial"/>
                <a:ea typeface="Arial"/>
                <a:cs typeface="Arial"/>
                <a:sym typeface="Arial"/>
              </a:rPr>
              <a:t>Of predicted positives, how many were actually positive?</a:t>
            </a:r>
            <a:endParaRPr sz="1600"/>
          </a:p>
        </p:txBody>
      </p:sp>
      <p:sp>
        <p:nvSpPr>
          <p:cNvPr id="577" name="Google Shape;577;p65"/>
          <p:cNvSpPr txBox="1"/>
          <p:nvPr/>
        </p:nvSpPr>
        <p:spPr>
          <a:xfrm>
            <a:off x="6514129" y="3949469"/>
            <a:ext cx="478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73139"/>
                </a:solidFill>
                <a:latin typeface="Arial"/>
                <a:ea typeface="Arial"/>
                <a:cs typeface="Arial"/>
                <a:sym typeface="Arial"/>
              </a:rPr>
              <a:t>2 × Precision × Recall / (Precision + Recall)</a:t>
            </a:r>
            <a:endParaRPr sz="1600"/>
          </a:p>
        </p:txBody>
      </p:sp>
      <p:sp>
        <p:nvSpPr>
          <p:cNvPr id="578" name="Google Shape;578;p65"/>
          <p:cNvSpPr txBox="1"/>
          <p:nvPr/>
        </p:nvSpPr>
        <p:spPr>
          <a:xfrm>
            <a:off x="6697008" y="4395240"/>
            <a:ext cx="4416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B656F"/>
                </a:solidFill>
                <a:latin typeface="Arial"/>
                <a:ea typeface="Arial"/>
                <a:cs typeface="Arial"/>
                <a:sym typeface="Arial"/>
              </a:rPr>
              <a:t>Balances precision and recall in one score.</a:t>
            </a:r>
            <a:endParaRPr sz="16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68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lang="en-US"/>
              <a:t>/</a:t>
            </a:r>
            <a:r>
              <a:rPr lang="en-US"/>
              <a:t>42</a:t>
            </a:r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4" name="Google Shape;584;p68"/>
          <p:cNvSpPr txBox="1"/>
          <p:nvPr/>
        </p:nvSpPr>
        <p:spPr>
          <a:xfrm>
            <a:off x="1966430" y="760218"/>
            <a:ext cx="1042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7191"/>
                </a:solidFill>
                <a:latin typeface="Arial"/>
                <a:ea typeface="Arial"/>
                <a:cs typeface="Arial"/>
                <a:sym typeface="Arial"/>
              </a:rPr>
              <a:t>ROC curve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5" name="Google Shape;585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1271926"/>
            <a:ext cx="7045820" cy="5180750"/>
          </a:xfrm>
          <a:prstGeom prst="rect">
            <a:avLst/>
          </a:prstGeom>
          <a:noFill/>
          <a:ln>
            <a:noFill/>
          </a:ln>
        </p:spPr>
      </p:pic>
      <p:sp>
        <p:nvSpPr>
          <p:cNvPr id="586" name="Google Shape;586;p68"/>
          <p:cNvSpPr txBox="1"/>
          <p:nvPr/>
        </p:nvSpPr>
        <p:spPr>
          <a:xfrm>
            <a:off x="670558" y="1508760"/>
            <a:ext cx="3291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7191"/>
                </a:solidFill>
                <a:latin typeface="Arial"/>
                <a:ea typeface="Arial"/>
                <a:cs typeface="Arial"/>
                <a:sym typeface="Arial"/>
              </a:rPr>
              <a:t>Each point = one threshold</a:t>
            </a:r>
            <a:endParaRPr sz="1500"/>
          </a:p>
        </p:txBody>
      </p:sp>
      <p:sp>
        <p:nvSpPr>
          <p:cNvPr id="587" name="Google Shape;587;p68"/>
          <p:cNvSpPr txBox="1"/>
          <p:nvPr/>
        </p:nvSpPr>
        <p:spPr>
          <a:xfrm>
            <a:off x="670558" y="2057400"/>
            <a:ext cx="32919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73139"/>
                </a:solidFill>
                <a:latin typeface="Arial"/>
                <a:ea typeface="Arial"/>
                <a:cs typeface="Arial"/>
                <a:sym typeface="Arial"/>
              </a:rPr>
              <a:t>TPR = Sensitivity</a:t>
            </a:r>
            <a:br>
              <a:rPr b="0" i="0" lang="en-US" sz="1500" u="none" cap="none" strike="noStrike">
                <a:solidFill>
                  <a:srgbClr val="27313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solidFill>
                  <a:srgbClr val="273139"/>
                </a:solidFill>
                <a:latin typeface="Arial"/>
                <a:ea typeface="Arial"/>
                <a:cs typeface="Arial"/>
                <a:sym typeface="Arial"/>
              </a:rPr>
              <a:t>FPR = 1 − Specificity</a:t>
            </a:r>
            <a:endParaRPr sz="1500"/>
          </a:p>
        </p:txBody>
      </p:sp>
      <p:sp>
        <p:nvSpPr>
          <p:cNvPr id="588" name="Google Shape;588;p68"/>
          <p:cNvSpPr txBox="1"/>
          <p:nvPr/>
        </p:nvSpPr>
        <p:spPr>
          <a:xfrm>
            <a:off x="670558" y="3291840"/>
            <a:ext cx="3291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C9123"/>
                </a:solidFill>
                <a:latin typeface="Arial"/>
                <a:ea typeface="Arial"/>
                <a:cs typeface="Arial"/>
                <a:sym typeface="Arial"/>
              </a:rPr>
              <a:t>AUC</a:t>
            </a:r>
            <a:endParaRPr sz="1500"/>
          </a:p>
        </p:txBody>
      </p:sp>
      <p:sp>
        <p:nvSpPr>
          <p:cNvPr id="589" name="Google Shape;589;p68"/>
          <p:cNvSpPr txBox="1"/>
          <p:nvPr/>
        </p:nvSpPr>
        <p:spPr>
          <a:xfrm>
            <a:off x="670558" y="3749250"/>
            <a:ext cx="3291900" cy="6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73139"/>
                </a:solidFill>
                <a:latin typeface="Arial"/>
                <a:ea typeface="Arial"/>
                <a:cs typeface="Arial"/>
                <a:sym typeface="Arial"/>
              </a:rPr>
              <a:t>Summarizes ranking / discrimination across thresholds. </a:t>
            </a:r>
            <a:r>
              <a:rPr lang="en-US" sz="1300">
                <a:solidFill>
                  <a:srgbClr val="273139"/>
                </a:solidFill>
              </a:rPr>
              <a:t>Shows model accuracy independent of the threshold</a:t>
            </a:r>
            <a:endParaRPr sz="15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70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lang="en-US"/>
              <a:t>/</a:t>
            </a:r>
            <a:r>
              <a:rPr lang="en-US"/>
              <a:t>42</a:t>
            </a:r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5" name="Google Shape;595;p70"/>
          <p:cNvSpPr txBox="1"/>
          <p:nvPr/>
        </p:nvSpPr>
        <p:spPr>
          <a:xfrm>
            <a:off x="1767805" y="685793"/>
            <a:ext cx="10424100" cy="4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7191"/>
                </a:solidFill>
                <a:latin typeface="Arial"/>
                <a:ea typeface="Arial"/>
                <a:cs typeface="Arial"/>
                <a:sym typeface="Arial"/>
              </a:rPr>
              <a:t>Class imbalance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70"/>
          <p:cNvSpPr txBox="1"/>
          <p:nvPr/>
        </p:nvSpPr>
        <p:spPr>
          <a:xfrm>
            <a:off x="919950" y="1651675"/>
            <a:ext cx="4942200" cy="19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73139"/>
                </a:solidFill>
                <a:latin typeface="Arial"/>
                <a:ea typeface="Arial"/>
                <a:cs typeface="Arial"/>
                <a:sym typeface="Arial"/>
              </a:rPr>
              <a:t>• Choose metrics that match the scientific objective.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73139"/>
                </a:solidFill>
                <a:latin typeface="Arial"/>
                <a:ea typeface="Arial"/>
                <a:cs typeface="Arial"/>
                <a:sym typeface="Arial"/>
              </a:rPr>
              <a:t>• Use stratified splitting when appropriate.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73139"/>
                </a:solidFill>
                <a:latin typeface="Arial"/>
                <a:ea typeface="Arial"/>
                <a:cs typeface="Arial"/>
                <a:sym typeface="Arial"/>
              </a:rPr>
              <a:t>• Consider class weights or threshold adjustment.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73139"/>
                </a:solidFill>
                <a:latin typeface="Arial"/>
                <a:ea typeface="Arial"/>
                <a:cs typeface="Arial"/>
                <a:sym typeface="Arial"/>
              </a:rPr>
              <a:t>• Resampling changes the training distribution.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73139"/>
                </a:solidFill>
                <a:latin typeface="Arial"/>
                <a:ea typeface="Arial"/>
                <a:cs typeface="Arial"/>
                <a:sym typeface="Arial"/>
              </a:rPr>
              <a:t>• Do not automatically balance prevalence that is scientifically meaningful.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7" name="Google Shape;597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62150" y="1651675"/>
            <a:ext cx="6043150" cy="478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75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b="0" lang="en-US" sz="13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lang="en-US" sz="1200">
                <a:solidFill>
                  <a:srgbClr val="273139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1200">
                <a:solidFill>
                  <a:srgbClr val="273139"/>
                </a:solidFill>
              </a:rPr>
              <a:t>42</a:t>
            </a:r>
            <a:endParaRPr b="0" sz="13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3" name="Google Shape;603;p75"/>
          <p:cNvSpPr txBox="1"/>
          <p:nvPr/>
        </p:nvSpPr>
        <p:spPr>
          <a:xfrm>
            <a:off x="1767805" y="705424"/>
            <a:ext cx="10424100" cy="4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7191"/>
                </a:solidFill>
                <a:latin typeface="Arial"/>
                <a:ea typeface="Arial"/>
                <a:cs typeface="Arial"/>
                <a:sym typeface="Arial"/>
              </a:rPr>
              <a:t>Practical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75"/>
          <p:cNvSpPr txBox="1"/>
          <p:nvPr/>
        </p:nvSpPr>
        <p:spPr>
          <a:xfrm>
            <a:off x="877824" y="1828800"/>
            <a:ext cx="3102864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B6CB0"/>
                </a:solidFill>
                <a:latin typeface="Arial"/>
                <a:ea typeface="Arial"/>
                <a:cs typeface="Arial"/>
                <a:sym typeface="Arial"/>
              </a:rPr>
              <a:t>Regression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75"/>
          <p:cNvSpPr txBox="1"/>
          <p:nvPr/>
        </p:nvSpPr>
        <p:spPr>
          <a:xfrm>
            <a:off x="877824" y="2258568"/>
            <a:ext cx="3102900" cy="4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73139"/>
                </a:solidFill>
                <a:latin typeface="Arial"/>
                <a:ea typeface="Arial"/>
                <a:cs typeface="Arial"/>
                <a:sym typeface="Arial"/>
              </a:rPr>
              <a:t>Predict a continuous target. Compare models and validation strategies.</a:t>
            </a:r>
            <a:endParaRPr/>
          </a:p>
        </p:txBody>
      </p:sp>
      <p:sp>
        <p:nvSpPr>
          <p:cNvPr id="606" name="Google Shape;606;p75"/>
          <p:cNvSpPr txBox="1"/>
          <p:nvPr/>
        </p:nvSpPr>
        <p:spPr>
          <a:xfrm>
            <a:off x="4529328" y="1828800"/>
            <a:ext cx="3102864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7191"/>
                </a:solidFill>
                <a:latin typeface="Arial"/>
                <a:ea typeface="Arial"/>
                <a:cs typeface="Arial"/>
                <a:sym typeface="Arial"/>
              </a:rPr>
              <a:t>Classification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75"/>
          <p:cNvSpPr txBox="1"/>
          <p:nvPr/>
        </p:nvSpPr>
        <p:spPr>
          <a:xfrm>
            <a:off x="4529328" y="2258568"/>
            <a:ext cx="3102900" cy="4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73139"/>
                </a:solidFill>
                <a:latin typeface="Arial"/>
                <a:ea typeface="Arial"/>
                <a:cs typeface="Arial"/>
                <a:sym typeface="Arial"/>
              </a:rPr>
              <a:t>Predict a categorical target. Optimize probabilities, thresholds and metrics.</a:t>
            </a:r>
            <a:endParaRPr/>
          </a:p>
        </p:txBody>
      </p:sp>
      <p:sp>
        <p:nvSpPr>
          <p:cNvPr id="608" name="Google Shape;608;p75"/>
          <p:cNvSpPr txBox="1"/>
          <p:nvPr/>
        </p:nvSpPr>
        <p:spPr>
          <a:xfrm>
            <a:off x="8180832" y="1828800"/>
            <a:ext cx="3102864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DC9123"/>
                </a:solidFill>
                <a:latin typeface="Arial"/>
                <a:ea typeface="Arial"/>
                <a:cs typeface="Arial"/>
                <a:sym typeface="Arial"/>
              </a:rPr>
              <a:t>Competition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75"/>
          <p:cNvSpPr txBox="1"/>
          <p:nvPr/>
        </p:nvSpPr>
        <p:spPr>
          <a:xfrm>
            <a:off x="8180832" y="2258568"/>
            <a:ext cx="31029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73139"/>
                </a:solidFill>
                <a:latin typeface="Arial"/>
                <a:ea typeface="Arial"/>
                <a:cs typeface="Arial"/>
                <a:sym typeface="Arial"/>
              </a:rPr>
              <a:t>Released: 80% with targets.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73139"/>
                </a:solidFill>
                <a:latin typeface="Arial"/>
                <a:ea typeface="Arial"/>
                <a:cs typeface="Arial"/>
                <a:sym typeface="Arial"/>
              </a:rPr>
              <a:t>Hidden: 20% for final scoring.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27313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73139"/>
                </a:solidFill>
                <a:latin typeface="Arial"/>
                <a:ea typeface="Arial"/>
                <a:cs typeface="Arial"/>
                <a:sym typeface="Arial"/>
              </a:rPr>
              <a:t>Submit predictions for both tasks</a:t>
            </a:r>
            <a:r>
              <a:rPr lang="en-US" sz="1200">
                <a:solidFill>
                  <a:srgbClr val="273139"/>
                </a:solidFill>
              </a:rPr>
              <a:t>, the best scoring one will get a prise.</a:t>
            </a:r>
            <a:r>
              <a:rPr b="0" i="0" lang="en-US" sz="1200" u="none" cap="none" strike="noStrike">
                <a:solidFill>
                  <a:srgbClr val="27313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