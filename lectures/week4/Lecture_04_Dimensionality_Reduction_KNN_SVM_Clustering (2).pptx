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htydggb6yuZ+P6e3ciA39FZaxL2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Oleh Mezhensky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8T09:12:05.668">
    <p:pos x="6000" y="0"/>
    <p:text>comparison of computation complexity for n and p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GkpPbh4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6e25ffb5025d31e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h6e25ffb5025d31ee_4_0:notes"/>
          <p:cNvSpPr/>
          <p:nvPr>
            <p:ph idx="2" type="sldImg"/>
          </p:nvPr>
        </p:nvSpPr>
        <p:spPr>
          <a:xfrm>
            <a:off x="857422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6e25ffb5025d31ee_4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h6e25ffb5025d31ee_4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e25ffb5025d31ee_4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h6e25ffb5025d31ee_4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6e25ffb5025d31ee_4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h6e25ffb5025d31ee_4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702a742ee3cae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h1702a742ee3cae4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6e25ffb5025d31ee_4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h6e25ffb5025d31ee_4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6e25ffb5025d31ee_4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h6e25ffb5025d31ee_4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6e25ffb5025d31ee_4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h6e25ffb5025d31ee_4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6e25ffb5025d31ee_4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h6e25ffb5025d31ee_4_3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6e25ffb5025d31ee_4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h6e25ffb5025d31ee_4_3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6e25ffb5025d31ee_4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h6e25ffb5025d31ee_4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6e25ffb5025d31ee_4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h6e25ffb5025d31ee_4_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6e25ffb5025d31ee_4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h6e25ffb5025d31ee_4_4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6e25ffb5025d31ee_4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h6e25ffb5025d31ee_4_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6e25ffb5025d31ee_4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h6e25ffb5025d31ee_4_4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6e25ffb5025d31ee_4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h6e25ffb5025d31ee_4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6e25ffb5025d31ee_4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h6e25ffb5025d31ee_4_4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6e25ffb5025d31ee_4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h6e25ffb5025d31ee_4_4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6e25ffb5025d31ee_4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h6e25ffb5025d31ee_4_4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6e25ffb5025d31ee_4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h6e25ffb5025d31ee_4_4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6e25ffb5025d31ee_4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h6e25ffb5025d31ee_4_5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6e25ffb5025d31ee_4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h6e25ffb5025d31ee_4_3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6e25ffb5025d31ee_4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h6e25ffb5025d31ee_4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6e25ffb5025d31ee_4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h6e25ffb5025d31ee_4_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6e25ffb5025d31ee_4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h6e25ffb5025d31ee_4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c3bd101ab3ca1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hc3bd101ab3ca17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6e25ffb5025d31ee_4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h6e25ffb5025d31ee_4_4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6e25ffb5025d31ee_4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h6e25ffb5025d31ee_4_5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6e25ffb5025d31ee_4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7" name="Google Shape;347;h6e25ffb5025d31ee_4_5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6e25ffb5025d31ee_4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h6e25ffb5025d31ee_4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6e25ffb5025d31ee_4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h6e25ffb5025d31ee_4_5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h6e25ffb5025d31ee_4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h6e25ffb5025d31ee_4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6e25ffb5025d31ee_4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h6e25ffb5025d31ee_4_5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6e25ffb5025d31ee_4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h6e25ffb5025d31ee_4_5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6e25ffb5025d31ee_4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h6e25ffb5025d31ee_4_5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6e25ffb5025d31ee_4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h6e25ffb5025d31ee_4_5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h6e25ffb5025d31ee_4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h6e25ffb5025d31ee_4_6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h6e25ffb5025d31ee_4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h6e25ffb5025d31ee_4_6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6e25ffb5025d31ee_4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h6e25ffb5025d31ee_4_6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h6e25ffb5025d31ee_4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h6e25ffb5025d31ee_4_6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5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5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5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вичайний 1">
  <p:cSld name="TITLE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h6e25ffb5025d31ee_4_194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h6e25ffb5025d31ee_4_194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h6e25ffb5025d31ee_4_194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h6e25ffb5025d31ee_4_194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2025" lIns="122025" spcFirstLastPara="1" rIns="122025" wrap="square" tIns="1220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h6e25ffb5025d31ee_4_19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h6e25ffb5025d31ee_4_194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BLANK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h6e25ffb5025d31ee_4_301"/>
          <p:cNvPicPr preferRelativeResize="0"/>
          <p:nvPr/>
        </p:nvPicPr>
        <p:blipFill rotWithShape="1">
          <a:blip r:embed="rId2">
            <a:alphaModFix/>
          </a:blip>
          <a:srcRect b="0" l="45887" r="0" t="93322"/>
          <a:stretch/>
        </p:blipFill>
        <p:spPr>
          <a:xfrm>
            <a:off x="6064908" y="6400800"/>
            <a:ext cx="6126828" cy="456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h6e25ffb5025d31ee_4_301"/>
          <p:cNvPicPr preferRelativeResize="0"/>
          <p:nvPr/>
        </p:nvPicPr>
        <p:blipFill rotWithShape="1">
          <a:blip r:embed="rId2">
            <a:alphaModFix/>
          </a:blip>
          <a:srcRect b="84967" l="0" r="82433" t="0"/>
          <a:stretch/>
        </p:blipFill>
        <p:spPr>
          <a:xfrm>
            <a:off x="0" y="0"/>
            <a:ext cx="1987917" cy="10299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h6e25ffb5025d31ee_4_301"/>
          <p:cNvSpPr/>
          <p:nvPr/>
        </p:nvSpPr>
        <p:spPr>
          <a:xfrm>
            <a:off x="6175427" y="6502680"/>
            <a:ext cx="53028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Machine Learning for Bioinformatics · </a:t>
            </a:r>
            <a:r>
              <a:rPr lang="en-US" sz="1300">
                <a:solidFill>
                  <a:srgbClr val="18A999"/>
                </a:solidFill>
              </a:rPr>
              <a:t>Lecture 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h6e25ffb5025d31ee_4_301"/>
          <p:cNvPicPr preferRelativeResize="0"/>
          <p:nvPr/>
        </p:nvPicPr>
        <p:blipFill rotWithShape="1">
          <a:blip r:embed="rId3">
            <a:alphaModFix/>
          </a:blip>
          <a:srcRect b="833" l="84" r="78374" t="82673"/>
          <a:stretch/>
        </p:blipFill>
        <p:spPr>
          <a:xfrm>
            <a:off x="0" y="5727600"/>
            <a:ext cx="2437914" cy="113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h6e25ffb5025d31ee_4_301"/>
          <p:cNvPicPr preferRelativeResize="0"/>
          <p:nvPr/>
        </p:nvPicPr>
        <p:blipFill rotWithShape="1">
          <a:blip r:embed="rId4">
            <a:alphaModFix/>
          </a:blip>
          <a:srcRect b="32032" l="0" r="0" t="36478"/>
          <a:stretch/>
        </p:blipFill>
        <p:spPr>
          <a:xfrm>
            <a:off x="0" y="2502000"/>
            <a:ext cx="12190295" cy="215855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h6e25ffb5025d31ee_4_301"/>
          <p:cNvSpPr txBox="1"/>
          <p:nvPr>
            <p:ph type="title"/>
          </p:nvPr>
        </p:nvSpPr>
        <p:spPr>
          <a:xfrm>
            <a:off x="1928156" y="2752560"/>
            <a:ext cx="78714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h6e25ffb5025d31ee_4_301"/>
          <p:cNvSpPr txBox="1"/>
          <p:nvPr>
            <p:ph idx="12" type="sldNum"/>
          </p:nvPr>
        </p:nvSpPr>
        <p:spPr>
          <a:xfrm>
            <a:off x="11409097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h6e25ffb5025d31ee_4_301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68605" lvl="0" marL="457200" marR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5275" lvl="1" marL="914400" marR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68605" lvl="2" marL="1371600" marR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5275" lvl="3" marL="1828800" marR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h6e25ffb5025d31ee_4_0"/>
          <p:cNvPicPr preferRelativeResize="0"/>
          <p:nvPr/>
        </p:nvPicPr>
        <p:blipFill rotWithShape="1">
          <a:blip r:embed="rId3">
            <a:alphaModFix/>
          </a:blip>
          <a:srcRect b="0" l="0" r="79008" t="80962"/>
          <a:stretch/>
        </p:blipFill>
        <p:spPr>
          <a:xfrm>
            <a:off x="-18000" y="5553000"/>
            <a:ext cx="2375634" cy="1304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h6e25ffb5025d31ee_4_0"/>
          <p:cNvPicPr preferRelativeResize="0"/>
          <p:nvPr/>
        </p:nvPicPr>
        <p:blipFill rotWithShape="1">
          <a:blip r:embed="rId4">
            <a:alphaModFix/>
          </a:blip>
          <a:srcRect b="28805" l="0" r="0" t="37794"/>
          <a:stretch/>
        </p:blipFill>
        <p:spPr>
          <a:xfrm>
            <a:off x="0" y="2592360"/>
            <a:ext cx="12191734" cy="22899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h6e25ffb5025d31ee_4_0"/>
          <p:cNvSpPr/>
          <p:nvPr/>
        </p:nvSpPr>
        <p:spPr>
          <a:xfrm>
            <a:off x="68400" y="2644550"/>
            <a:ext cx="5567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700" u="none" cap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r>
              <a:rPr b="1" lang="en-US" sz="3700">
                <a:solidFill>
                  <a:srgbClr val="005F89"/>
                </a:solidFill>
              </a:rPr>
              <a:t> </a:t>
            </a:r>
            <a:r>
              <a:rPr b="1" i="0" lang="en-US" sz="3700" u="none" cap="none" strike="noStrike">
                <a:solidFill>
                  <a:srgbClr val="005F89"/>
                </a:solidFill>
                <a:latin typeface="Arial"/>
                <a:ea typeface="Arial"/>
                <a:cs typeface="Arial"/>
                <a:sym typeface="Arial"/>
              </a:rPr>
              <a:t>and Geometric Learning</a:t>
            </a:r>
            <a:endParaRPr b="1" i="0" sz="3700" u="none" cap="none" strike="noStrike">
              <a:solidFill>
                <a:srgbClr val="005F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h6e25ffb5025d31ee_4_0"/>
          <p:cNvSpPr/>
          <p:nvPr/>
        </p:nvSpPr>
        <p:spPr>
          <a:xfrm>
            <a:off x="5752076" y="3023650"/>
            <a:ext cx="5021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7191"/>
                </a:solidFill>
              </a:rPr>
              <a:t>PCA · t-SNE · UMAP · KNN · SVM · K-means · Hierarchical clustering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6e25ffb5025d31ee_4_8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h6e25ffb5025d31ee_4_82"/>
          <p:cNvSpPr txBox="1"/>
          <p:nvPr/>
        </p:nvSpPr>
        <p:spPr>
          <a:xfrm>
            <a:off x="1915300" y="475850"/>
            <a:ext cx="593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400">
                <a:solidFill>
                  <a:srgbClr val="143552"/>
                </a:solidFill>
              </a:rPr>
              <a:t>What's for today</a:t>
            </a:r>
            <a:endParaRPr/>
          </a:p>
        </p:txBody>
      </p:sp>
      <p:sp>
        <p:nvSpPr>
          <p:cNvPr id="110" name="Google Shape;110;h6e25ffb5025d31ee_4_82"/>
          <p:cNvSpPr txBox="1"/>
          <p:nvPr/>
        </p:nvSpPr>
        <p:spPr>
          <a:xfrm>
            <a:off x="914400" y="1645920"/>
            <a:ext cx="102414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Why high-dimensional biological data change the meaning of distance.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PCA as linear dimensionality reduction and a diagnostic tool.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t-SNE and UMAP as nonlinear neighborhood-preserving embeddings.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KNN and SVM: supervised learning from geometry.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K-means and hierarchical clustering: discovering structure without labels.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6e25ffb5025d31ee_4_202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h6e25ffb5025d31ee_4_202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500">
                <a:solidFill>
                  <a:srgbClr val="18A999"/>
                </a:solidFill>
              </a:rPr>
              <a:t>Geometry in high-dimensional data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6e25ffb5025d31ee_4_202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What does close mean </a:t>
            </a:r>
            <a:r>
              <a:rPr lang="en-US" sz="1600">
                <a:solidFill>
                  <a:srgbClr val="007191"/>
                </a:solidFill>
              </a:rPr>
              <a:t>in ML?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h6e25ffb5025d31ee_4_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325" y="2182608"/>
            <a:ext cx="4425138" cy="2950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e25ffb5025d31ee_4_31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h6e25ffb5025d31ee_4_310"/>
          <p:cNvSpPr txBox="1"/>
          <p:nvPr/>
        </p:nvSpPr>
        <p:spPr>
          <a:xfrm>
            <a:off x="1786430" y="5669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Biology often has a p</a:t>
            </a:r>
            <a:r>
              <a:rPr b="1" lang="en-US" sz="2800">
                <a:solidFill>
                  <a:srgbClr val="00668A"/>
                </a:solidFill>
              </a:rPr>
              <a:t>&gt;</a:t>
            </a: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n problem or dime</a:t>
            </a:r>
            <a:r>
              <a:rPr b="1" lang="en-US" sz="2800">
                <a:solidFill>
                  <a:srgbClr val="00668A"/>
                </a:solidFill>
              </a:rPr>
              <a:t>nsionality curse</a:t>
            </a:r>
            <a:endParaRPr/>
          </a:p>
        </p:txBody>
      </p:sp>
      <p:sp>
        <p:nvSpPr>
          <p:cNvPr id="125" name="Google Shape;125;h6e25ffb5025d31ee_4_310"/>
          <p:cNvSpPr txBox="1"/>
          <p:nvPr/>
        </p:nvSpPr>
        <p:spPr>
          <a:xfrm>
            <a:off x="914400" y="1645920"/>
            <a:ext cx="102414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sz="1900">
                <a:solidFill>
                  <a:srgbClr val="222222"/>
                </a:solidFill>
              </a:rPr>
              <a:t> 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RNA-seq</a:t>
            </a:r>
            <a:r>
              <a:rPr lang="en-US" sz="1900">
                <a:solidFill>
                  <a:srgbClr val="222222"/>
                </a:solidFill>
              </a:rPr>
              <a:t> - 1-1000 samples/cells * 20000-100000 genes/variants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Metabolomics / proteomics </a:t>
            </a:r>
            <a:r>
              <a:rPr lang="en-US" sz="1900">
                <a:solidFill>
                  <a:srgbClr val="222222"/>
                </a:solidFill>
              </a:rPr>
              <a:t> - 10-1000 samples/cells * ~1000-2000 objects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Molecular</a:t>
            </a:r>
            <a:r>
              <a:rPr lang="en-US" sz="1900">
                <a:solidFill>
                  <a:srgbClr val="222222"/>
                </a:solidFill>
              </a:rPr>
              <a:t> descriptors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1,024</a:t>
            </a:r>
            <a:r>
              <a:rPr lang="en-US" sz="1900">
                <a:solidFill>
                  <a:srgbClr val="222222"/>
                </a:solidFill>
              </a:rPr>
              <a:t>-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4,096 binary or ~ </a:t>
            </a:r>
            <a:r>
              <a:rPr lang="en-US" sz="1900">
                <a:solidFill>
                  <a:srgbClr val="222222"/>
                </a:solidFill>
              </a:rPr>
              <a:t>250 </a:t>
            </a:r>
            <a:r>
              <a:rPr lang="en-US" sz="1900">
                <a:solidFill>
                  <a:srgbClr val="222222"/>
                </a:solidFill>
              </a:rPr>
              <a:t>continuous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26" name="Google Shape;126;h6e25ffb5025d31ee_4_3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83700"/>
            <a:ext cx="6136625" cy="37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1702a742ee3cae45_0_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h1702a742ee3cae45_0_0"/>
          <p:cNvSpPr txBox="1"/>
          <p:nvPr/>
        </p:nvSpPr>
        <p:spPr>
          <a:xfrm>
            <a:off x="1786430" y="5669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668A"/>
                </a:solidFill>
              </a:rPr>
              <a:t>Dimensionality reduction</a:t>
            </a:r>
            <a:endParaRPr/>
          </a:p>
        </p:txBody>
      </p:sp>
      <p:pic>
        <p:nvPicPr>
          <p:cNvPr id="133" name="Google Shape;133;h1702a742ee3cae4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188" y="1944153"/>
            <a:ext cx="6496050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6e25ffb5025d31ee_4_340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h6e25ffb5025d31ee_4_340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2</a:t>
            </a: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500">
                <a:solidFill>
                  <a:srgbClr val="18A999"/>
                </a:solidFill>
              </a:rPr>
              <a:t>Dimensionality reduction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h6e25ffb5025d31ee_4_340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How you can compress the data.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h6e25ffb5025d31ee_4_3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0802" y="1429500"/>
            <a:ext cx="2901175" cy="3545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6e25ffb5025d31ee_4_34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h6e25ffb5025d31ee_4_347"/>
          <p:cNvSpPr txBox="1"/>
          <p:nvPr/>
        </p:nvSpPr>
        <p:spPr>
          <a:xfrm>
            <a:off x="1786430" y="5669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PCA constructs new axes</a:t>
            </a:r>
            <a:endParaRPr/>
          </a:p>
        </p:txBody>
      </p:sp>
      <p:sp>
        <p:nvSpPr>
          <p:cNvPr id="148" name="Google Shape;148;h6e25ffb5025d31ee_4_347"/>
          <p:cNvSpPr txBox="1"/>
          <p:nvPr/>
        </p:nvSpPr>
        <p:spPr>
          <a:xfrm>
            <a:off x="822850" y="1422995"/>
            <a:ext cx="102414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PC1 is the direction containing the largest variance in the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PC2 captures the largest remaining variance while being orthogonal to PC1.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Additional components continue the same idea.</a:t>
            </a:r>
            <a:endParaRPr/>
          </a:p>
        </p:txBody>
      </p:sp>
      <p:pic>
        <p:nvPicPr>
          <p:cNvPr id="149" name="Google Shape;149;h6e25ffb5025d31ee_4_347"/>
          <p:cNvPicPr preferRelativeResize="0"/>
          <p:nvPr/>
        </p:nvPicPr>
        <p:blipFill rotWithShape="1">
          <a:blip r:embed="rId3">
            <a:alphaModFix/>
          </a:blip>
          <a:srcRect b="7201" l="0" r="0" t="0"/>
          <a:stretch/>
        </p:blipFill>
        <p:spPr>
          <a:xfrm>
            <a:off x="1957150" y="2702175"/>
            <a:ext cx="7918423" cy="37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h6e25ffb5025d31ee_4_347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e25ffb5025d31ee_4_35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h6e25ffb5025d31ee_4_356"/>
          <p:cNvSpPr txBox="1"/>
          <p:nvPr/>
        </p:nvSpPr>
        <p:spPr>
          <a:xfrm>
            <a:off x="1786430" y="5775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PCA intuition</a:t>
            </a:r>
            <a:r>
              <a:rPr b="1" lang="en-US" sz="2800">
                <a:solidFill>
                  <a:srgbClr val="00668A"/>
                </a:solidFill>
              </a:rPr>
              <a:t> - </a:t>
            </a: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 rotate</a:t>
            </a:r>
            <a:r>
              <a:rPr b="1" lang="en-US" sz="2800">
                <a:solidFill>
                  <a:srgbClr val="00668A"/>
                </a:solidFill>
              </a:rPr>
              <a:t> and</a:t>
            </a: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 then compress</a:t>
            </a:r>
            <a:endParaRPr/>
          </a:p>
        </p:txBody>
      </p:sp>
      <p:sp>
        <p:nvSpPr>
          <p:cNvPr id="157" name="Google Shape;157;h6e25ffb5025d31ee_4_356"/>
          <p:cNvSpPr txBox="1"/>
          <p:nvPr/>
        </p:nvSpPr>
        <p:spPr>
          <a:xfrm>
            <a:off x="1317825" y="1645920"/>
            <a:ext cx="102414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The observations do not change</a:t>
            </a:r>
            <a:r>
              <a:rPr lang="en-US" sz="1900">
                <a:solidFill>
                  <a:srgbClr val="222222"/>
                </a:solidFill>
              </a:rPr>
              <a:t> </a:t>
            </a:r>
            <a:r>
              <a:rPr lang="en-US" sz="1900">
                <a:solidFill>
                  <a:srgbClr val="222222"/>
                </a:solidFill>
              </a:rPr>
              <a:t>while</a:t>
            </a:r>
            <a:r>
              <a:rPr lang="en-US" sz="1900">
                <a:solidFill>
                  <a:srgbClr val="222222"/>
                </a:solidFill>
              </a:rPr>
              <a:t> 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coordinate system changes.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If most variance lies along a few directions, many original dimensions become redundant.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Keeping only the leading PCs creates a lower-dimensional representation.</a:t>
            </a:r>
            <a:endParaRPr/>
          </a:p>
        </p:txBody>
      </p:sp>
      <p:pic>
        <p:nvPicPr>
          <p:cNvPr id="158" name="Google Shape;158;h6e25ffb5025d31ee_4_3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613" y="2872028"/>
            <a:ext cx="8118751" cy="35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h6e25ffb5025d31ee_4_356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6e25ffb5025d31ee_4_38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h6e25ffb5025d31ee_4_382"/>
          <p:cNvSpPr txBox="1"/>
          <p:nvPr/>
        </p:nvSpPr>
        <p:spPr>
          <a:xfrm>
            <a:off x="1786430" y="5775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PCA</a:t>
            </a:r>
            <a:r>
              <a:rPr b="1" lang="en-US" sz="2800">
                <a:solidFill>
                  <a:srgbClr val="00668A"/>
                </a:solidFill>
              </a:rPr>
              <a:t> math</a:t>
            </a:r>
            <a:endParaRPr/>
          </a:p>
        </p:txBody>
      </p:sp>
      <p:sp>
        <p:nvSpPr>
          <p:cNvPr id="166" name="Google Shape;166;h6e25ffb5025d31ee_4_382"/>
          <p:cNvSpPr txBox="1"/>
          <p:nvPr/>
        </p:nvSpPr>
        <p:spPr>
          <a:xfrm>
            <a:off x="777240" y="1437145"/>
            <a:ext cx="33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Center the data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7" name="Google Shape;167;h6e25ffb5025d31ee_4_382"/>
          <p:cNvSpPr txBox="1"/>
          <p:nvPr/>
        </p:nvSpPr>
        <p:spPr>
          <a:xfrm>
            <a:off x="1005840" y="1847088"/>
            <a:ext cx="292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Xc = X − 1μᵀ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h6e25ffb5025d31ee_4_382"/>
          <p:cNvSpPr txBox="1"/>
          <p:nvPr/>
        </p:nvSpPr>
        <p:spPr>
          <a:xfrm>
            <a:off x="749808" y="2377440"/>
            <a:ext cx="3429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Subtract each feature mean so PCA describes variation around the data centre.</a:t>
            </a:r>
            <a:endParaRPr/>
          </a:p>
        </p:txBody>
      </p:sp>
      <p:sp>
        <p:nvSpPr>
          <p:cNvPr id="169" name="Google Shape;169;h6e25ffb5025d31ee_4_382"/>
          <p:cNvSpPr txBox="1"/>
          <p:nvPr/>
        </p:nvSpPr>
        <p:spPr>
          <a:xfrm>
            <a:off x="4343400" y="1417320"/>
            <a:ext cx="33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2. Describe covariance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70" name="Google Shape;170;h6e25ffb5025d31ee_4_382"/>
          <p:cNvSpPr txBox="1"/>
          <p:nvPr/>
        </p:nvSpPr>
        <p:spPr>
          <a:xfrm>
            <a:off x="4480560" y="1847088"/>
            <a:ext cx="306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 = 1/(n−1) · XcᵀXc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71" name="Google Shape;171;h6e25ffb5025d31ee_4_382"/>
          <p:cNvSpPr txBox="1"/>
          <p:nvPr/>
        </p:nvSpPr>
        <p:spPr>
          <a:xfrm>
            <a:off x="4315968" y="2377440"/>
            <a:ext cx="3429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 summarizes which features vary together and how much variance each contains.</a:t>
            </a:r>
            <a:endParaRPr/>
          </a:p>
        </p:txBody>
      </p:sp>
      <p:sp>
        <p:nvSpPr>
          <p:cNvPr id="172" name="Google Shape;172;h6e25ffb5025d31ee_4_382"/>
          <p:cNvSpPr txBox="1"/>
          <p:nvPr/>
        </p:nvSpPr>
        <p:spPr>
          <a:xfrm>
            <a:off x="7909560" y="1417320"/>
            <a:ext cx="347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3. Find principal directions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3" name="Google Shape;173;h6e25ffb5025d31ee_4_382"/>
          <p:cNvSpPr txBox="1"/>
          <p:nvPr/>
        </p:nvSpPr>
        <p:spPr>
          <a:xfrm>
            <a:off x="8183879" y="1847088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Cvₖ = λₖvₖ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4" name="Google Shape;174;h6e25ffb5025d31ee_4_382"/>
          <p:cNvSpPr txBox="1"/>
          <p:nvPr/>
        </p:nvSpPr>
        <p:spPr>
          <a:xfrm>
            <a:off x="7927848" y="2377440"/>
            <a:ext cx="3337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vₖ = loading direction; λₖ = variance captured along that direction.</a:t>
            </a:r>
            <a:endParaRPr/>
          </a:p>
        </p:txBody>
      </p:sp>
      <p:sp>
        <p:nvSpPr>
          <p:cNvPr id="175" name="Google Shape;175;h6e25ffb5025d31ee_4_382"/>
          <p:cNvSpPr txBox="1"/>
          <p:nvPr/>
        </p:nvSpPr>
        <p:spPr>
          <a:xfrm>
            <a:off x="1874519" y="3794760"/>
            <a:ext cx="42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4. Project samples into PC space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6" name="Google Shape;176;h6e25ffb5025d31ee_4_382"/>
          <p:cNvSpPr txBox="1"/>
          <p:nvPr/>
        </p:nvSpPr>
        <p:spPr>
          <a:xfrm>
            <a:off x="2331720" y="4251960"/>
            <a:ext cx="320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Z = XcV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7" name="Google Shape;177;h6e25ffb5025d31ee_4_382"/>
          <p:cNvSpPr txBox="1"/>
          <p:nvPr/>
        </p:nvSpPr>
        <p:spPr>
          <a:xfrm>
            <a:off x="1874519" y="4800600"/>
            <a:ext cx="420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Rows of Z are sample scores in the new coordinate system.</a:t>
            </a:r>
            <a:endParaRPr/>
          </a:p>
        </p:txBody>
      </p:sp>
      <p:sp>
        <p:nvSpPr>
          <p:cNvPr id="178" name="Google Shape;178;h6e25ffb5025d31ee_4_382"/>
          <p:cNvSpPr txBox="1"/>
          <p:nvPr/>
        </p:nvSpPr>
        <p:spPr>
          <a:xfrm>
            <a:off x="6492240" y="3794760"/>
            <a:ext cx="39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Explained variance of PC k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79" name="Google Shape;179;h6e25ffb5025d31ee_4_382"/>
          <p:cNvSpPr txBox="1"/>
          <p:nvPr/>
        </p:nvSpPr>
        <p:spPr>
          <a:xfrm>
            <a:off x="6858000" y="4251960"/>
            <a:ext cx="320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EVRₖ = λₖ / Σⱼ λⱼ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0" name="Google Shape;180;h6e25ffb5025d31ee_4_382"/>
          <p:cNvSpPr txBox="1"/>
          <p:nvPr/>
        </p:nvSpPr>
        <p:spPr>
          <a:xfrm>
            <a:off x="6446520" y="4800600"/>
            <a:ext cx="406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Large eigenvalue </a:t>
            </a:r>
            <a:r>
              <a:rPr lang="en-US" sz="1700">
                <a:solidFill>
                  <a:srgbClr val="191919"/>
                </a:solidFill>
              </a:rPr>
              <a:t>meaning</a:t>
            </a:r>
            <a:r>
              <a:rPr b="0" i="0" lang="en-US" sz="17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that PC captures a larger fraction of total variance.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e25ffb5025d31ee_4_36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h6e25ffb5025d31ee_4_362"/>
          <p:cNvSpPr txBox="1"/>
          <p:nvPr/>
        </p:nvSpPr>
        <p:spPr>
          <a:xfrm>
            <a:off x="1739180" y="5457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Scores, loadings and explained variance</a:t>
            </a:r>
            <a:endParaRPr/>
          </a:p>
        </p:txBody>
      </p:sp>
      <p:sp>
        <p:nvSpPr>
          <p:cNvPr id="187" name="Google Shape;187;h6e25ffb5025d31ee_4_362"/>
          <p:cNvSpPr txBox="1"/>
          <p:nvPr/>
        </p:nvSpPr>
        <p:spPr>
          <a:xfrm>
            <a:off x="914400" y="1645920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Scores: coordinates of samples in PC space </a:t>
            </a:r>
            <a:r>
              <a:rPr lang="en-US" sz="1900">
                <a:solidFill>
                  <a:srgbClr val="222222"/>
                </a:solidFill>
              </a:rPr>
              <a:t>-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where are the samples?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Loadings: contribution of original features </a:t>
            </a:r>
            <a:r>
              <a:rPr lang="en-US" sz="1900">
                <a:solidFill>
                  <a:srgbClr val="222222"/>
                </a:solidFill>
              </a:rPr>
              <a:t>-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what defines each PC?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Explained variance: fraction of total variance captured by each PC.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These three outputs answer different biological questions.</a:t>
            </a:r>
            <a:endParaRPr/>
          </a:p>
        </p:txBody>
      </p:sp>
      <p:pic>
        <p:nvPicPr>
          <p:cNvPr id="188" name="Google Shape;188;h6e25ffb5025d31ee_4_3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00" y="3292925"/>
            <a:ext cx="5240601" cy="349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6e25ffb5025d31ee_4_38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h6e25ffb5025d31ee_4_389"/>
          <p:cNvSpPr txBox="1"/>
          <p:nvPr/>
        </p:nvSpPr>
        <p:spPr>
          <a:xfrm>
            <a:off x="1579955" y="5775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How many PCs should we keep?</a:t>
            </a:r>
            <a:endParaRPr/>
          </a:p>
        </p:txBody>
      </p:sp>
      <p:sp>
        <p:nvSpPr>
          <p:cNvPr id="195" name="Google Shape;195;h6e25ffb5025d31ee_4_389"/>
          <p:cNvSpPr txBox="1"/>
          <p:nvPr/>
        </p:nvSpPr>
        <p:spPr>
          <a:xfrm>
            <a:off x="1625675" y="1433620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Scree plot: inspect the decline in explained variance.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Cumulative explained variance can be useful, but 80% or 90% is not a universal rule.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 low-variance PC can still contain biologically predictive information.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The appropriate number of PCs depends on the downstream task.</a:t>
            </a:r>
            <a:endParaRPr/>
          </a:p>
        </p:txBody>
      </p:sp>
      <p:pic>
        <p:nvPicPr>
          <p:cNvPr id="196" name="Google Shape;196;h6e25ffb5025d31ee_4_3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275" y="3253020"/>
            <a:ext cx="6954327" cy="324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6e25ffb5025d31ee_4_395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h6e25ffb5025d31ee_4_395"/>
          <p:cNvSpPr txBox="1"/>
          <p:nvPr/>
        </p:nvSpPr>
        <p:spPr>
          <a:xfrm>
            <a:off x="1740705" y="6094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PCA as a bioinformatics diagnostic</a:t>
            </a:r>
            <a:endParaRPr/>
          </a:p>
        </p:txBody>
      </p:sp>
      <p:sp>
        <p:nvSpPr>
          <p:cNvPr id="203" name="Google Shape;203;h6e25ffb5025d31ee_4_395"/>
          <p:cNvSpPr txBox="1"/>
          <p:nvPr/>
        </p:nvSpPr>
        <p:spPr>
          <a:xfrm>
            <a:off x="1786425" y="1688395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Color samples by treatment, tissue, sex, batch, sequencing run or donor.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Unexpected separation can reveal batch effects or sample swaps.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Outlying samples may indicate technical or biological anomalies.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PCA is often one of the first plots inspected after expression normalization.</a:t>
            </a:r>
            <a:endParaRPr/>
          </a:p>
        </p:txBody>
      </p:sp>
      <p:pic>
        <p:nvPicPr>
          <p:cNvPr id="204" name="Google Shape;204;h6e25ffb5025d31ee_4_395"/>
          <p:cNvPicPr preferRelativeResize="0"/>
          <p:nvPr/>
        </p:nvPicPr>
        <p:blipFill rotWithShape="1">
          <a:blip r:embed="rId3">
            <a:alphaModFix/>
          </a:blip>
          <a:srcRect b="0" l="0" r="0" t="3138"/>
          <a:stretch/>
        </p:blipFill>
        <p:spPr>
          <a:xfrm>
            <a:off x="2133588" y="3429000"/>
            <a:ext cx="7924800" cy="29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h6e25ffb5025d31ee_4_395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e25ffb5025d31ee_4_40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h6e25ffb5025d31ee_4_403"/>
          <p:cNvSpPr txBox="1"/>
          <p:nvPr/>
        </p:nvSpPr>
        <p:spPr>
          <a:xfrm>
            <a:off x="1740705" y="72617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Should we scale before PCA?</a:t>
            </a:r>
            <a:endParaRPr/>
          </a:p>
        </p:txBody>
      </p:sp>
      <p:sp>
        <p:nvSpPr>
          <p:cNvPr id="212" name="Google Shape;212;h6e25ffb5025d31ee_4_403"/>
          <p:cNvSpPr txBox="1"/>
          <p:nvPr/>
        </p:nvSpPr>
        <p:spPr>
          <a:xfrm>
            <a:off x="1786425" y="1805170"/>
            <a:ext cx="10241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Centering is fundamental: PCA should generally operate around feature means.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Unit-variance scaling is useful when features have incomparable physical units.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For normalized expression data, scaling every gene can strongly change which genes drive PCA.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Always connect preprocessing to the meaning of variance in the dataset.</a:t>
            </a:r>
            <a:endParaRPr/>
          </a:p>
        </p:txBody>
      </p:sp>
      <p:sp>
        <p:nvSpPr>
          <p:cNvPr id="213" name="Google Shape;213;h6e25ffb5025d31ee_4_403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6e25ffb5025d31ee_4_41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h6e25ffb5025d31ee_4_411"/>
          <p:cNvSpPr txBox="1"/>
          <p:nvPr/>
        </p:nvSpPr>
        <p:spPr>
          <a:xfrm>
            <a:off x="1485905" y="7155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PCA is linear</a:t>
            </a:r>
            <a:endParaRPr/>
          </a:p>
        </p:txBody>
      </p:sp>
      <p:sp>
        <p:nvSpPr>
          <p:cNvPr id="220" name="Google Shape;220;h6e25ffb5025d31ee_4_411"/>
          <p:cNvSpPr txBox="1"/>
          <p:nvPr/>
        </p:nvSpPr>
        <p:spPr>
          <a:xfrm>
            <a:off x="1701475" y="1539770"/>
            <a:ext cx="102414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 curved low-dimensional manifold may require many linear PCs.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PCA preserves variance globally, not local neighborhood structure specifically.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This motivates nonlinear visualization methods such as t-SNE and UMAP.</a:t>
            </a:r>
            <a:endParaRPr/>
          </a:p>
        </p:txBody>
      </p:sp>
      <p:pic>
        <p:nvPicPr>
          <p:cNvPr id="221" name="Google Shape;221;h6e25ffb5025d31ee_4_4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350" y="2863970"/>
            <a:ext cx="10097654" cy="36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h6e25ffb5025d31ee_4_411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6e25ffb5025d31ee_4_422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h6e25ffb5025d31ee_4_422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3</a:t>
            </a: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Advanced </a:t>
            </a:r>
            <a:r>
              <a:rPr lang="en-US" sz="2500">
                <a:solidFill>
                  <a:srgbClr val="18A999"/>
                </a:solidFill>
              </a:rPr>
              <a:t>d</a:t>
            </a:r>
            <a:r>
              <a:rPr lang="en-US" sz="2500">
                <a:solidFill>
                  <a:srgbClr val="18A999"/>
                </a:solidFill>
              </a:rPr>
              <a:t>imensionality reduction 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6e25ffb5025d31ee_4_422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Nobody really knows </a:t>
            </a:r>
            <a:r>
              <a:rPr lang="en-US" sz="1600">
                <a:solidFill>
                  <a:srgbClr val="007191"/>
                </a:solidFill>
              </a:rPr>
              <a:t>like</a:t>
            </a:r>
            <a:r>
              <a:rPr lang="en-US" sz="1600">
                <a:solidFill>
                  <a:srgbClr val="007191"/>
                </a:solidFill>
              </a:rPr>
              <a:t> they work - but they do</a:t>
            </a:r>
            <a:r>
              <a:rPr b="0" i="0" lang="en-US" sz="1600" u="none" cap="none" strike="noStrike">
                <a:solidFill>
                  <a:srgbClr val="00719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h6e25ffb5025d31ee_4_4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077" y="1581650"/>
            <a:ext cx="2866902" cy="38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6e25ffb5025d31ee_4_42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h6e25ffb5025d31ee_4_428"/>
          <p:cNvSpPr txBox="1"/>
          <p:nvPr/>
        </p:nvSpPr>
        <p:spPr>
          <a:xfrm>
            <a:off x="1786430" y="4714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t-SNE: preserve local neighborhoods</a:t>
            </a:r>
            <a:endParaRPr/>
          </a:p>
        </p:txBody>
      </p:sp>
      <p:sp>
        <p:nvSpPr>
          <p:cNvPr id="237" name="Google Shape;237;h6e25ffb5025d31ee_4_428"/>
          <p:cNvSpPr txBox="1"/>
          <p:nvPr/>
        </p:nvSpPr>
        <p:spPr>
          <a:xfrm>
            <a:off x="284775" y="1422975"/>
            <a:ext cx="46305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High-dimensional pairwise similarities are converted into probabilities.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The 2D/3D embedding is optimized so nearby samples remain nearby.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The objective emphasizes local structure more strongly than global geometry.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Its primary use is visualization, not general-purpose feature compression.</a:t>
            </a:r>
            <a:endParaRPr/>
          </a:p>
        </p:txBody>
      </p:sp>
      <p:pic>
        <p:nvPicPr>
          <p:cNvPr id="238" name="Google Shape;238;h6e25ffb5025d31ee_4_4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275" y="1365125"/>
            <a:ext cx="6949300" cy="496022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h6e25ffb5025d31ee_4_428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6e25ffb5025d31ee_4_43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h6e25ffb5025d31ee_4_434"/>
          <p:cNvSpPr txBox="1"/>
          <p:nvPr/>
        </p:nvSpPr>
        <p:spPr>
          <a:xfrm>
            <a:off x="1728580" y="5881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Perplexity changes the scale of t-SNE</a:t>
            </a:r>
            <a:endParaRPr/>
          </a:p>
        </p:txBody>
      </p:sp>
      <p:sp>
        <p:nvSpPr>
          <p:cNvPr id="246" name="Google Shape;246;h6e25ffb5025d31ee_4_434"/>
          <p:cNvSpPr txBox="1"/>
          <p:nvPr/>
        </p:nvSpPr>
        <p:spPr>
          <a:xfrm>
            <a:off x="914400" y="1645925"/>
            <a:ext cx="29712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Low perplexity emphasizes very local neighborhoods and may fragment structure.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Higher perplexity considers broader neighborhoods.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Different reasonable values can produce different-looking embeddings.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Do not choose the setting simply because it produces the prettiest separation.</a:t>
            </a:r>
            <a:endParaRPr/>
          </a:p>
        </p:txBody>
      </p:sp>
      <p:pic>
        <p:nvPicPr>
          <p:cNvPr id="247" name="Google Shape;247;h6e25ffb5025d31ee_4_4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300" y="1060828"/>
            <a:ext cx="5825879" cy="544184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h6e25ffb5025d31ee_4_434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6e25ffb5025d31ee_4_44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h6e25ffb5025d31ee_4_444"/>
          <p:cNvSpPr txBox="1"/>
          <p:nvPr/>
        </p:nvSpPr>
        <p:spPr>
          <a:xfrm>
            <a:off x="1696730" y="5775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UMAP: build a neighborhood graph</a:t>
            </a:r>
            <a:endParaRPr/>
          </a:p>
        </p:txBody>
      </p:sp>
      <p:sp>
        <p:nvSpPr>
          <p:cNvPr id="255" name="Google Shape;255;h6e25ffb5025d31ee_4_444"/>
          <p:cNvSpPr txBox="1"/>
          <p:nvPr/>
        </p:nvSpPr>
        <p:spPr>
          <a:xfrm>
            <a:off x="914400" y="1645920"/>
            <a:ext cx="102414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UMAP estimates local relationships in high-dimensional space.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It constructs a weighted neighborhood graph and embeds that graph in fewer dimensions.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It is fast enough for many large biological datasets and is widely used in single-cell analysis.</a:t>
            </a:r>
            <a:endParaRPr/>
          </a:p>
        </p:txBody>
      </p:sp>
      <p:sp>
        <p:nvSpPr>
          <p:cNvPr id="256" name="Google Shape;256;h6e25ffb5025d31ee_4_444"/>
          <p:cNvSpPr txBox="1"/>
          <p:nvPr/>
        </p:nvSpPr>
        <p:spPr>
          <a:xfrm>
            <a:off x="1234440" y="4434840"/>
            <a:ext cx="941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X → k-neighbor graph → low-dimensional embedding</a:t>
            </a:r>
            <a:endParaRPr/>
          </a:p>
        </p:txBody>
      </p:sp>
      <p:sp>
        <p:nvSpPr>
          <p:cNvPr id="257" name="Google Shape;257;h6e25ffb5025d31ee_4_444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h6e25ffb5025d31ee_4_444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6e25ffb5025d31ee_4_45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h6e25ffb5025d31ee_4_450"/>
          <p:cNvSpPr txBox="1"/>
          <p:nvPr/>
        </p:nvSpPr>
        <p:spPr>
          <a:xfrm>
            <a:off x="1303930" y="8217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UMAP hyperparameters</a:t>
            </a:r>
            <a:endParaRPr/>
          </a:p>
        </p:txBody>
      </p:sp>
      <p:sp>
        <p:nvSpPr>
          <p:cNvPr id="265" name="Google Shape;265;h6e25ffb5025d31ee_4_450"/>
          <p:cNvSpPr txBox="1"/>
          <p:nvPr/>
        </p:nvSpPr>
        <p:spPr>
          <a:xfrm>
            <a:off x="649000" y="1521350"/>
            <a:ext cx="35232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n_neighbors: local versus broader neighborhood structure.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min_dist: how tightly observations can pack in the embedding.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metric: what similarity means in the original feature space.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h6e25ffb5025d31ee_4_4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275" y="1564325"/>
            <a:ext cx="8034028" cy="437007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h6e25ffb5025d31ee_4_450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6e25ffb5025d31ee_4_450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6e25ffb5025d31ee_4_469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h6e25ffb5025d31ee_4_469"/>
          <p:cNvSpPr txBox="1"/>
          <p:nvPr/>
        </p:nvSpPr>
        <p:spPr>
          <a:xfrm>
            <a:off x="914405" y="98097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Typical single-cell workflow</a:t>
            </a:r>
            <a:endParaRPr/>
          </a:p>
        </p:txBody>
      </p:sp>
      <p:sp>
        <p:nvSpPr>
          <p:cNvPr id="275" name="Google Shape;275;h6e25ffb5025d31ee_4_469"/>
          <p:cNvSpPr txBox="1"/>
          <p:nvPr/>
        </p:nvSpPr>
        <p:spPr>
          <a:xfrm>
            <a:off x="914400" y="1645920"/>
            <a:ext cx="102414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Normalize / transform expression.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Select informative or highly variable genes.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Use PCA to create a compact analytical representation.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Construct neighbors / clusters in PC space.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Use UMAP primarily to visualize those relationships.</a:t>
            </a:r>
            <a:endParaRPr/>
          </a:p>
        </p:txBody>
      </p:sp>
      <p:sp>
        <p:nvSpPr>
          <p:cNvPr id="276" name="Google Shape;276;h6e25ffb5025d31ee_4_469"/>
          <p:cNvSpPr txBox="1"/>
          <p:nvPr/>
        </p:nvSpPr>
        <p:spPr>
          <a:xfrm>
            <a:off x="1234440" y="4434840"/>
            <a:ext cx="9418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expression → variable genes → PCA → neighbors/clusters → UMAP</a:t>
            </a:r>
            <a:endParaRPr/>
          </a:p>
        </p:txBody>
      </p:sp>
      <p:sp>
        <p:nvSpPr>
          <p:cNvPr id="277" name="Google Shape;277;h6e25ffb5025d31ee_4_469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h6e25ffb5025d31ee_4_469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6e25ffb5025d31ee_4_514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h6e25ffb5025d31ee_4_514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3</a:t>
            </a: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500">
                <a:solidFill>
                  <a:srgbClr val="18A999"/>
                </a:solidFill>
              </a:rPr>
              <a:t>K-nearest neighbours 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h6e25ffb5025d31ee_4_514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Y</a:t>
            </a:r>
            <a:r>
              <a:rPr lang="en-US" sz="1600">
                <a:solidFill>
                  <a:srgbClr val="007191"/>
                </a:solidFill>
              </a:rPr>
              <a:t>ou are the sum of the 5 people closest to you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h6e25ffb5025d31ee_4_5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0675" y="2088183"/>
            <a:ext cx="4431291" cy="2950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6e25ffb5025d31ee_4_32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h6e25ffb5025d31ee_4_320"/>
          <p:cNvSpPr txBox="1"/>
          <p:nvPr/>
        </p:nvSpPr>
        <p:spPr>
          <a:xfrm>
            <a:off x="1786430" y="5466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Distance is the common language</a:t>
            </a:r>
            <a:endParaRPr/>
          </a:p>
        </p:txBody>
      </p:sp>
      <p:pic>
        <p:nvPicPr>
          <p:cNvPr id="293" name="Google Shape;293;h6e25ffb5025d31ee_4_3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575" y="1069800"/>
            <a:ext cx="5283357" cy="532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h6e25ffb5025d31ee_4_320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6e25ffb5025d31ee_4_33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h6e25ffb5025d31ee_4_330"/>
          <p:cNvSpPr txBox="1"/>
          <p:nvPr/>
        </p:nvSpPr>
        <p:spPr>
          <a:xfrm>
            <a:off x="1786430" y="6482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Why scaling matters</a:t>
            </a:r>
            <a:endParaRPr/>
          </a:p>
        </p:txBody>
      </p:sp>
      <p:sp>
        <p:nvSpPr>
          <p:cNvPr id="301" name="Google Shape;301;h6e25ffb5025d31ee_4_330"/>
          <p:cNvSpPr txBox="1"/>
          <p:nvPr/>
        </p:nvSpPr>
        <p:spPr>
          <a:xfrm>
            <a:off x="975350" y="1666245"/>
            <a:ext cx="102414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900">
                <a:solidFill>
                  <a:srgbClr val="222222"/>
                </a:solidFill>
              </a:rPr>
              <a:t>D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istance is sensitive to feature scale(and some other metrics too).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 variable spanning 0</a:t>
            </a:r>
            <a:r>
              <a:rPr lang="en-US" sz="1900">
                <a:solidFill>
                  <a:srgbClr val="222222"/>
                </a:solidFill>
              </a:rPr>
              <a:t>-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100 can dominate another spanning 0</a:t>
            </a:r>
            <a:r>
              <a:rPr lang="en-US" sz="1900">
                <a:solidFill>
                  <a:srgbClr val="222222"/>
                </a:solidFill>
              </a:rPr>
              <a:t>-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Standardization is therefore essential for many distance-based workflows.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6e25ffb5025d31ee_4_49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h6e25ffb5025d31ee_4_493"/>
          <p:cNvSpPr txBox="1"/>
          <p:nvPr/>
        </p:nvSpPr>
        <p:spPr>
          <a:xfrm>
            <a:off x="925705" y="8748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KNN</a:t>
            </a:r>
            <a:endParaRPr/>
          </a:p>
        </p:txBody>
      </p:sp>
      <p:sp>
        <p:nvSpPr>
          <p:cNvPr id="308" name="Google Shape;308;h6e25ffb5025d31ee_4_493"/>
          <p:cNvSpPr txBox="1"/>
          <p:nvPr/>
        </p:nvSpPr>
        <p:spPr>
          <a:xfrm>
            <a:off x="861325" y="1486670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For a new observation, calculate its distance to training samples.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Select the k nearest observations.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Classification: vote among their labels.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Regression: average or distance-weight their target values.</a:t>
            </a:r>
            <a:endParaRPr/>
          </a:p>
        </p:txBody>
      </p:sp>
      <p:pic>
        <p:nvPicPr>
          <p:cNvPr id="309" name="Google Shape;309;h6e25ffb5025d31ee_4_4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75" y="3222350"/>
            <a:ext cx="4943350" cy="35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6e25ffb5025d31ee_4_50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h6e25ffb5025d31ee_4_503"/>
          <p:cNvSpPr txBox="1"/>
          <p:nvPr/>
        </p:nvSpPr>
        <p:spPr>
          <a:xfrm>
            <a:off x="1009305" y="10340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k controls model complexity</a:t>
            </a:r>
            <a:endParaRPr/>
          </a:p>
        </p:txBody>
      </p:sp>
      <p:sp>
        <p:nvSpPr>
          <p:cNvPr id="316" name="Google Shape;316;h6e25ffb5025d31ee_4_503"/>
          <p:cNvSpPr txBox="1"/>
          <p:nvPr/>
        </p:nvSpPr>
        <p:spPr>
          <a:xfrm>
            <a:off x="975275" y="1665220"/>
            <a:ext cx="102414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k = 1 produces a very flexible boundary and is sensitive to noise.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Increasing k smooths the decision boundary.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Very large k can wash out local structure and favor majority classes.</a:t>
            </a:r>
            <a:endParaRPr/>
          </a:p>
        </p:txBody>
      </p:sp>
      <p:pic>
        <p:nvPicPr>
          <p:cNvPr id="317" name="Google Shape;317;h6e25ffb5025d31ee_4_503"/>
          <p:cNvPicPr preferRelativeResize="0"/>
          <p:nvPr/>
        </p:nvPicPr>
        <p:blipFill rotWithShape="1">
          <a:blip r:embed="rId3">
            <a:alphaModFix/>
          </a:blip>
          <a:srcRect b="6673" l="0" r="0" t="0"/>
          <a:stretch/>
        </p:blipFill>
        <p:spPr>
          <a:xfrm>
            <a:off x="2045025" y="2891325"/>
            <a:ext cx="8101898" cy="34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h6e25ffb5025d31ee_4_503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h6e25ffb5025d31ee_4_503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c3bd101ab3ca173_0_1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hc3bd101ab3ca173_0_16"/>
          <p:cNvSpPr txBox="1"/>
          <p:nvPr/>
        </p:nvSpPr>
        <p:spPr>
          <a:xfrm>
            <a:off x="893955" y="9711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668A"/>
                </a:solidFill>
              </a:rPr>
              <a:t>KNN training and inference</a:t>
            </a:r>
            <a:endParaRPr/>
          </a:p>
        </p:txBody>
      </p:sp>
      <p:pic>
        <p:nvPicPr>
          <p:cNvPr id="326" name="Google Shape;326;hc3bd101ab3ca173_0_16"/>
          <p:cNvPicPr preferRelativeResize="0"/>
          <p:nvPr/>
        </p:nvPicPr>
        <p:blipFill rotWithShape="1">
          <a:blip r:embed="rId3">
            <a:alphaModFix/>
          </a:blip>
          <a:srcRect b="0" l="0" r="0" t="4889"/>
          <a:stretch/>
        </p:blipFill>
        <p:spPr>
          <a:xfrm>
            <a:off x="5919825" y="713075"/>
            <a:ext cx="5011724" cy="572590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hc3bd101ab3ca173_0_16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hc3bd101ab3ca173_0_16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6e25ffb5025d31ee_4_478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h6e25ffb5025d31ee_4_478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3</a:t>
            </a: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500">
                <a:solidFill>
                  <a:srgbClr val="18A999"/>
                </a:solidFill>
              </a:rPr>
              <a:t>Support vector machine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h6e25ffb5025d31ee_4_478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How to draw a </a:t>
            </a:r>
            <a:r>
              <a:rPr lang="en-US" sz="1600">
                <a:solidFill>
                  <a:srgbClr val="007191"/>
                </a:solidFill>
              </a:rPr>
              <a:t>meaningful</a:t>
            </a:r>
            <a:r>
              <a:rPr lang="en-US" sz="1600">
                <a:solidFill>
                  <a:srgbClr val="007191"/>
                </a:solidFill>
              </a:rPr>
              <a:t> border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h6e25ffb5025d31ee_4_4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2350" y="2109158"/>
            <a:ext cx="4419614" cy="2950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6e25ffb5025d31ee_4_520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h6e25ffb5025d31ee_4_520"/>
          <p:cNvSpPr txBox="1"/>
          <p:nvPr/>
        </p:nvSpPr>
        <p:spPr>
          <a:xfrm>
            <a:off x="914405" y="8960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The maximum-margin idea</a:t>
            </a:r>
            <a:endParaRPr/>
          </a:p>
        </p:txBody>
      </p:sp>
      <p:sp>
        <p:nvSpPr>
          <p:cNvPr id="343" name="Google Shape;343;h6e25ffb5025d31ee_4_520"/>
          <p:cNvSpPr txBox="1"/>
          <p:nvPr/>
        </p:nvSpPr>
        <p:spPr>
          <a:xfrm>
            <a:off x="914400" y="1645920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Many hyperplanes may separate two classes.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SVM chooses the boundary that maximizes the margin to the closest training observations.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Those closest observations are the support vectors.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Only a subset of training samples directly defines the final boundary.</a:t>
            </a:r>
            <a:endParaRPr/>
          </a:p>
        </p:txBody>
      </p:sp>
      <p:pic>
        <p:nvPicPr>
          <p:cNvPr id="344" name="Google Shape;344;h6e25ffb5025d31ee_4_5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600" y="3292925"/>
            <a:ext cx="3629454" cy="35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h6e25ffb5025d31ee_4_53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h6e25ffb5025d31ee_4_531"/>
          <p:cNvSpPr txBox="1"/>
          <p:nvPr/>
        </p:nvSpPr>
        <p:spPr>
          <a:xfrm>
            <a:off x="836830" y="10128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Soft margin and C</a:t>
            </a:r>
            <a:endParaRPr/>
          </a:p>
        </p:txBody>
      </p:sp>
      <p:sp>
        <p:nvSpPr>
          <p:cNvPr id="351" name="Google Shape;351;h6e25ffb5025d31ee_4_531"/>
          <p:cNvSpPr txBox="1"/>
          <p:nvPr/>
        </p:nvSpPr>
        <p:spPr>
          <a:xfrm>
            <a:off x="836825" y="1648470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Perfect separation is usually unrealistic for noisy biological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 controls the penalty for margin violations / classification errors.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Large C: fit training labels more strictly.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Small C: allow more violations and favor a wider, more regularized margin.</a:t>
            </a:r>
            <a:endParaRPr/>
          </a:p>
        </p:txBody>
      </p:sp>
      <p:pic>
        <p:nvPicPr>
          <p:cNvPr id="352" name="Google Shape;352;h6e25ffb5025d31ee_4_531"/>
          <p:cNvPicPr preferRelativeResize="0"/>
          <p:nvPr/>
        </p:nvPicPr>
        <p:blipFill rotWithShape="1">
          <a:blip r:embed="rId3">
            <a:alphaModFix/>
          </a:blip>
          <a:srcRect b="6463" l="0" r="0" t="0"/>
          <a:stretch/>
        </p:blipFill>
        <p:spPr>
          <a:xfrm>
            <a:off x="1203375" y="3295475"/>
            <a:ext cx="9313403" cy="320719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h6e25ffb5025d31ee_4_531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6e25ffb5025d31ee_4_531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6e25ffb5025d31ee_4_53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h6e25ffb5025d31ee_4_538"/>
          <p:cNvSpPr txBox="1"/>
          <p:nvPr/>
        </p:nvSpPr>
        <p:spPr>
          <a:xfrm>
            <a:off x="858055" y="8960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The kernel trick</a:t>
            </a:r>
            <a:endParaRPr/>
          </a:p>
        </p:txBody>
      </p:sp>
      <p:sp>
        <p:nvSpPr>
          <p:cNvPr id="361" name="Google Shape;361;h6e25ffb5025d31ee_4_538"/>
          <p:cNvSpPr txBox="1"/>
          <p:nvPr/>
        </p:nvSpPr>
        <p:spPr>
          <a:xfrm>
            <a:off x="903775" y="1709620"/>
            <a:ext cx="10241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 nonlinear boundary in the original feature space may become linear in a transformed space.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Kernel functions compute similarity without explicitly creating all transformed features.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Common choices: linear, polynomial and radial basis function (RBF) kernels.</a:t>
            </a:r>
            <a:endParaRPr/>
          </a:p>
        </p:txBody>
      </p:sp>
      <p:pic>
        <p:nvPicPr>
          <p:cNvPr id="362" name="Google Shape;362;h6e25ffb5025d31ee_4_538"/>
          <p:cNvPicPr preferRelativeResize="0"/>
          <p:nvPr/>
        </p:nvPicPr>
        <p:blipFill rotWithShape="1">
          <a:blip r:embed="rId3">
            <a:alphaModFix/>
          </a:blip>
          <a:srcRect b="9107" l="0" r="0" t="0"/>
          <a:stretch/>
        </p:blipFill>
        <p:spPr>
          <a:xfrm>
            <a:off x="964013" y="3177700"/>
            <a:ext cx="10029471" cy="33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6e25ffb5025d31ee_4_55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h6e25ffb5025d31ee_4_554"/>
          <p:cNvSpPr txBox="1"/>
          <p:nvPr/>
        </p:nvSpPr>
        <p:spPr>
          <a:xfrm>
            <a:off x="952430" y="92787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Why SVM is useful in bioinformatics</a:t>
            </a:r>
            <a:endParaRPr/>
          </a:p>
        </p:txBody>
      </p:sp>
      <p:pic>
        <p:nvPicPr>
          <p:cNvPr id="369" name="Google Shape;369;h6e25ffb5025d31ee_4_5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2135774"/>
            <a:ext cx="11679451" cy="2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h6e25ffb5025d31ee_4_554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6e25ffb5025d31ee_4_563"/>
          <p:cNvSpPr txBox="1"/>
          <p:nvPr>
            <p:ph idx="12" type="sldNum"/>
          </p:nvPr>
        </p:nvSpPr>
        <p:spPr>
          <a:xfrm>
            <a:off x="11409073" y="633312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2025" lIns="122025" spcFirstLastPara="1" rIns="122025" wrap="square" tIns="1220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h6e25ffb5025d31ee_4_563"/>
          <p:cNvSpPr txBox="1"/>
          <p:nvPr/>
        </p:nvSpPr>
        <p:spPr>
          <a:xfrm>
            <a:off x="914400" y="2770632"/>
            <a:ext cx="10058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18A999"/>
                </a:solidFill>
              </a:rPr>
              <a:t>3</a:t>
            </a:r>
            <a:r>
              <a:rPr b="0" i="0" lang="en-US" sz="2500" u="none" cap="none" strike="noStrike">
                <a:solidFill>
                  <a:srgbClr val="18A99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500">
                <a:solidFill>
                  <a:srgbClr val="18A999"/>
                </a:solidFill>
              </a:rPr>
              <a:t>Clustering</a:t>
            </a:r>
            <a:endParaRPr b="0" i="0" sz="1800" u="none" cap="none" strike="noStrike">
              <a:solidFill>
                <a:srgbClr val="18A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h6e25ffb5025d31ee_4_563"/>
          <p:cNvSpPr txBox="1"/>
          <p:nvPr/>
        </p:nvSpPr>
        <p:spPr>
          <a:xfrm>
            <a:off x="914400" y="3264408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7191"/>
                </a:solidFill>
              </a:rPr>
              <a:t>I </a:t>
            </a:r>
            <a:r>
              <a:rPr lang="en-US" sz="1600">
                <a:solidFill>
                  <a:srgbClr val="007191"/>
                </a:solidFill>
              </a:rPr>
              <a:t>don't</a:t>
            </a:r>
            <a:r>
              <a:rPr lang="en-US" sz="1600">
                <a:solidFill>
                  <a:srgbClr val="007191"/>
                </a:solidFill>
              </a:rPr>
              <a:t> know anything - what can be done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h6e25ffb5025d31ee_4_5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1875" y="2193058"/>
            <a:ext cx="2950092" cy="2950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6e25ffb5025d31ee_4_57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h6e25ffb5025d31ee_4_573"/>
          <p:cNvSpPr txBox="1"/>
          <p:nvPr/>
        </p:nvSpPr>
        <p:spPr>
          <a:xfrm>
            <a:off x="1094230" y="9703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Supervised vs unsupervised geometry</a:t>
            </a:r>
            <a:endParaRPr/>
          </a:p>
        </p:txBody>
      </p:sp>
      <p:sp>
        <p:nvSpPr>
          <p:cNvPr id="385" name="Google Shape;385;h6e25ffb5025d31ee_4_573"/>
          <p:cNvSpPr txBox="1"/>
          <p:nvPr/>
        </p:nvSpPr>
        <p:spPr>
          <a:xfrm>
            <a:off x="1161175" y="1592845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KNN / SVM: labels are known and performance can be measured against them.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Clustering: labels are absent; the algorithm proposes structure from the feature space.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 computational cluster is not automatically a biological population.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External biological evidence is required for interpretation.</a:t>
            </a:r>
            <a:endParaRPr/>
          </a:p>
        </p:txBody>
      </p:sp>
      <p:pic>
        <p:nvPicPr>
          <p:cNvPr id="386" name="Google Shape;386;h6e25ffb5025d31ee_4_5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800" y="3189320"/>
            <a:ext cx="8039959" cy="331335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h6e25ffb5025d31ee_4_573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h6e25ffb5025d31ee_4_573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h6e25ffb5025d31ee_4_581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h6e25ffb5025d31ee_4_581"/>
          <p:cNvSpPr txBox="1"/>
          <p:nvPr/>
        </p:nvSpPr>
        <p:spPr>
          <a:xfrm>
            <a:off x="1786430" y="4926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K-means</a:t>
            </a:r>
            <a:endParaRPr/>
          </a:p>
        </p:txBody>
      </p:sp>
      <p:sp>
        <p:nvSpPr>
          <p:cNvPr id="395" name="Google Shape;395;h6e25ffb5025d31ee_4_581"/>
          <p:cNvSpPr txBox="1"/>
          <p:nvPr/>
        </p:nvSpPr>
        <p:spPr>
          <a:xfrm>
            <a:off x="903075" y="1419600"/>
            <a:ext cx="45558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Choose K initial centroids.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Assign each observation to its nearest centroid.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Update each centroid to the mean of its assigned observations.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Repeat until assignments stabilize.</a:t>
            </a:r>
            <a:endParaRPr/>
          </a:p>
        </p:txBody>
      </p:sp>
      <p:pic>
        <p:nvPicPr>
          <p:cNvPr id="396" name="Google Shape;396;h6e25ffb5025d31ee_4_5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025" y="1306425"/>
            <a:ext cx="6389800" cy="489015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h6e25ffb5025d31ee_4_581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6e25ffb5025d31ee_4_581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h6e25ffb5025d31ee_4_593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h6e25ffb5025d31ee_4_593"/>
          <p:cNvSpPr txBox="1"/>
          <p:nvPr/>
        </p:nvSpPr>
        <p:spPr>
          <a:xfrm>
            <a:off x="1155330" y="105527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When K - means </a:t>
            </a:r>
            <a:r>
              <a:rPr b="1" lang="en-US" sz="2800">
                <a:solidFill>
                  <a:srgbClr val="00668A"/>
                </a:solidFill>
              </a:rPr>
              <a:t>круто!</a:t>
            </a:r>
            <a:endParaRPr/>
          </a:p>
        </p:txBody>
      </p:sp>
      <p:sp>
        <p:nvSpPr>
          <p:cNvPr id="405" name="Google Shape;405;h6e25ffb5025d31ee_4_593"/>
          <p:cNvSpPr txBox="1"/>
          <p:nvPr/>
        </p:nvSpPr>
        <p:spPr>
          <a:xfrm>
            <a:off x="1255525" y="1828595"/>
            <a:ext cx="10241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Works best for compact, roughly spherical groups of similar scale.</a:t>
            </a:r>
            <a:endParaRPr sz="19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900">
                <a:solidFill>
                  <a:srgbClr val="222222"/>
                </a:solidFill>
              </a:rPr>
              <a:t>Explainable and tunable</a:t>
            </a:r>
            <a:endParaRPr sz="1900">
              <a:solidFill>
                <a:srgbClr val="22222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</a:t>
            </a:r>
            <a:r>
              <a:rPr lang="en-US" sz="1900">
                <a:solidFill>
                  <a:srgbClr val="222222"/>
                </a:solidFill>
              </a:rPr>
              <a:t>ensitive to feature scaling and outliers.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K must be chosen in advance.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h6e25ffb5025d31ee_4_587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h6e25ffb5025d31ee_4_587"/>
          <p:cNvSpPr txBox="1"/>
          <p:nvPr/>
        </p:nvSpPr>
        <p:spPr>
          <a:xfrm>
            <a:off x="815605" y="11227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How many clusters?</a:t>
            </a:r>
            <a:endParaRPr/>
          </a:p>
        </p:txBody>
      </p:sp>
      <p:sp>
        <p:nvSpPr>
          <p:cNvPr id="412" name="Google Shape;412;h6e25ffb5025d31ee_4_587"/>
          <p:cNvSpPr txBox="1"/>
          <p:nvPr/>
        </p:nvSpPr>
        <p:spPr>
          <a:xfrm>
            <a:off x="975303" y="1868875"/>
            <a:ext cx="38457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Inertia / elbow: does increasing K stop providing large reductions in within-cluster variation?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Silhouette: are samples closer to their own cluster than to neighboring clusters?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Stability: do clusters persist across resampling or reasonable preprocessing choices?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Biological validation: do groups correspond to markers, phenotypes or mechanisms?</a:t>
            </a:r>
            <a:endParaRPr/>
          </a:p>
        </p:txBody>
      </p:sp>
      <p:pic>
        <p:nvPicPr>
          <p:cNvPr id="413" name="Google Shape;413;h6e25ffb5025d31ee_4_587"/>
          <p:cNvPicPr preferRelativeResize="0"/>
          <p:nvPr/>
        </p:nvPicPr>
        <p:blipFill rotWithShape="1">
          <a:blip r:embed="rId3">
            <a:alphaModFix/>
          </a:blip>
          <a:srcRect b="7149" l="0" r="0" t="0"/>
          <a:stretch/>
        </p:blipFill>
        <p:spPr>
          <a:xfrm>
            <a:off x="4821000" y="1989250"/>
            <a:ext cx="7066177" cy="35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h6e25ffb5025d31ee_4_587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h6e25ffb5025d31ee_4_587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6e25ffb5025d31ee_4_606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h6e25ffb5025d31ee_4_606"/>
          <p:cNvSpPr txBox="1"/>
          <p:nvPr/>
        </p:nvSpPr>
        <p:spPr>
          <a:xfrm>
            <a:off x="1878680" y="3040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Hierarchical clustering</a:t>
            </a:r>
            <a:endParaRPr/>
          </a:p>
        </p:txBody>
      </p:sp>
      <p:sp>
        <p:nvSpPr>
          <p:cNvPr id="422" name="Google Shape;422;h6e25ffb5025d31ee_4_606"/>
          <p:cNvSpPr txBox="1"/>
          <p:nvPr/>
        </p:nvSpPr>
        <p:spPr>
          <a:xfrm>
            <a:off x="776650" y="1326450"/>
            <a:ext cx="38586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Start with a distance matrix between observations.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Repeatedly merge observations or clusters according to a linkage rule.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The result is a dendrogram rather than one fixed 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Common linkage choices include single, complete, average and Ward.</a:t>
            </a:r>
            <a:endParaRPr/>
          </a:p>
        </p:txBody>
      </p:sp>
      <p:pic>
        <p:nvPicPr>
          <p:cNvPr id="423" name="Google Shape;423;h6e25ffb5025d31ee_4_606"/>
          <p:cNvPicPr preferRelativeResize="0"/>
          <p:nvPr/>
        </p:nvPicPr>
        <p:blipFill rotWithShape="1">
          <a:blip r:embed="rId3">
            <a:alphaModFix/>
          </a:blip>
          <a:srcRect b="3018" l="0" r="0" t="8471"/>
          <a:stretch/>
        </p:blipFill>
        <p:spPr>
          <a:xfrm>
            <a:off x="4635250" y="1154325"/>
            <a:ext cx="7484826" cy="485543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h6e25ffb5025d31ee_4_606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h6e25ffb5025d31ee_4_606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6e25ffb5025d31ee_4_612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h6e25ffb5025d31ee_4_612"/>
          <p:cNvSpPr txBox="1"/>
          <p:nvPr/>
        </p:nvSpPr>
        <p:spPr>
          <a:xfrm>
            <a:off x="839255" y="97290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hierarchical clustering is common in biology</a:t>
            </a:r>
            <a:endParaRPr/>
          </a:p>
        </p:txBody>
      </p:sp>
      <p:sp>
        <p:nvSpPr>
          <p:cNvPr id="432" name="Google Shape;432;h6e25ffb5025d31ee_4_612"/>
          <p:cNvSpPr txBox="1"/>
          <p:nvPr/>
        </p:nvSpPr>
        <p:spPr>
          <a:xfrm>
            <a:off x="975299" y="1782000"/>
            <a:ext cx="44001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Expression heatmaps naturally combine sample and gene clustering.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Gene clusters can reveal co-expression programs.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Sample clusters can expose tissue, phenotype or batch structure.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Distance metric, scaling and linkage can substantially change the dendrogram.</a:t>
            </a:r>
            <a:endParaRPr/>
          </a:p>
        </p:txBody>
      </p:sp>
      <p:pic>
        <p:nvPicPr>
          <p:cNvPr id="433" name="Google Shape;433;h6e25ffb5025d31ee_4_6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2274" y="1496103"/>
            <a:ext cx="4417125" cy="5006573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h6e25ffb5025d31ee_4_612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h6e25ffb5025d31ee_4_612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h6e25ffb5025d31ee_4_618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h6e25ffb5025d31ee_4_618"/>
          <p:cNvSpPr txBox="1"/>
          <p:nvPr/>
        </p:nvSpPr>
        <p:spPr>
          <a:xfrm>
            <a:off x="975293" y="938453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DBSCAN </a:t>
            </a:r>
            <a:endParaRPr/>
          </a:p>
        </p:txBody>
      </p:sp>
      <p:sp>
        <p:nvSpPr>
          <p:cNvPr id="442" name="Google Shape;442;h6e25ffb5025d31ee_4_618"/>
          <p:cNvSpPr txBox="1"/>
          <p:nvPr/>
        </p:nvSpPr>
        <p:spPr>
          <a:xfrm>
            <a:off x="1055025" y="1640500"/>
            <a:ext cx="30189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Defines clusters as dense regions separated by sparse regions.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Can identify irregularly shaped groups and label isolated observations as noise.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Does not require K directly.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Requires density parameters such as ε and min_samples and struggles with strongly varying densities.</a:t>
            </a:r>
            <a:endParaRPr/>
          </a:p>
        </p:txBody>
      </p:sp>
      <p:pic>
        <p:nvPicPr>
          <p:cNvPr id="443" name="Google Shape;443;h6e25ffb5025d31ee_4_6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925" y="1933776"/>
            <a:ext cx="8045824" cy="382647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h6e25ffb5025d31ee_4_618"/>
          <p:cNvSpPr txBox="1"/>
          <p:nvPr>
            <p:ph type="title"/>
          </p:nvPr>
        </p:nvSpPr>
        <p:spPr>
          <a:xfrm>
            <a:off x="415439" y="992880"/>
            <a:ext cx="11360400" cy="2736600"/>
          </a:xfrm>
          <a:prstGeom prst="rect">
            <a:avLst/>
          </a:prstGeom>
        </p:spPr>
        <p:txBody>
          <a:bodyPr anchorCtr="0" anchor="b" bIns="122025" lIns="122025" spcFirstLastPara="1" rIns="122025" wrap="square" tIns="122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h6e25ffb5025d31ee_4_618"/>
          <p:cNvSpPr txBox="1"/>
          <p:nvPr>
            <p:ph idx="1" type="body"/>
          </p:nvPr>
        </p:nvSpPr>
        <p:spPr>
          <a:xfrm>
            <a:off x="609479" y="1604520"/>
            <a:ext cx="10972500" cy="3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6e25ffb5025d31ee_4_624"/>
          <p:cNvSpPr txBox="1"/>
          <p:nvPr>
            <p:ph idx="12" type="sldNum"/>
          </p:nvPr>
        </p:nvSpPr>
        <p:spPr>
          <a:xfrm>
            <a:off x="11296417" y="6502680"/>
            <a:ext cx="7314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2025" lIns="122025" spcFirstLastPara="1" rIns="122025" wrap="square" tIns="1220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/39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h6e25ffb5025d31ee_4_624"/>
          <p:cNvSpPr txBox="1"/>
          <p:nvPr/>
        </p:nvSpPr>
        <p:spPr>
          <a:xfrm>
            <a:off x="868680" y="1087128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668A"/>
                </a:solidFill>
                <a:latin typeface="Arial"/>
                <a:ea typeface="Arial"/>
                <a:cs typeface="Arial"/>
                <a:sym typeface="Arial"/>
              </a:rPr>
              <a:t>Practical 4 </a:t>
            </a:r>
            <a:endParaRPr/>
          </a:p>
        </p:txBody>
      </p:sp>
      <p:sp>
        <p:nvSpPr>
          <p:cNvPr id="452" name="Google Shape;452;h6e25ffb5025d31ee_4_624"/>
          <p:cNvSpPr txBox="1"/>
          <p:nvPr/>
        </p:nvSpPr>
        <p:spPr>
          <a:xfrm>
            <a:off x="914400" y="2166120"/>
            <a:ext cx="102414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Start from a high-dimensional </a:t>
            </a:r>
            <a:r>
              <a:rPr lang="en-US" sz="1900">
                <a:solidFill>
                  <a:srgbClr val="222222"/>
                </a:solidFill>
              </a:rPr>
              <a:t>RNA 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expression matrix and sample metadata.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Use PCA to inspect variance, batch effects and phenotype structure.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Compare t-SNE and UMAP </a:t>
            </a:r>
            <a:r>
              <a:rPr lang="en-US" sz="1900">
                <a:solidFill>
                  <a:srgbClr val="222222"/>
                </a:solidFill>
              </a:rPr>
              <a:t>and compare them with PCA on messy microscopic data</a:t>
            </a: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Train KNN and SVM to predict a known biological label.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Run K-means and hierarchical clustering without using the labels.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• Compare discovered structure with known biology only after clustering.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